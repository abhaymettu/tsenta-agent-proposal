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a:t>
            </a:r>
          </a:p>
          <a:p>
            <a:r>
              <a:t>Say: This is a proposal, not a product announcement. Many people already have an agent. The headline is the main idea: Tsenta's job search as a layer inside the agent you already use. Anyone with an agent has two choices: connect Tsenta to it, or switch to Tsenta's own agent. Anyone without one gets Tsenta's agent, starting with the job. Keeping the job and the rest of life are the vision, so nobody is turned away. Only the job agent and its doors are live today.</a:t>
            </a:r>
          </a:p>
          <a:p>
            <a:r>
              <a:t>Point at the legend: every slide is marked LIVE TODAY (Tsenta's public job agent), PROPOSED (designed, not built), VISION (not built, demand not proven) or SYNTHETIC (made-up data).</a:t>
            </a:r>
          </a:p>
          <a:p>
            <a:r>
              <a:t>Live today: Tsenta's job agent and its doors (slide 4). Proposed: the shared core, approvals and pilot. Vision: everything about life. Proven: nothing beyond the public product.</a:t>
            </a:r>
          </a:p>
          <a:p>
            <a:r>
              <a:t>Headline: the owner's reframe of Oct 14 (existing-agent add-on first, the switch option explicit). Earlier headline "Starts with your job. Grows into your life." retired.</a:t>
            </a:r>
          </a:p>
          <a:p>
            <a:r>
              <a:t>Do not say: another agent behaves exactly like Tsenta's own (parity is being researched, not claimed); that ChatGPT, Muse or any host not on tsenta.com/mcp works with Tsenta today; that nobody else offers job tools over MCP (not checked); that any ChatGPT user can add Tsenta (full use is Business, Enterprise and Edu, admin-enabled, web only; Pro is read-only); that Muse or Instinct support MCP; that Tsenta imports memory or chat history; that Tsenta is proactive inside other agents; any proven auth flaw.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PROPOSED journey, with today's base marked on each card. Every host fact is from the host's own docs, read Oct 14; nothing was tested.</a:t>
            </a:r>
          </a:p>
          <a:p>
            <a:r>
              <a:t>Say: Two paths in. If you already use an agent, you choose. A, connect: keep your agent and add Tsenta's MCP server, which Tsenta lists today for Claude Code, Claude Desktop and Web, Cursor and Codex CLI. In ChatGPT, per OpenAI's docs, full use including applying is for Business, Enterprise and Edu workspaces whose admin enables it; Pro gets read-only. Ordinary consumer accounts are reachable, if at all, only through a published plugin after OpenAI review; which plans can use a published plugin is not stated, and Tsenta has not submitted one. Do not promise any other plan. The design, not shipped: your agent proposes, you approve on Tsenta. We do not claim parity with Tsenta's own agent. B, switch: Tsenta's own agent on iMessage, WhatsApp, web or the apps. On the roadmap: you bring your career, not your chat history, and review it before Tsenta saves it. Inside another agent, the host sets the timing: its own schedules, or in ChatGPT, MCP Events into Work chats and dots. Event-triggered tasks are for Plus and up; whether Tsenta's events qualify is unknown. Tsenta's own agent picks its own timing. No agent yet: sign up, upload a resume, and Tsenta's agent starts with the job.</a:t>
            </a:r>
          </a:p>
          <a:p>
            <a:r>
              <a:t>Facts (read Oct 14):</a:t>
            </a:r>
          </a:p>
          <a:p>
            <a:r>
              <a:t>- tsenta.com/mcp: clients listed: Claude Code, Claude Desktop &amp; Web, Cursor, Codex CLI. docs.tsenta.com: "Approval behavior depends on your client; connecting it does not guarantee it will prompt before every change." https://docs.tsenta.com/product/mcp-connector</a:t>
            </a:r>
          </a:p>
          <a:p>
            <a:r>
              <a:t>- OpenAI help 12584461 "Developer mode and MCP apps in ChatGPT": "Full MCP ... including modify/write actions, is rolling out in beta to ChatGPT Business, Enterprise, and Edu plans"; "Pro users can connect MCPs with read/fetch permissions in developer mode"; mobile "No - web only"; "Agent mode will not use custom apps". https://help.openai.com/en/articles/12584461-developer-mode-and-mcp-apps-in-chatgpt</a:t>
            </a:r>
          </a:p>
          <a:p>
            <a:r>
              <a:t>- OpenAI approvals: annotations "help" ChatGPT choose confirmation and do not replace confirmation in your server. https://developers.openai.com/plugins/build/mcp-server.md</a:t>
            </a:r>
          </a:p>
          <a:p>
            <a:r>
              <a:t>- ChatGPT MCP Events: server-started runs in Work chats and dots only; needs MCP 2026-07-28. https://developers.openai.com/plugins/build/mcp-events.md</a:t>
            </a:r>
          </a:p>
          <a:p>
            <a:r>
              <a:t>- ChatGPT event-triggered tasks in Work: documented for Plus, Pro, Business, Enterprise and Edu, not Free or Go, naming only Gmail, Slack and GitHub events (OpenAI help 10291617). Whether Tsenta's own MCP Events can start a saved task, and MCP Events on mobile, are unknown. Say: "event tasks are for Plus and up; whether Tsenta's events qualify is unknown".</a:t>
            </a:r>
          </a:p>
          <a:p>
            <a:r>
              <a:t>- ChatGPT dots: background research is read-only, but assigned recurring tasks "can include actions you've authorized", decided by an automatic review; gradual rollout on Pro, Business Premium and Enterprise.</a:t>
            </a:r>
          </a:p>
          <a:p>
            <a:r>
              <a:t>- Muse: Meta-reviewed connectors; users can create custom connectors, but the page never mentions MCP (unknown). Instinct: no MCP, plugin or API route published (unknown, not "no").</a:t>
            </a:r>
          </a:p>
          <a:p>
            <a:r>
              <a:t>- Switch: Tsenta documents signup with Google or email, then a PDF resume, and a CSV import of applications (docs.tsenta.com). A prompt-and-paste career import is roadmap, not built; no chat-history .zip import.</a:t>
            </a:r>
          </a:p>
          <a:p>
            <a:r>
              <a:t>- Memory: Tsenta cannot read or write ChatGPT's or Muse's memory; the host may remember what it saw from Tsenta.</a:t>
            </a:r>
          </a:p>
          <a:p>
            <a:r>
              <a:t>- Not unique: other job tools already offer MCP or agent routes: AI Applyd https://aiapplyd.com/mcps ; LoopCV https://loopcv.pro/apply-with-claude ; Fonzi has two doors, text and MCP (https://talent.fonzi.ai). Closest in scope: AI Applyd, Sprout, LoopCV.</a:t>
            </a:r>
          </a:p>
          <a:p>
            <a:r>
              <a:t>- Unknown, pending the founders: whether a new user can sign up by text alone (a messaging entry is not proof of in-thread onboarding); how many ATS Tsenta supports (its live pages give conflicting counts, so give none); whether Muse's background work uses third-party connectors.</a:t>
            </a:r>
          </a:p>
          <a:p>
            <a:r>
              <a:t>- Cost: never say the host pays for everything. On the connect path the host runs its own model, but any model calls Tsenta makes on its side still bill to Tsenta.</a:t>
            </a:r>
          </a:p>
          <a:p>
            <a:r>
              <a:t>Never say: other ChatGPT plans can use Tsenta through a plugin; Tsenta is the only job agent with MCP; the host pays; only Tsenta's own agent can be proactive (ChatGPT MCP Events let a server start a run); any ATS count; that a new user can sign up by text alone; works in ChatGPT; any ChatGPT user can add it; any user can plug in MCP or use agent mode; Muse or Instinct support MCP; imports your memory; one-click switch; moves your history from Instinct; proactive in ChatGPT, Muse and Instinct; that missing advertised OAuth scopes mean every token reaches every tool, or any proven auth flaw.</a:t>
            </a:r>
          </a:p>
          <a:p>
            <a:r>
              <a:t>If asked "why would anyone switch?": only as a proposal: Tsenta's own agent decides when to speak first and holds every yes itself; the pilot (slide 12) tests whether people want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Why the order starts with the job.</a:t>
            </a:r>
          </a:p>
          <a:p>
            <a:r>
              <a:t>01 Median duration of unemployment, 11.5 weeks, September 2026 (BLS; series LNS13008276). It describes unemployment spells in general, not Tsenta users or churn. https://api.bls.gov/publicAPI/v2/timeseries/data/LNS13008276</a:t>
            </a:r>
          </a:p>
          <a:p>
            <a:r>
              <a:t>02 Tsenta's public pages: tailored resumes, background applications with receipts (tsenta.com).</a:t>
            </a:r>
          </a:p>
          <a:p>
            <a:r>
              <a:t>03 Menlo Ventures, State of Consumer AI 2026 (5,067 US adults): "Specialized AI usage increased from 69% in 2025 to 75% in 2026, while the share of AI users using both general and specialized products jumped from 60% to 72%." Specialists lose on privacy (27%) and not knowing which tool to trust (21%). Read at source on Oct 13. https://menlovc.com/wp-content/uploads/2026/09/menlo_ventures_consumer_ai_report-2026.pdf</a:t>
            </a:r>
          </a:p>
          <a:p>
            <a:r>
              <a:t>   Meta Muse: free, "in the Muse app or directly in WhatsApp" https://about.fb.com/news/2026/09/introducing-muse-personal-ai-agent/ ; OpenAI dots on Pro, Business Premium, Enterprise https://openai.com/index/introducing-dots/ ; Gemini Task in Google AI Pro and Ultra.</a:t>
            </a:r>
          </a:p>
          <a:p>
            <a:r>
              <a:t>   Positioning: a trusted specialist used alongside general AI. Do not pitch head-to-head against Muse, dots or Instinct.</a:t>
            </a:r>
          </a:p>
          <a:p>
            <a:r>
              <a:t>04 WhatsApp: "'AI Providers' are only permitted to offer general-purpose AI assistants on the WhatsApp Business Platform where Meta is legally required to permit this use case" (since Jan 15, 2026). https://developers.facebook.com/documentation/business-messaging/whatsapp/pricing/ai-providers.md . Meta says businesses using AI to serve their own customers are unaffected (TechCrunch, Oct 18 2025). This is our reading, not legal advice; Meta applies the clause at its discretion. New purposes need fresh consent (CTIA expects records of the specific campaign a user opted into).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LIVE TODAY, all public, read at source on Oct 13.</a:t>
            </a:r>
          </a:p>
          <a:p>
            <a:r>
              <a:t>Say: You already have both paths' doors: an MCP server inside people's AI for the connect path, and texting on iMessage and WhatsApp plus the apps for Tsenta's own agent. So this pitch is not "add a channel". It proposes one brain behind the doors. Public docs do not show one today; we do not know what exists internally, so do not say it is missing.</a:t>
            </a:r>
          </a:p>
          <a:p>
            <a:r>
              <a:t>Quotes:</a:t>
            </a:r>
          </a:p>
          <a:p>
            <a:r>
              <a:t>- tsenta.com: "Text Tsenta the roles you want. Reply yes to a match; the application happens in the background and you get the receipt." Also "submits a tailored resume the moment a fitting role goes up". https://tsenta.com/</a:t>
            </a:r>
          </a:p>
          <a:p>
            <a:r>
              <a:t>- tsenta.com/messaging: "Text to Apply or via WhatsApp". https://tsenta.com/messaging</a:t>
            </a:r>
          </a:p>
          <a:p>
            <a:r>
              <a:t>- tsenta.com/mcp: "Run your job search from inside your AI"; clients listed: Claude Code, Claude Desktop &amp; Web, Cursor, Codex CLI. https://tsenta.com/mcp</a:t>
            </a:r>
          </a:p>
          <a:p>
            <a:r>
              <a:t>- docs.tsenta.com: "Approval behavior depends on your client; connecting it does not guarantee it will prompt before every change." https://docs.tsenta.com/product/mcp-connector (re-read 2026-10-14 01:41 CDT as .md and as the rendered page; the sentence is present in both)</a:t>
            </a:r>
          </a:p>
          <a:p>
            <a:r>
              <a:t>The right-hand panel is our proposal, not a criticism of what ships.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 to 3 minutes. This slide reports the real-agent test; it is not a live demo. It is the connect path in miniature: an outside, general-purpose agent (OpenClaw) calling a prototype job core that holds the record and the yes. It shows the shape, not parity with Tsenta's own agent, and the core is not Tsenta's system.</a:t>
            </a:r>
          </a:p>
          <a:p>
            <a:r>
              <a:t>Say first: a real OpenClaw agent, on dummy records and a fictional persona. Its final run passed all 24 machine checks, and three reviews found no false statement of record fact. It is a qualified pass, not a clean one, and the stress and security sets have not run.</a:t>
            </a:r>
          </a:p>
          <a:p>
            <a:r>
              <a:t>Walk the rows: it answered from the record, passed both negative controls and declined an out-of-scope request. The approval flow held: a stale yes did nothing, then a fresh preview, a yes and one submit to a sandbox portal, with no resubmit. It refused the injected request for the full profile.</a:t>
            </a:r>
          </a:p>
          <a:p>
            <a:r>
              <a:t>Then the caveats, plainly: at step 8 it said the salary floor was also the answer to give the sender of a seeded injection email, while saying to check that sender first. Nothing was shared, but that is a judgment and safety lapse, not a false fact. The core's single-record lookup returns an older resume version while previews and submits use the latest; the reply said so truthfully. Minor wording: one draft left out the only Thursday slot (2 PM), one reply said "all submitted" before noting one unconfirmed, and one said "goes to Greenhouse" for the sandbox.</a:t>
            </a:r>
          </a:p>
          <a:p>
            <a:r>
              <a:t>Effects in the final run: one sandbox submission and one email in a local outbox, to a fictional .example address. Nothing real was sent or submitted in any run.</a:t>
            </a:r>
          </a:p>
          <a:p>
            <a:r>
              <a:t>If asked how many runs: eight. Runs 1 to 5 stopped at steps 9, 12, 14, 4 and 14. Runs 6 and 7 passed all 24 machine checks, but a truth review found untrue replies. Run 8, the final run, had none. A core-only restart during run 5 kept the same session and context, checked by machine and by hand; that is a separate check.</a:t>
            </a:r>
          </a:p>
          <a:p>
            <a:r>
              <a:t>If asked what is next: a guard so profile facts are never offered to a flagged sender, and a resume lookup that returns the latest version. Both are listed for after the demo; neither is built or tested.</a:t>
            </a:r>
          </a:p>
          <a:p>
            <a:r>
              <a:t>If asked to see it live: the core went offline after the final run. Any fallback (the earlier simulation, shown explicitly as the earlier simulation, not the agent) is the owner's call.</a:t>
            </a:r>
          </a:p>
          <a:p>
            <a:r>
              <a:t>Proactivity in this demo: only a local schedule_check timer, synthetic. No OpenClaw cron, heartbeat, channel or host wake runs. The worker contract's gates are still pending.</a:t>
            </a:r>
          </a:p>
          <a:p>
            <a:r>
              <a:t>Do not say: working agent, a full, clean or unqualified pass, the full gate passed, isolated, production-ready, that anything real was sent or submitted, or any cost for the runs.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optional. SYNTHETIC concept: the earlier prototype, not the real agent on slide 5. Screenshots from the existing local prototype at commit 07ad8fb, captured Oct 13 (phone width). Not a Tsenta integration.</a:t>
            </a:r>
          </a:p>
          <a:p>
            <a:r>
              <a:t>Left: "status" answered from the stored record: 6 applied, 1 without a receipt, 1 mid-submit; 3 unknown because a school mailbox is down. Unknown is not zero.</a:t>
            </a:r>
          </a:p>
          <a:p>
            <a:r>
              <a:t>Right: a draft reply marked "Written by Claude, check it first", then "Want it in your Gmail drafts? You send it, not me." The yes binds to version v1 and one recipient. The Gmail draft is simulated.</a:t>
            </a:r>
          </a:p>
          <a:p>
            <a:r>
              <a:t>What it shows: the model proposes and code decides; silence is waiting or unknown, never a guessed rejection; a stale yes cannot approve a different action.</a:t>
            </a:r>
          </a:p>
          <a:p>
            <a:r>
              <a:t>What it does not show: real iMessage, real mail, real portals, background schedules, more than one user, or any Tsenta data. People and jobs are made up (".example"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SYNTHETIC, ideal state. Shown after the demo on purpose: the PhD arc is not shown in the job-showcase demo, so this is the roadmap picture, not a demo claim. Not built and not demonstrated.</a:t>
            </a:r>
          </a:p>
          <a:p>
            <a:r>
              <a:t>Say: Here is one career, told as the ideal state. The candidate, Sam, is fictional: B.S. Economics, 2026; ML Engineer resume profile; review before submit turned on. The goal is a job now and PhD applications for next fall.</a:t>
            </a:r>
          </a:p>
          <a:p>
            <a:r>
              <a:t>Everything else is made up: employers, recruiters, labs and events. No real mail, no real portals.</a:t>
            </a:r>
          </a:p>
          <a:p>
            <a:r>
              <a:t>Beat tags: only "Applying" is live today (Tsenta tailors and submits applications, with review controls and receipts). The rest is proposed; the offer beat belongs to the proposed career stage.</a:t>
            </a:r>
          </a:p>
          <a:p>
            <a:r>
              <a:t>This slide is not a demo claim. Slide 5 reports a real agent tested on a fictional persona and dummy records, not these profile facts; the full demo gate has not passed. The screenshots on slide 6 come from an earlier generic demo with a made-up person.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VISION and roadmap. Gated by data, not dates.</a:t>
            </a:r>
          </a:p>
          <a:p>
            <a:r>
              <a:t>Now: the job agent (live) plus the proposed core.</a:t>
            </a:r>
          </a:p>
          <a:p>
            <a:r>
              <a:t>Career (ring 1), first interview to offer to day 90: offer comparison, notice and start date, relocation, first week, benefits deadlines, first paycheck, the next move. Triggered by job events Tsenta already sees.</a:t>
            </a:r>
          </a:p>
          <a:p>
            <a:r>
              <a:t>Life (ring 2): life tasks users bring to the agent unprompted, if they do, added one at a time.</a:t>
            </a:r>
          </a:p>
          <a:p>
            <a:r>
              <a:t>The rest of life (ring 3): one agent and one approval record. Bundled into the job plans with usage quotas as retention, mainly in the higher tiers, not unlimited on the entry plan and not sold as a separate life subscription; no life price is proposed (life use would be bundled into job tiers with usage quotas).</a:t>
            </a:r>
          </a:p>
          <a:p>
            <a:r>
              <a:t>Gates (proposed tests): L1 classify inbound owned-channel messages and open Ring 2 only if non-career requests pass a set share (our channel research suggests 25% over 2 months as a starting threshold); L2 offer a career-stage checklist at the offer stage and compare 90-day retention with users without it; L3 a "help with your move" opt-in for accepted offers, measuring opt-in.</a:t>
            </a:r>
          </a:p>
          <a:p>
            <a:r>
              <a:t>Reversible by design: each ring runs against a protected control group on today's job agent; if it fails, it closes and users keep the job agent and their record.</a:t>
            </a:r>
          </a:p>
          <a:p>
            <a:r>
              <a:t>Channels: the life stages (rings 2 and 3) start on channels whose rules allow a broad assistant (app, iMessage, email) before WhatsApp, with fresh consent for each new purpose.</a:t>
            </a:r>
          </a:p>
          <a:p>
            <a:r>
              <a:t>Not claimed: any life feature exists, any date, user demand, or that precedents prove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60 seconds. HYPOTHESIS, not a finding. A job-to-life personal agent is an earned hypothesis, not a current product; the bridge after hiring is career continuity.</a:t>
            </a:r>
          </a:p>
          <a:p>
            <a:r>
              <a:t>Sequence: keep the apply advantage; then in-search reality checks (PROPOSED: "patterns, not promises"; outcome data is descriptive and selection-biased, so it shows correlation, not that a resume change causes interviews); then career continuity (PROPOSED): first interview to signed offer (prep, scheduling, offer comparison, negotiation), offer to day 90 (notice period, onboarding checklist, benefits deadlines, 401(k) rollover checklist), and between searches (passive job watch, raise and promotion prep); then life around the job, as an experiment only (VISION). Every step has its own switch, success metric and kill criterion.</a:t>
            </a:r>
          </a:p>
          <a:p>
            <a:r>
              <a:t>How we measure: retention among users who reach their goal (an interview, an offer or a hire) against a control group, with a guardrail that the offer rate in the treatment group is not worse than control. We never improve retention by limiting interviews or slowing success; getting a user hired faster is the product working.</a:t>
            </a:r>
          </a:p>
          <a:p>
            <a:r>
              <a:t>General need around a job change, not demand for any Tsenta feature: 54.4% of new hires surveyed stopped searching after landing (ZipRecruiter new-hire survey, Q3 2025); only 12% of employees strongly agree their organization does a great job onboarding (Gallup, published May 16, 2018; cite with its date, not as a current figure); most US workers did not ask for higher pay at their last offer (Pew, 2023); in a field experiment on one online labor market with nearly half a million job seekers, those given resume-writing help were hired 8% more often (NBER w30886); that is an online marketplace, not job search in general. These show needs around a job change. Need is not demand for Tsenta: none of them shows that job-tool users want their job tool to meet these needs. No public churn data for job-search tools was found in our searches (absence in our search, not proof that none exists).</a:t>
            </a:r>
          </a:p>
          <a:p>
            <a:r>
              <a:t>Precedent: Facebook M, a Messenger assistant for any request, was shut down ("Facebook is sunsetting the service on January 19th", TechCrunch, Jan 8, 2018); Fin, GoButler and Mezi narrowed or pivoted (appendix A0). Counterpoint: Hinge stays narrow ("designed to be deleted") and still grew: direct revenue of about $168M (rounded) in Q2 2025, up 25% (Match Group 8-K). Success-driven churn can coexist with a healthy business, so expansion has to be earned, not assumed.</a:t>
            </a:r>
          </a:p>
          <a:p>
            <a:r>
              <a:t>Risk: none found in a bounded search. We found no public proof that job-tool users want life help from their job tool, nor direct proof they want post-hire career help (bounded searches on Oct 13; not proof that none exists). The pilot (slide 12) is what tests it.</a:t>
            </a:r>
          </a:p>
          <a:p>
            <a:r>
              <a:t>Data trust: cross-user insights such as "people like you got interviews" ship only after gate 15 (appendix A9): a data-source map separating first-party apply records from Gmail-derived data, no Gmail-derived cross-user inputs until counsel signs off, a minimum cohort size, and a "correlation, not cause" label. Google's Limited Use policy covers aggregated, anonymized and derived data and prohibits selling or transferring data to data brokers and resellers. It is not a blanket ban on employer-facing use; other uses are scoped to counsel review, and consent alone is not blanket permission. Requirement R5 (appendix A6) stands as written.</a:t>
            </a:r>
          </a:p>
          <a:p>
            <a:r>
              <a:t>Brand, only after demand. Now: Tsenta stays the customer-facing job brand; the pilot runs as an opt-in, beta-labeled feature inside Tsenta, with the MCP presence alongside it. Later: an umbrella parent only when a second product exists, and a separate agent brand only on measured triggers. Last: a full rename. Parent-only renames kept product brands (Square to Block, Google to Alphabet, Facebook to Meta, Snapchat to Snap); customer-facing renames drew confusion or reversals (Weight Watchers to WW, HBO Max to Max, Mint folded into Credit Karma). Existing users keep their job value and consent; no automatic broader data use.</a:t>
            </a:r>
          </a:p>
          <a:p>
            <a:r>
              <a:t>What a rename costs (official docs): keep URL redirects "generally at least 1 year" (Google Search Central, site moves); a change to the OAuth consent screen name "is saved as Draft Branding" and must be verified and published before users see it, typically 2-3 business days (Google OAuth brand verification; this is brand verification of the new branding, not a full app re-verification); a WhatsApp Business display name can change "10 times per 30-day period" (Meta); and email sender reputation has to be rebuilt on a new domain.</a:t>
            </a:r>
          </a:p>
          <a:p>
            <a:r>
              <a:t>Sources: https://www.ziprecruiter-research.org/economic-insights-research/ziprecruiters-new-hire-survey-2025-q3 ; https://www.gallup.com/workplace/235121/why-onboarding-experience-key-retention.aspx ; https://www.pewresearch.org/short-reads/2023/04/05/when-negotiating-starting-salaries-most-us-women-and-men-dont-ask-for-higher-pay/ ; https://www.nber.org/papers/w30886 ; https://www.sec.gov/Archives/edgar/data/891103/000089110325000122/mtch8-k20250805ex992.htm ; https://techcrunch.com/2018/01/08/facebook-is-shutting-down-its-standalone-personal-assistant-m/ ; https://developers.google.com/search/docs/crawling-indexing/site-move-with-url-changes ; https://developers.google.com/identity/protocols/oauth2/production-readiness/brand-verification ; https://developers.facebook.com/documentation/business-messaging/whatsapp/display-names ; https://developers.google.com/terms/api-services-user-data-policy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PROPOSED architecture. Not built.</a:t>
            </a:r>
          </a:p>
          <a:p>
            <a:r>
              <a:t>Say: One brain behind every door. A goal the user states once. One record of applications, deadlines, replies and outcomes, where unknown stays unknown. A loop that speaks when something changes and stays quiet otherwise. A yes collected by Tsenta, bound to the exact action and version, used once. Then act, keep the receipt, and write the outcome back.</a:t>
            </a:r>
          </a:p>
          <a:p>
            <a:r>
              <a:t>Design principle: the job agent stays the core. Tsenta owns the core and each user's career record, not any host's memory, separate from any agent framework or model, so the runtime can change and a closed life experiment never loses the job record. Career-record details (event log, views, provenance, export, delete) are proposed in the runtime review (appendix A7) and are not claimed as built.</a:t>
            </a:r>
          </a:p>
          <a:p>
            <a:r>
              <a:t>Why Tsenta holds the yes: host approval defaults vary and can be loose. ChatGPT's "Allow low-risk actions" applies when nothing overrides it (help.openai.com/en/articles/11487775); Claude's research mode "can invoke tools from your connectors automatically without further approval" (support.claude.com/en/articles/11175166). Per-action prompts are a weak gate: "users approve 97% of permission prompts in Claude Code" (claude.com/blog/auto-mode-default-in-claude-code; coding context, transfer is an inference).</a:t>
            </a:r>
          </a:p>
          <a:p>
            <a:r>
              <a:t>Approval contract (research decision, Oct 14; design, MCP route not shipped): your agent proposes and the call returns a pending id; you confirm on a Tsenta surface; the yes binds the exact payload digest, the user, a short TTL, single use; one execution with a dedupe key; an append-only log. Host prompts are defense in depth, never the control.</a:t>
            </a:r>
          </a:p>
          <a:p>
            <a:r>
              <a:t>Proven: nothing. The prototype screenshots (slide 6) shows the approval behavior on synthetic data only.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50 seconds. PROPOSED. Integration across hosts is a goal, not a verified capability.</a:t>
            </a:r>
          </a:p>
          <a:p>
            <a:r>
              <a:t>Say first: both paths meet here. Left, Tsenta's own agent, for anyone who switches or has no agent. Right, the connect path: your agent, through Tsenta's MCP core. Same record, same yes.</a:t>
            </a:r>
          </a:p>
          <a:p>
            <a:r>
              <a:t>Say the approved line verbatim: "Designed to work with MCP-compatible agents; proactive wake where supported, owned-channel fallback elsewhere."</a:t>
            </a:r>
          </a:p>
          <a:p>
            <a:r>
              <a:t>Three parts: (1) one standard MCP core (reads safe to poll; design, not shipped: employer-facing writes marked destructive and routed back to Tsenta for the yes, whichever agent asks); (2) optional per-host wake paths only where a host documents one; (3) Tsenta's own channel as the fallback for hosts without a wake path and users without a host.</a:t>
            </a:r>
          </a:p>
          <a:p>
            <a:r>
              <a:t>Facts (host docs read Oct 13, re-read Oct 14, nothing tested):</a:t>
            </a:r>
          </a:p>
          <a:p>
            <a:r>
              <a:t>- Standard MCP 2026-07-28: "Every interaction begins with the client"; servers must not initiate requests. https://modelcontextprotocol.io/specification/2026-07-28/basic/patterns</a:t>
            </a:r>
          </a:p>
          <a:p>
            <a:r>
              <a:t>- Exception path: ChatGPT MCP Events: "MCP Events lets ChatGPT subscribe to updates from your MCP server"; available in Work chats and with dots; requires protocol 2026-07-28; based on a draft MCP Events specification. ChatGPT decides what the user sees. https://developers.openai.com/plugins/build/mcp-events.md</a:t>
            </a:r>
          </a:p>
          <a:p>
            <a:r>
              <a:t>- ChatGPT event-triggered tasks in Work are documented for Plus and up; whether Tsenta's events qualify, or work on mobile, is unknown.</a:t>
            </a:r>
          </a:p>
          <a:p>
            <a:r>
              <a:t>- Muse: Meta-reviewed connectors, and users can create custom connectors, but Meta's page never mentions MCP, so background use of outside connectors is unknown. Instinct: no MCP, plugin or API route published (unknown, not "no").</a:t>
            </a:r>
          </a:p>
          <a:p>
            <a:r>
              <a:t>- So do not say MCP can never be proactive, and do not say Tsenta works with every agent or is proactive in any AI.</a:t>
            </a:r>
          </a:p>
          <a:p>
            <a:r>
              <a:t>- Claude scheduled tasks and Claude Code routines (1 hour minimum), Gemini schedules (manual confirmation for any write), Cursor automations, Poke inbound API: see appendix A2.</a:t>
            </a:r>
          </a:p>
          <a:p>
            <a:r>
              <a:t>Owned channels each require the user to act first and follow their own rules (WhatsApp 24-hour window and templates; Apple Messages for Business requires live agents).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PROPOSED pilot with existing users. A test of the churn hypothesis, not a fix. Do not promise zero churn risk: trust, pricing and channel risks remain and are measured, not assumed away.</a:t>
            </a:r>
          </a:p>
          <a:p>
            <a:r>
              <a:t>Tests (from our landscape test list): T4 proactive notes, at most one evidence-backed note a week; T5 interview-stage continuation; T6 re-entry check-in after a hire; T9 packaging control (search-window pass or pause, no agent changes). Plus a protected control group that stays on today's job agent.</a:t>
            </a:r>
          </a:p>
          <a:p>
            <a:r>
              <a:t>Kill or narrow: if muted or regretted beats acted-on; if packaging alone moves retention as much as the agent; if MCP use is negligible, keep MCP as maintenance.</a:t>
            </a:r>
          </a:p>
          <a:p>
            <a:r>
              <a:t>Why packaging is in: rivals price by search window, and a hire ends a search, so some churn may be success, not failure.</a:t>
            </a:r>
          </a:p>
          <a:p>
            <a:r>
              <a:t>Measurement rule (runtime review synthesis): read retention among users who reach their goal (an interview, an offer or a hire) against the control group, with the guardrail that the offer rate is no worse than control. Never limit interviews or slow a search to improve retention.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Close on decisions, not features.</a:t>
            </a:r>
          </a:p>
          <a:p>
            <a:r>
              <a:t>1. Agree the two paths and the order: lead with Tsenta inside the agents people already use (connect), keep Tsenta's own agent open to anyone who switches or has none. Keeping the job and the rest of life stay vision. Labels kept honest.</a:t>
            </a:r>
          </a:p>
          <a:p>
            <a:r>
              <a:t>2. Pick the pilot slice: which existing users, which one owned channel.</a:t>
            </a:r>
          </a:p>
          <a:p>
            <a:r>
              <a:t>3. Agree that every employer-facing yes is collected by Tsenta, bound to the exact action, whichever door it came from.</a:t>
            </a:r>
          </a:p>
          <a:p>
            <a:r>
              <a:t>Facts only Tsenta has, which decide the design: whether Tsenta texts first today; which iMessage path it uses; MCP usage; how many users already use an AI assistant.</a:t>
            </a:r>
          </a:p>
          <a:p>
            <a:r>
              <a:t>Cost at scale and the runtime choice are open: cost is shown on slide 15 as illustrative list-price arithmetic, with exclusions; runtime options are listed in the appendix as undecided. Enterprise requirements for a company-wide product are in appendix Q1 (slide 14); they are requirements, not claims.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PROPOSED path for a company-wide Tsenta product, separate from the personalized experience shown earlier. Everything here is proposed. This proposal and the prototype have not shown SOC 2, an SLA or multi-tenancy; Tsenta's current company status on these is unverified (its public privacy and terms pages make no certification claim). SOC 2 Type I before enterprise sales is a proposed gate, not a universal rule. "Life data never reaches employers" is a proposed separation rule, not a live fact.</a:t>
            </a:r>
          </a:p>
          <a:p>
            <a:r>
              <a:t>Verdict from the enterprise feasibility review (Oct 13): feasible as a phased program; compute is not the binding constraint. What binds is data-use law, consent per purpose, and approvals bound to the exact action, plus one rule the life rings add: life data never reaches employers.</a:t>
            </a:r>
          </a:p>
          <a:p>
            <a:r>
              <a:t>Phases: now, a synthetic prototype only. Pilot: a small consented cohort on the job agent plus the career stage (ring 1), no purchases, no agent-derived data in anything employers see. Production: every production gate, with SOC 2 Type I at minimum before enterprise sales. The life stages (rings 2 and 3), and any employer-facing use of agent data, only after counsel review and the demand tests.</a:t>
            </a:r>
          </a:p>
          <a:p>
            <a:r>
              <a:t>The open question is for counsel, not a conclusion. FCRA defines a consumer report to include information used for "employment purposes" (15 U.S.C. 1681a). California's CPPA rules took effect January 1, 2026, with ADMT duties from January 1, 2027, and a "significant decision" includes "employment or independent contracting opportunities". Whether any Tsenta product falls inside those definitions needs a lawyer.</a:t>
            </a:r>
          </a:p>
          <a:p>
            <a:r>
              <a:t>Runtime note: Hermes Agent's own SECURITY.md calls it "a single-tenant personal agent", so any such runtime would sit behind a Tsenta-owned control plane that holds isolation, approvals and audit. Full 14-row matrix in appendix A6.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ILLUSTRATIVE. Every number here is list-price arithmetic (vendor pricing pages read Oct 13, 2026) on assumed activity, per ACTIVE user per month. It is not Tsenta's usage, not a vendor quote, not a price recommendation and not a margin. Say the words "illustrative" and "list prices" whenever these numbers are shown.</a:t>
            </a:r>
          </a:p>
          <a:p>
            <a:r>
              <a:t>Source: our scale-cost model (Oct 13), arithmetic checked by hand. The three profiles at 1,000 users on the own-core Cloud Run runtime: light (job wedge) about $1.16, normal (active job search) about $4.42, heavy (full-life scenario) about $19.03. Across own-core runtimes (Cloud Run, Workers with Durable Objects, Lambda, Lambda tenant isolation) and 100 to 10,000 users, heavy runs $18.88 to $21.43. These supersede earlier draft figures.</a:t>
            </a:r>
          </a:p>
          <a:p>
            <a:r>
              <a:t>Assumptions per active user-month: light 30 proactive checks, 20 chat turns, 10 browser minutes; normal 120, 80, 60; heavy 720, 300, 300. 10 to 15 percent of checks escalate to an agent turn; chat turns routed 70 percent to Haiku 5.5 and 30 percent to Sonnet 5.5; 80 percent prompt-cache hits on shared prefixes.</a:t>
            </a:r>
          </a:p>
          <a:p>
            <a:r>
              <a:t>Why it scales: the state layer is a fixed floor (two always-on Postgres compute units, $152.64 a month before the first user; not a verified provider-supported high-availability or failover setup at that price), the runtime scales to zero (between $0.00 and $0.75 per user-month across the own-core runtimes and two vendor runtimes, AgentCore and Claude Managed Agents; Vertex Agent Engine reaches about $2.13 and per-user hibernating sandboxes about $3.01), and model tokens are most of the bill. One always-on VM per user (Fly, 1 GB, Hermes's documented minimum) is $7.00 per user-month whether the user is active or not. Without routing and caching, the normal-profile model bill is about six times higher.</a:t>
            </a:r>
          </a:p>
          <a:p>
            <a:r>
              <a:t>Excluded: engineering and fork maintenance, security assessments and penetration tests, compliance audits (SOC 2 or other), enterprise support plans, custom or committed tiers. The heavy profile is a vision scenario; there is no life price, and life features would be bundled into job tiers with usage quotas if they ever ship.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40 seconds. Precedents are mechanism, not proof.</a:t>
            </a:r>
          </a:p>
          <a:p>
            <a:r>
              <a:t>Grew from one asset:</a:t>
            </a:r>
          </a:p>
          <a:p>
            <a:r>
              <a:t>- Uber Q2 2025 prepared remarks: cross-platform consumers "have retention rates over 35% higher than single-business consumers ... generate over 3x the Gross Bookings". Q4 2025: "40% of Uber customers are now using multiple products". https://s23.q4cdn.com/407969754/files/doc_earnings/2025/q2/transcript/Uber-Q2-25-Prepared-Remarks.pdf</a:t>
            </a:r>
          </a:p>
          <a:p>
            <a:r>
              <a:t>- Grab FY2025: financial services revenue grew 37% YoY to $347 million. https://www.grab.com/sg/press/others/grab-reports-fourth-quarter-and-2025-results-with-first-full-year-net-profit/</a:t>
            </a:r>
          </a:p>
          <a:p>
            <a:r>
              <a:t>- Duolingo Q3 2025 shareholder letter: chess "become our fastest-growing subject". https://www.sec.gov/Archives/edgar/data/1562088/000162828025049514/q3fy25duolingo9-30x25share.htm</a:t>
            </a:r>
          </a:p>
          <a:p>
            <a:r>
              <a:t>- LinkedIn bought Lynda.com for $1.5B (Fortune, 2015).</a:t>
            </a:r>
          </a:p>
          <a:p>
            <a:r>
              <a:t>Started broad, then narrowed or closed:</a:t>
            </a:r>
          </a:p>
          <a:p>
            <a:r>
              <a:t>- Facebook M: "sunsetting the service on January 19th"; "M relied on humans" (TechCrunch, Jan 2018).</a:t>
            </a:r>
          </a:p>
          <a:p>
            <a:r>
              <a:t>- Fin: "Capital-intensive and hard-to-scale"; moved to workplace analytics (TechCrunch, 2019).</a:t>
            </a:r>
          </a:p>
          <a:p>
            <a:r>
              <a:t>- GoButler: "our original digital assistant service will no longer be available" (TechCrunch, 2016).</a:t>
            </a:r>
          </a:p>
          <a:p>
            <a:r>
              <a:t>- Mezi: "pivoted to focus solely on flights, hotels and restaurant bookings", then acquired by American Express (TechCrunch, 2018).</a:t>
            </a:r>
          </a:p>
          <a:p>
            <a:r>
              <a:t>Facebook M and Fin failed partly on the cost of humans in the loop; LLM agents remove much of that cost, but reliability and distribution are still unsolved. All read at source on Oct 13.</a:t>
            </a:r>
          </a:p>
          <a:p>
            <a:r>
              <a:t>Do not say these prove Tsenta will succeed.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The honest status of every claim in the deck. LIVE TODAY items were read at source on Oct 13 (tsenta.com, tsenta.com/messaging, tsenta.com/mcp, docs.tsenta.com/product/mcp-connector). Everything else is proposed, vision, not proven, or synthetic.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Host matrix condensed from each host's own documentation, read Oct 13, with the load-bearing cells re-read. Tested on no host: no test account was used.</a:t>
            </a:r>
          </a:p>
          <a:p>
            <a:r>
              <a:t>Sources: ChatGPT MCP Events https://developers.openai.com/plugins/build/mcp-events.md ; ChatGPT automations https://learn.chatgpt.com/docs/automations.md ; Claude connectors https://claude.com/docs/connectors/building/index.md ; Claude Code https://code.claude.com/docs/en/mcp.md , channels.md, scheduled-tasks.md ; Gemini https://support.google.com/gemini/answer/17209137 ; Cursor https://cursor.com/docs/cloud-agent/automations.md ; Poke https://poke.com/docs/api ; Muse https://muse.ai/platform/docs .</a:t>
            </a:r>
          </a:p>
          <a:p>
            <a:r>
              <a:t>Re-read Oct 14 (research decisions): OpenAI help 12584461 https://help.openai.com/en/articles/12584461-developer-mode-and-mcp-apps-in-chatgpt ; Meta Muse connectors (Meta help 1687253048996149); instinct.com and instinct.com/terms (revised Aug 26, 2026).</a:t>
            </a:r>
          </a:p>
          <a:p>
            <a:r>
              <a:t>The first production step would be a logging test server against each host before any compatibility claim.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MCP facts, read at source Oct 13. Standard MCP alone does not let a server start a conversation. ChatGPT's MCP Events is a documented host extension on a draft spec (Work chats and dots), so a host can add a wake path. The Events extension SEP-3415 was opened 2026-10-05 as a draft; its reference implementation in an official SDK is outstanding. Sampling is deprecated in 2026-07-28 with earliest removal on or after 2027-07-28.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Market context, names as text only, no logos. Sources: openai.com/index/introducing-dots ; about.fb.com Muse announcement ; muse.ai/platform ; Google Gemini support ; siliconangle.com (Instinct $1B at $10B, Sept 28 2026) ; TechCrunch on Poke and Apple Messages for Business (June 4 2026) ; talent.fonzi.ai ; aiapplyd.com ; Simplify product pages ; claude.com/connectors/indeed ; App Store lookup for Sprout (4.60 from 71,723) and Sorce (4.70 from 35,637), read Oct 13.</a:t>
            </a:r>
          </a:p>
          <a:p>
            <a:r>
              <a:t>Open space: in a bounded search we found no job-search tool offering onboarding or first-90-days support after the hire; communities such as Blind cover promotions and pay. Standalone career coaches exist, so the gap is only among job-search products found. Simplify describes its Autopilot as "private early access" (Simplify's own page): limited, not generally shipped. Demand for a job tool doing this is not shown.</a:t>
            </a:r>
          </a:p>
          <a:p>
            <a:r>
              <a:t>Job tools with an MCP or agent route (read Oct 14): AI Applyd https://aiapplyd.com/mcps ; LoopCV https://loopcv.pro/apply-with-claude ; Fonzi, two doors, text and MCP https://talent.fonzi.ai . Closest in scope to Tsenta: AI Applyd, Sprout, LoopCV. Never claim Tsenta is the only job agent with MCP.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Risks are measured in the pilot, not used as a veto on the vision.</a:t>
            </a:r>
          </a:p>
          <a:p>
            <a:r>
              <a:t>Sources: median duration of unemployment, 11.5 weeks, September 2026 (BLS; series LNS13008276); context only, not churn; WhatsApp 24-hour customer service window and template rule; Apple Messages for Business FAQ: "deployments without live agent support will not be approved" https://register.apple.com/resources/messages/messaging-documentation/faq ; Claude Code auto mode post (97% approvals, coding context) ; tsenta.com/ai-agent says "No other job search agent offers MCP integration" while talent.fonzi.ai and aiapplyd.com document MCP servers (read Oct 13).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The full requirements matrix from the enterprise feasibility review (Oct 13). Every row is a requirement, not a claim. Pilot gates apply to a small consented cohort; production gates apply before a company-wide launch.</a:t>
            </a:r>
          </a:p>
          <a:p>
            <a:r>
              <a:t>Sources behind the rows: AWS SaaS tenant isolation guidance (R1); OWASP Top 10 for LLM applications, prompt injection and excessive agency (R6); AICPA on SOC 2, which is issued by a CPA firm after an audit (R8); FCRA 15 U.S.C. 1681a and the CPPA ADMT rules (R9); Stripe idempotent requests and Google SRE on SLOs (R10); the license inventory of any open runtime under consideration (R12); domain tags for career and life records in the proposed state design (R14).</a:t>
            </a:r>
          </a:p>
          <a:p>
            <a:r>
              <a:t>Do not read this slide as Tsenta's current posture. This proposal and the prototype have not shown SOC 2, ISO 42001, an SLA or multi-tenancy; Tsenta's current company status on these is unverified.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CONDITIONAL TRIAL; PRODUCTION NOT SELECTED OR BUILT. From the reconciled build verdict of the runtime review (v3, Oct 13). The demo agent is a real OpenClaw worker, agent loop and local tools on dummy records, tested October 13 and 14. Eight runs so far. Runs 1 to 5 stopped before step 24; runs 6 and 7 passed all 24 machine checks, but a truth review found untrue replies. Run 8, the final run (Oct 14), passed all 24 machine checks, and three reviews found no false statement of record fact. It is a qualified pass, not a clean one: at step 8 it suggested the salary floor as the answer to a seeded injection email's sender (hedged, nothing shared), and the core's resume lookup returns an older version. The others stopped at step 9 (that check was then reworded), at step 12 (a script and engine mismatch, since fixed) and at step 4 (a wording check that read a correct answer as wrong). Effects: the final run made one sandbox submission and one local-outbox email to a fictional .example address; no run sent or submitted anything real. Not run live: the 130-prompt stress set and the security set. The core went offline after the final run. A core-only restart during run 5 kept the session and context (machine and manual check); it is separate from the gate. It is not a production integration and makes no tenancy or isolation claim: the gates on A8 and A9 still decide the runtime, and the SDK baseline is still compared. No real user data, no subscriptions, no Hermes changes.</a:t>
            </a:r>
          </a:p>
          <a:p>
            <a:r>
              <a:t>Pitch line: Tsenta owns the core; the runtime is a swappable worker; we are evaluating OpenClaw as the orchestration worker against a thin-SDK baseline behind the same core.</a:t>
            </a:r>
          </a:p>
          <a:p>
            <a:r>
              <a:t>Core: Tsenta's own, built from scratch (tenancy and identity, credential vault, signed per-action approvals, the portable record with export and delete, scheduler, audit and RBAC, egress, quotas). No candidate provides these for many users.</a:t>
            </a:r>
          </a:p>
          <a:p>
            <a:r>
              <a:t>Conditional trial: OpenClaw as an isolated per-user worker behind the core, one container or OS user per user, sleeping when idle. Fork shape: strip at packaging, with a small patch queue on a pinned stable tag, not deep deletion. OpenClaw's own security policy says it is "not designed as a shared multi-tenant boundary between adversarial users on one gateway"; "Recommended mode: one user per machine/host (or VPS)"; and "If multiple users need OpenClaw, use one VPS (or host/OS user boundary) per user". A container or OS-user boundary per user is within that stated model, which is why each user gets an isolated worker and the core holds tenancy, the record and approvals.</a:t>
            </a:r>
          </a:p>
          <a:p>
            <a:r>
              <a:t>Why OpenClaw leads the trial: the evaluation criteria put orchestration and coding-agent connections in scope, and on those OpenClaw documents the most. Per the OpenClaw docs index (https://docs.openclaw.ai/llms.txt, read Oct 13; index descriptions only, page bodies not read): "openclaw attach" launches Claude Code with a scoped Gateway MCP grant (cli/attach); ACP bindings and Codex app-server lanes (help/testing-live/acp-and-codex); Cloud Workers "Dispatch session work to throwaway cloud machines with OpenClaw worker turns or Codex remote execution" (gateway/cloud-workers); Swarm orchestrates concurrent sub-agents with bounded fan-out and live progress (tools/swarm); a context engine with "pluggable context assembly, compaction, and subagent lifecycle" (concepts/context-engine); cross-agent session and subagent tools (gateway/config-tools/sessions-and-subagents); and a Docker sandbox backend (gateway/sandboxing/docker-backend). Hermes documents less orchestration publicly, and on a thin SDK this layer would be a large, unpriced build. That is why OpenClaw is the trial candidate. It still wins nothing until it passes the gates; for the narrow job flow alone the SDK is the cleaner fit, which is why it stays the baseline.</a:t>
            </a:r>
          </a:p>
          <a:p>
            <a:r>
              <a:t>Caveat, read at source Oct 13: OpenClaw's defaults for delegated coding agents are permissive. Its Codex harness page says local stdio app-server sessions "default to YOLO mode", with approvalPolicy "never" and sandbox "danger-full-access" (https://docs.openclaw.ai/plugins/codex-harness-reference/approval-and-sandbox ; repo copy https://github.com/openclaw/openclaw/blob/047b629eb8fcbbda4f9ef4e0f834b57af005ef3d/docs/plugins/codex-harness-reference/approval-and-sandbox.md). Its ACP agents page says "ACPX harness permissions are separate from OpenClaw exec approvals and separate from CLI-backend vendor bypass flags" (https://docs.openclaw.ai/tools/acp-agents-setup). So a Tsenta deployment must override these defaults (gate 11), and the bake-off must test every effective child permission for an explicit deny (gate 7).</a:t>
            </a:r>
          </a:p>
          <a:p>
            <a:r>
              <a:t>Baseline and fallback: a thin model-agnostic SDK, for example Pydantic AI with durable execution on Postgres (DBOS). The runtime review ranks it first, the Vercel AI SDK second (first if the core is TypeScript) and the OpenAI Agents SDK third; the Claude Agent SDK fits only as a delegated coding worker. It becomes the runtime if OpenClaw misses a gate (appendices A8 and A9, 15 gates), with orchestration then built step by step.</a:t>
            </a:r>
          </a:p>
          <a:p>
            <a:r>
              <a:t>Optional challenger: Hermes Agent, single-tenant by its own policy ("a single-tenant personal agent"); it can be benchmarked behind the same core.</a:t>
            </a:r>
          </a:p>
          <a:p>
            <a:r>
              <a:t>Not the starting method: deep source deletion. It is possible, and deleted paths do not turn every upstream change into a conflict (modify and delete conflicts can be resolved mechanically). The real cost is that Tsenta would own manual review of upstream security fixes in deleted code it later needs, and of refactors that move code into kept paths. So start with the packaging strip and treat deeper deletion as a later optimization.</a:t>
            </a:r>
          </a:p>
          <a:p>
            <a:r>
              <a:t>Muse: Meta says it "built Muse from the ground up". TechCrunch (Sep 22, 2026) quotes Nat Friedman: "We built Muse from scratch, but it is definitely heavily inspired as a product by OpenClaw". The sources affirm a from-scratch build and product inspiration; they cannot prove the absence of a fork, so say only that a code fork is not demonstrated. Muse is not evidence that OpenClaw suits Tsenta.</a:t>
            </a:r>
          </a:p>
          <a:p>
            <a:r>
              <a:t>License: OpenClaw, Hermes, Pydantic AI and DBOS are MIT, which permits commercial use with notices kept. That is not dependency clearance: a license scanner and counsel review come before any distribution.</a:t>
            </a:r>
          </a:p>
          <a:p>
            <a:r>
              <a:t>Sources: OpenClaw SECURITY.md https://github.com/openclaw/openclaw/blob/047b629eb8fcbbda4f9ef4e0f834b57af005ef3d/SECURITY.md (all three quotes checked verbatim at this commit, Oct 13) ; OpenClaw docs index https://docs.openclaw.ai/llms.txt ; https://raw.githubusercontent.com/NousResearch/hermes-agent/e06df9c2eae6901f4c88f464e0ae6e753c0428b8/SECURITY.md ; https://ai.pydantic.dev/durable_execution/dbos/ ; https://techcrunch.com/2026/09/22/meta-admits-muses-likeness-to-openclaw-isnt-a-coincidence/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PROPOSED GATES, NOTHING BUILT FOR PRODUCTION. From the reconciled build verdict (v3, Oct 13), section 4: 15 conditions before any production commitment to an OpenClaw worker. This slide shows the core gates 1 to 7; enterprise gates 8 to 15 are on appendix A9.</a:t>
            </a:r>
          </a:p>
          <a:p>
            <a:r>
              <a:t>1 Isolation: one container or OS user per end user, sleeping when idle; no shared gateway; cross-user canary at 0 leaks.</a:t>
            </a:r>
          </a:p>
          <a:p>
            <a:r>
              <a:t>2 Packaging strip: only the needed extensions; no ClawHub or other runtime installs; unused channels off (Tsenta's channels stay in the core).</a:t>
            </a:r>
          </a:p>
          <a:p>
            <a:r>
              <a:t>3 Credentials and egress: short-lived tokens from the core vault only; an egress allow-list around the whole worker.</a:t>
            </a:r>
          </a:p>
          <a:p>
            <a:r>
              <a:t>4 Memory: OpenClaw memory and workspace files are caches; context is fed from the Tsenta record, and writes go back as core events with provenance.</a:t>
            </a:r>
          </a:p>
          <a:p>
            <a:r>
              <a:t>5 Side effects: only through Tsenta tools that verify a signed approval bound to the payload hash; OpenClaw's own approvals are a second line only.</a:t>
            </a:r>
          </a:p>
          <a:p>
            <a:r>
              <a:t>6 Security exposure: a pinned stable release with no known unpatched high or critical advisory in kept components, decided by a deduplicated exposure review, not raw counts.</a:t>
            </a:r>
          </a:p>
          <a:p>
            <a:r>
              <a:t>7 Bake-off against the SDK baseline with the same core, model and tasks: approval-gated submit with 0 unapproved side effects; scheduled delivery on time, with tokens and cost at p50 and p95; a multi-day thread across compaction with facts retained; crash and resume with no duplicate side effect; delegate to Claude Code or Codex and resume with approval relayed; a one-version upgrade passing contract tests and evals. It also includes an approval-bypass test: enumerate every effective child permission (the Codex harness approval and sandbox mode, the ACPX permission mode, and CLI vendor bypass flags) and confirm each is explicitly denied, because these layers are separate from OpenClaw exec approvals and local Codex sessions default to YOLO (approvalPolicy "never", sandbox "danger-full-access"); sources in the appendix A7 notes.</a:t>
            </a:r>
          </a:p>
          <a:p>
            <a:r>
              <a:t>OpenClaw is the runtime only if it passes 1 to 6 and 8 to 15 and matches or beats the baseline on 7 at acceptable per-user worker cost. Otherwise the SDK baseline is the runtime, with orchestration built step by step. The same gates apply to whichever runtime is chosen. Per-user worker cost belongs to the cost model; no figure is claimed 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PROPOSED ENTERPRISE GATES, NOTHING BUILT FOR PRODUCTION. Gates 8 to 15 of the reconciled build verdict (v3, Oct 13), added from the enterprise cross-check. They apply to whichever runtime is chosen, the SDK baseline included.</a:t>
            </a:r>
          </a:p>
          <a:p>
            <a:r>
              <a:t>8 Lifecycle reach: export and delete reach the worker's workspace, transcripts, caches, telemetry and log copies, and backups.</a:t>
            </a:r>
          </a:p>
          <a:p>
            <a:r>
              <a:t>9 Consent and domain filtering: the context engine filters by consent and domain; a canary life fact never appears in an employer-facing payload.</a:t>
            </a:r>
          </a:p>
          <a:p>
            <a:r>
              <a:t>10 Audit: every worker tool call and approval relay lands in the core audit log with execution identity.</a:t>
            </a:r>
          </a:p>
          <a:p>
            <a:r>
              <a:t>11 Delegated coding agents: delegated Claude Code and Codex sessions are sandboxed, with no Tsenta credentials and no side-effect tools; permissive harness presets are off; a harness approval never substitutes for a Tsenta signature. This overrides OpenClaw's documented default: local stdio Codex sessions "default to YOLO mode" (approvalPolicy "never", sandbox "danger-full-access"), and ACPX harness permissions are separate from OpenClaw exec approvals and from vendor bypass flags such as Claude CLI bypassPermissions (https://docs.openclaw.ai/plugins/codex-harness-reference/approval-and-sandbox ; https://docs.openclaw.ai/tools/acp-agents-setup).</a:t>
            </a:r>
          </a:p>
          <a:p>
            <a:r>
              <a:t>12 Red team: prompt injection through job posts, resumes and emails, as part of the bake-off; pass means 0 unapproved actions and 0 exfiltration.</a:t>
            </a:r>
          </a:p>
          <a:p>
            <a:r>
              <a:t>13 Legal: Gmail API Limited Use compliance inside the worker, model-vendor commercial terms for delegation, and a transitive npm license scan.</a:t>
            </a:r>
          </a:p>
          <a:p>
            <a:r>
              <a:t>14 Operations: a cold-start SLO for sleeping workers, a named image owner, and a tested upgrade and rollback.</a:t>
            </a:r>
          </a:p>
          <a:p>
            <a:r>
              <a:t>15 Cross-user outcome patterns (insights such as 'people like you got interviews'): before any cross-user insight ships, a data-source map separates first-party apply records from Gmail-derived replies; Gmail-derived inputs are excluded until counsel signs off; a minimum cohort size applies before any pattern is shown; and every pattern carries a "correlation, not cause" label, because the data is selection-biased. Google's API Services User Data Policy applies Limited Use to data "aggregated, anonymized, or derived from" Workspace API data, allows transfers only for prominent user-facing features with the user's consent (plus listed exceptions such as security, legal compliance and aggregated internal operations), and prohibits transferring or selling user data to third parties such as data brokers. This is not a blanket ban on every employer-facing use: anything beyond those terms is scoped to counsel review, neither assumed allowed nor assumed banned. Source: https://developers.google.com/terms/api-services-user-data-policy (read Oct 13).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Sources, part 1. Every URL was read on Oct 13, 2026 during the research (form factor, landscape, cross-check). Quotes used in the deck are in the speaker notes of the slide that uses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Sources, part 2. Host, market, channel and risk sources, read on Oct 13, 2026.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Sources, part 3. Read on Oct 13, 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Sources, part 4. Legal, consent, runtime and pricing sources, read on Oct 13, 2026. Prices are vendor list prices used by the illustrative cost model (AWS Lambda pricing: https://aws.amazon.com/lambda/pricing/). The OpenClaw documentation pages are cited per the official docs index (https://docs.openclaw.ai/llms.txt, read Oct 13); only the index descriptions were read, not the page bodies. The prototype screenshots come from a local synthetic demo (commit 07ad8fb), not from Tsenta.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758" y="0"/>
            <a:ext cx="14629667"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3854" y="0"/>
            <a:ext cx="5147475" cy="0"/>
          </a:xfrm>
        </p:spPr>
        <p:txBody>
          <a:bodyPr/>
          <a:lstStyle/>
          <a:p>
            <a:endParaRPr lang="en-US"/>
          </a:p>
        </p:txBody>
      </p:sp>
      <p:sp>
        <p:nvSpPr>
          <p:cNvPr id="9" name="Slide Number Placeholder 8"/>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3854" y="0"/>
            <a:ext cx="5147475" cy="0"/>
          </a:xfrm>
        </p:spPr>
        <p:txBody>
          <a:bodyPr/>
          <a:lstStyle/>
          <a:p>
            <a:endParaRPr lang="en-US"/>
          </a:p>
        </p:txBody>
      </p:sp>
      <p:sp>
        <p:nvSpPr>
          <p:cNvPr id="5" name="Slide Number Placeholder 4"/>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3854" y="0"/>
            <a:ext cx="5147475" cy="0"/>
          </a:xfrm>
        </p:spPr>
        <p:txBody>
          <a:bodyPr/>
          <a:lstStyle/>
          <a:p>
            <a:endParaRPr lang="en-US"/>
          </a:p>
        </p:txBody>
      </p:sp>
      <p:sp>
        <p:nvSpPr>
          <p:cNvPr id="4" name="Slide Number Placeholder 3"/>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6"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6"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6"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758" y="0"/>
            <a:ext cx="14629667"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8"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49"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1417320"/>
            <a:ext cx="9875520" cy="2926080"/>
          </a:xfrm>
        </p:spPr>
        <p:txBody>
          <a:bodyPr wrap="square" lIns="0" rIns="0" tIns="0" bIns="0" anchor="t">
            <a:noAutofit/>
          </a:bodyPr>
          <a:lstStyle/>
          <a:p>
            <a:pPr algn="l">
              <a:lnSpc>
                <a:spcPct val="95000"/>
              </a:lnSpc>
            </a:pPr>
            <a:r>
              <a:rPr sz="5400" b="1" i="0">
                <a:solidFill>
                  <a:srgbClr val="251F21"/>
                </a:solidFill>
                <a:latin typeface="Arial"/>
              </a:rPr>
              <a:t>Keep your agent. Add Tsenta.</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TSENTA  ·  COMPANY-WIDE PROPOSAL FOR DISCUSSION</a:t>
            </a:r>
          </a:p>
        </p:txBody>
      </p:sp>
      <p:sp>
        <p:nvSpPr>
          <p:cNvPr id="4" name="Subtitle"/>
          <p:cNvSpPr txBox="1"/>
          <p:nvPr/>
        </p:nvSpPr>
        <p:spPr>
          <a:xfrm>
            <a:off x="731520" y="3931920"/>
            <a:ext cx="9509760" cy="1097280"/>
          </a:xfrm>
          <a:prstGeom prst="rect">
            <a:avLst/>
          </a:prstGeom>
          <a:noFill/>
        </p:spPr>
        <p:txBody>
          <a:bodyPr wrap="square" lIns="0" rIns="0" tIns="0" bIns="0" anchor="t">
            <a:noAutofit/>
          </a:bodyPr>
          <a:lstStyle/>
          <a:p>
            <a:pPr algn="l">
              <a:lnSpc>
                <a:spcPct val="112000"/>
              </a:lnSpc>
            </a:pPr>
            <a:r>
              <a:rPr sz="1900" b="1" i="0">
                <a:solidFill>
                  <a:srgbClr val="251F21"/>
                </a:solidFill>
                <a:latin typeface="Arial"/>
              </a:rPr>
              <a:t>Already use an agent? </a:t>
            </a:r>
            <a:r>
              <a:rPr sz="1900" b="0" i="0">
                <a:solidFill>
                  <a:srgbClr val="585254"/>
                </a:solidFill>
                <a:latin typeface="Arial"/>
              </a:rPr>
              <a:t>Connect Tsenta's job tools to it, or switch to Tsenta's own agent. </a:t>
            </a:r>
            <a:r>
              <a:rPr sz="1900" b="1" i="0">
                <a:solidFill>
                  <a:srgbClr val="251F21"/>
                </a:solidFill>
                <a:latin typeface="Arial"/>
              </a:rPr>
              <a:t>No agent yet? </a:t>
            </a:r>
            <a:r>
              <a:rPr sz="1900" b="0" i="0">
                <a:solidFill>
                  <a:srgbClr val="585254"/>
                </a:solidFill>
                <a:latin typeface="Arial"/>
              </a:rPr>
              <a:t>Tsenta's agent starts with the job. </a:t>
            </a:r>
            <a:r>
              <a:rPr sz="1900" b="1" i="0">
                <a:solidFill>
                  <a:srgbClr val="251F21"/>
                </a:solidFill>
                <a:latin typeface="Arial"/>
              </a:rPr>
              <a:t>Vision: </a:t>
            </a:r>
            <a:r>
              <a:rPr sz="1900" b="0" i="0">
                <a:solidFill>
                  <a:srgbClr val="585254"/>
                </a:solidFill>
                <a:latin typeface="Arial"/>
              </a:rPr>
              <a:t>keeping the job, then the rest of life, added as users ask for it.</a:t>
            </a:r>
          </a:p>
        </p:txBody>
      </p:sp>
      <p:cxnSp>
        <p:nvCxnSpPr>
          <p:cNvPr id="5" name="Connector 4"/>
          <p:cNvCxnSpPr/>
          <p:nvPr/>
        </p:nvCxnSpPr>
        <p:spPr>
          <a:xfrm>
            <a:off x="731520" y="5669280"/>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Tag live today"/>
          <p:cNvSpPr/>
          <p:nvPr/>
        </p:nvSpPr>
        <p:spPr>
          <a:xfrm>
            <a:off x="731520" y="5870448"/>
            <a:ext cx="1024127" cy="246888"/>
          </a:xfrm>
          <a:prstGeom prst="roundRect">
            <a:avLst>
              <a:gd name="adj" fmla="val 50000"/>
            </a:avLst>
          </a:prstGeom>
          <a:solidFill>
            <a:srgbClr val="251F21"/>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FFFFFF"/>
                </a:solidFill>
                <a:latin typeface="Arial"/>
              </a:rPr>
              <a:t>LIVE TODAY</a:t>
            </a:r>
          </a:p>
        </p:txBody>
      </p:sp>
      <p:sp>
        <p:nvSpPr>
          <p:cNvPr id="7" name="Tag proposed"/>
          <p:cNvSpPr/>
          <p:nvPr/>
        </p:nvSpPr>
        <p:spPr>
          <a:xfrm>
            <a:off x="1865375" y="5870448"/>
            <a:ext cx="859536" cy="246888"/>
          </a:xfrm>
          <a:prstGeom prst="roundRect">
            <a:avLst>
              <a:gd name="adj" fmla="val 50000"/>
            </a:avLst>
          </a:prstGeom>
          <a:solidFill>
            <a:srgbClr val="FFFFFF"/>
          </a:solidFill>
          <a:ln w="952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3F7668"/>
                </a:solidFill>
                <a:latin typeface="Arial"/>
              </a:rPr>
              <a:t>PROPOSED</a:t>
            </a:r>
          </a:p>
        </p:txBody>
      </p:sp>
      <p:sp>
        <p:nvSpPr>
          <p:cNvPr id="8" name="Tag vision"/>
          <p:cNvSpPr/>
          <p:nvPr/>
        </p:nvSpPr>
        <p:spPr>
          <a:xfrm>
            <a:off x="2834639" y="5870448"/>
            <a:ext cx="694944" cy="246888"/>
          </a:xfrm>
          <a:prstGeom prst="roundRect">
            <a:avLst>
              <a:gd name="adj" fmla="val 50000"/>
            </a:avLst>
          </a:prstGeom>
          <a:solidFill>
            <a:srgbClr val="FFFFFF"/>
          </a:solidFill>
          <a:ln w="952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585254"/>
                </a:solidFill>
                <a:latin typeface="Arial"/>
              </a:rPr>
              <a:t>VISION</a:t>
            </a:r>
          </a:p>
        </p:txBody>
      </p:sp>
      <p:sp>
        <p:nvSpPr>
          <p:cNvPr id="9" name="Tag synthetic"/>
          <p:cNvSpPr/>
          <p:nvPr/>
        </p:nvSpPr>
        <p:spPr>
          <a:xfrm>
            <a:off x="3639311" y="5870448"/>
            <a:ext cx="941832" cy="246888"/>
          </a:xfrm>
          <a:prstGeom prst="roundRect">
            <a:avLst>
              <a:gd name="adj" fmla="val 50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585254"/>
                </a:solidFill>
                <a:latin typeface="Arial"/>
              </a:rPr>
              <a:t>SYNTHETIC</a:t>
            </a:r>
          </a:p>
        </p:txBody>
      </p:sp>
      <p:sp>
        <p:nvSpPr>
          <p:cNvPr id="10" name="Legend"/>
          <p:cNvSpPr txBox="1"/>
          <p:nvPr/>
        </p:nvSpPr>
        <p:spPr>
          <a:xfrm>
            <a:off x="4736591" y="5888736"/>
            <a:ext cx="6723584" cy="274320"/>
          </a:xfrm>
          <a:prstGeom prst="rect">
            <a:avLst/>
          </a:prstGeom>
          <a:noFill/>
        </p:spPr>
        <p:txBody>
          <a:bodyPr wrap="square" lIns="0" rIns="0" tIns="0" bIns="0" anchor="t">
            <a:noAutofit/>
          </a:bodyPr>
          <a:lstStyle/>
          <a:p>
            <a:pPr algn="l"/>
            <a:r>
              <a:rPr sz="1050" b="0" i="0">
                <a:solidFill>
                  <a:srgbClr val="585254"/>
                </a:solidFill>
                <a:latin typeface="Arial"/>
              </a:rPr>
              <a:t>The job agent, public  ·  designed, not built  ·  not built, demand not proven  ·  made-up data</a:t>
            </a:r>
          </a:p>
        </p:txBody>
      </p:sp>
      <p:sp>
        <p:nvSpPr>
          <p:cNvPr id="11" name="TextBox 10"/>
          <p:cNvSpPr txBox="1"/>
          <p:nvPr/>
        </p:nvSpPr>
        <p:spPr>
          <a:xfrm>
            <a:off x="5973775" y="6382512"/>
            <a:ext cx="5486400" cy="274320"/>
          </a:xfrm>
          <a:prstGeom prst="rect">
            <a:avLst/>
          </a:prstGeom>
          <a:noFill/>
        </p:spPr>
        <p:txBody>
          <a:bodyPr wrap="square" lIns="0" rIns="0" tIns="0" bIns="0" anchor="t">
            <a:noAutofit/>
          </a:bodyPr>
          <a:lstStyle/>
          <a:p>
            <a:pPr algn="r"/>
            <a:r>
              <a:rPr sz="1000" b="0" i="0">
                <a:solidFill>
                  <a:srgbClr val="585254"/>
                </a:solidFill>
                <a:latin typeface="Arial"/>
              </a:rPr>
              <a:t>A proposal for Tsenta  ·  prepared by Abhay Mettu  ·  October 14,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Two paths in. One Tsenta core.</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THE JOURNEY  ·  TWO PATHS IN  ·  TODAY'S BASE MARKED</a:t>
            </a:r>
          </a:p>
        </p:txBody>
      </p:sp>
      <p:sp>
        <p:nvSpPr>
          <p:cNvPr id="4" name="TextBox 3"/>
          <p:cNvSpPr txBox="1"/>
          <p:nvPr/>
        </p:nvSpPr>
        <p:spPr>
          <a:xfrm>
            <a:off x="731520" y="1755648"/>
            <a:ext cx="7060996" cy="274320"/>
          </a:xfrm>
          <a:prstGeom prst="rect">
            <a:avLst/>
          </a:prstGeom>
          <a:noFill/>
        </p:spPr>
        <p:txBody>
          <a:bodyPr wrap="square" lIns="0" rIns="0" tIns="0" bIns="0" anchor="t">
            <a:noAutofit/>
          </a:bodyPr>
          <a:lstStyle/>
          <a:p>
            <a:pPr algn="l"/>
            <a:r>
              <a:rPr sz="1100" b="1" i="0" spc="100">
                <a:solidFill>
                  <a:srgbClr val="3F7668"/>
                </a:solidFill>
                <a:latin typeface="Arial"/>
              </a:rPr>
              <a:t>ALREADY USE AN AGENT: TWO CHOICES</a:t>
            </a:r>
          </a:p>
        </p:txBody>
      </p:sp>
      <p:sp>
        <p:nvSpPr>
          <p:cNvPr id="5" name="TextBox 4"/>
          <p:cNvSpPr txBox="1"/>
          <p:nvPr/>
        </p:nvSpPr>
        <p:spPr>
          <a:xfrm>
            <a:off x="8066836" y="1755648"/>
            <a:ext cx="3393338" cy="274320"/>
          </a:xfrm>
          <a:prstGeom prst="rect">
            <a:avLst/>
          </a:prstGeom>
          <a:noFill/>
        </p:spPr>
        <p:txBody>
          <a:bodyPr wrap="square" lIns="0" rIns="0" tIns="0" bIns="0" anchor="t">
            <a:noAutofit/>
          </a:bodyPr>
          <a:lstStyle/>
          <a:p>
            <a:pPr algn="l"/>
            <a:r>
              <a:rPr sz="1100" b="1" i="0" spc="100">
                <a:solidFill>
                  <a:srgbClr val="3F7668"/>
                </a:solidFill>
                <a:latin typeface="Arial"/>
              </a:rPr>
              <a:t>NO AGENT YET</a:t>
            </a:r>
          </a:p>
        </p:txBody>
      </p:sp>
      <p:sp>
        <p:nvSpPr>
          <p:cNvPr id="6" name="Path A  ·  CONNECT"/>
          <p:cNvSpPr/>
          <p:nvPr/>
        </p:nvSpPr>
        <p:spPr>
          <a:xfrm>
            <a:off x="731520" y="2103120"/>
            <a:ext cx="3393338" cy="3291840"/>
          </a:xfrm>
          <a:prstGeom prst="roundRect">
            <a:avLst>
              <a:gd name="adj" fmla="val 5000"/>
            </a:avLst>
          </a:prstGeom>
          <a:solidFill>
            <a:srgbClr val="E6F0ED"/>
          </a:solidFill>
          <a:ln w="1587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t" lIns="219456" rIns="219456" tIns="201168" bIns="109728" wrap="square">
            <a:noAutofit/>
          </a:bodyPr>
          <a:lstStyle/>
          <a:p>
            <a:pPr algn="l">
              <a:spcAft>
                <a:spcPts val="500"/>
              </a:spcAft>
            </a:pPr>
            <a:r>
              <a:rPr sz="1050" b="1" i="0" spc="100">
                <a:solidFill>
                  <a:srgbClr val="3F7668"/>
                </a:solidFill>
                <a:latin typeface="Arial"/>
              </a:rPr>
              <a:t>A  ·  CONNECT</a:t>
            </a:r>
          </a:p>
          <a:p>
            <a:pPr algn="l">
              <a:lnSpc>
                <a:spcPct val="105000"/>
              </a:lnSpc>
              <a:spcAft>
                <a:spcPts val="800"/>
              </a:spcAft>
            </a:pPr>
            <a:r>
              <a:rPr sz="1900" b="1" i="0">
                <a:solidFill>
                  <a:srgbClr val="251F21"/>
                </a:solidFill>
                <a:latin typeface="Arial"/>
              </a:rPr>
              <a:t>Keep yours. Add Tsenta.</a:t>
            </a:r>
          </a:p>
          <a:p>
            <a:pPr algn="l">
              <a:lnSpc>
                <a:spcPct val="104000"/>
              </a:lnSpc>
              <a:spcAft>
                <a:spcPts val="500"/>
              </a:spcAft>
            </a:pPr>
            <a:r>
              <a:rPr sz="1250" b="1" i="0">
                <a:solidFill>
                  <a:srgbClr val="251F21"/>
                </a:solidFill>
                <a:latin typeface="Arial"/>
              </a:rPr>
              <a:t>Live today: </a:t>
            </a:r>
            <a:r>
              <a:rPr sz="1250" b="0" i="0">
                <a:solidFill>
                  <a:srgbClr val="585254"/>
                </a:solidFill>
                <a:latin typeface="Arial"/>
              </a:rPr>
              <a:t>Tsenta's MCP server for Claude, Cursor and Codex.</a:t>
            </a:r>
          </a:p>
          <a:p>
            <a:pPr algn="l">
              <a:lnSpc>
                <a:spcPct val="104000"/>
              </a:lnSpc>
              <a:spcAft>
                <a:spcPts val="500"/>
              </a:spcAft>
            </a:pPr>
            <a:r>
              <a:rPr sz="1250" b="1" i="0">
                <a:solidFill>
                  <a:srgbClr val="251F21"/>
                </a:solidFill>
                <a:latin typeface="Arial"/>
              </a:rPr>
              <a:t>ChatGPT, per its docs: </a:t>
            </a:r>
            <a:r>
              <a:rPr sz="1250" b="0" i="0">
                <a:solidFill>
                  <a:srgbClr val="585254"/>
                </a:solidFill>
                <a:latin typeface="Arial"/>
              </a:rPr>
              <a:t>full use in admin-enabled Business, Enterprise and Edu (beta, web only); Pro read-only; a published plugin's consumer reach is unconfirmed.</a:t>
            </a:r>
          </a:p>
          <a:p>
            <a:pPr algn="l">
              <a:lnSpc>
                <a:spcPct val="104000"/>
              </a:lnSpc>
              <a:spcAft>
                <a:spcPts val="500"/>
              </a:spcAft>
            </a:pPr>
            <a:r>
              <a:rPr sz="1250" b="1" i="0">
                <a:solidFill>
                  <a:srgbClr val="251F21"/>
                </a:solidFill>
                <a:latin typeface="Arial"/>
              </a:rPr>
              <a:t>Design, not shipped: </a:t>
            </a:r>
            <a:r>
              <a:rPr sz="1250" b="0" i="0">
                <a:solidFill>
                  <a:srgbClr val="585254"/>
                </a:solidFill>
                <a:latin typeface="Arial"/>
              </a:rPr>
              <a:t>your agent proposes; you approve on Tsenta. No parity with Tsenta's own agent is claimed.</a:t>
            </a:r>
          </a:p>
        </p:txBody>
      </p:sp>
      <p:sp>
        <p:nvSpPr>
          <p:cNvPr id="7" name="Path B  ·  SWITCH"/>
          <p:cNvSpPr/>
          <p:nvPr/>
        </p:nvSpPr>
        <p:spPr>
          <a:xfrm>
            <a:off x="4399178" y="2103120"/>
            <a:ext cx="3393338" cy="3291840"/>
          </a:xfrm>
          <a:prstGeom prst="roundRect">
            <a:avLst>
              <a:gd name="adj" fmla="val 5000"/>
            </a:avLst>
          </a:prstGeom>
          <a:solidFill>
            <a:srgbClr val="FFFFFF"/>
          </a:solidFill>
          <a:ln w="12700">
            <a:solidFill>
              <a:srgbClr val="E4E0DD"/>
            </a:solidFill>
          </a:ln>
          <a:effectLst/>
        </p:spPr>
        <p:style>
          <a:lnRef idx="1">
            <a:schemeClr val="accent1"/>
          </a:lnRef>
          <a:fillRef idx="3">
            <a:schemeClr val="accent1"/>
          </a:fillRef>
          <a:effectRef idx="2">
            <a:schemeClr val="accent1"/>
          </a:effectRef>
          <a:fontRef idx="minor">
            <a:schemeClr val="lt1"/>
          </a:fontRef>
        </p:style>
        <p:txBody>
          <a:bodyPr rtlCol="0" anchor="t" lIns="219456" rIns="219456" tIns="201168" bIns="109728" wrap="square">
            <a:noAutofit/>
          </a:bodyPr>
          <a:lstStyle/>
          <a:p>
            <a:pPr algn="l">
              <a:spcAft>
                <a:spcPts val="500"/>
              </a:spcAft>
            </a:pPr>
            <a:r>
              <a:rPr sz="1050" b="1" i="0" spc="100">
                <a:solidFill>
                  <a:srgbClr val="3F7668"/>
                </a:solidFill>
                <a:latin typeface="Arial"/>
              </a:rPr>
              <a:t>B  ·  SWITCH</a:t>
            </a:r>
          </a:p>
          <a:p>
            <a:pPr algn="l">
              <a:lnSpc>
                <a:spcPct val="105000"/>
              </a:lnSpc>
              <a:spcAft>
                <a:spcPts val="800"/>
              </a:spcAft>
            </a:pPr>
            <a:r>
              <a:rPr sz="1900" b="1" i="0">
                <a:solidFill>
                  <a:srgbClr val="251F21"/>
                </a:solidFill>
                <a:latin typeface="Arial"/>
              </a:rPr>
              <a:t>Use Tsenta's own agent.</a:t>
            </a:r>
          </a:p>
          <a:p>
            <a:pPr algn="l">
              <a:lnSpc>
                <a:spcPct val="104000"/>
              </a:lnSpc>
              <a:spcAft>
                <a:spcPts val="500"/>
              </a:spcAft>
            </a:pPr>
            <a:r>
              <a:rPr sz="1250" b="1" i="0">
                <a:solidFill>
                  <a:srgbClr val="251F21"/>
                </a:solidFill>
                <a:latin typeface="Arial"/>
              </a:rPr>
              <a:t>Live today: </a:t>
            </a:r>
            <a:r>
              <a:rPr sz="1250" b="0" i="0">
                <a:solidFill>
                  <a:srgbClr val="585254"/>
                </a:solidFill>
                <a:latin typeface="Arial"/>
              </a:rPr>
              <a:t>the job agent on iMessage, WhatsApp, web and apps.</a:t>
            </a:r>
          </a:p>
          <a:p>
            <a:pPr algn="l">
              <a:lnSpc>
                <a:spcPct val="104000"/>
              </a:lnSpc>
              <a:spcAft>
                <a:spcPts val="500"/>
              </a:spcAft>
            </a:pPr>
            <a:r>
              <a:rPr sz="1250" b="1" i="0">
                <a:solidFill>
                  <a:srgbClr val="251F21"/>
                </a:solidFill>
                <a:latin typeface="Arial"/>
              </a:rPr>
              <a:t>Roadmap: </a:t>
            </a:r>
            <a:r>
              <a:rPr sz="1250" b="0" i="0">
                <a:solidFill>
                  <a:srgbClr val="585254"/>
                </a:solidFill>
                <a:latin typeface="Arial"/>
              </a:rPr>
              <a:t>bring your career, not your chat history. Paste a summary, add a resume, review before it saves.</a:t>
            </a:r>
          </a:p>
          <a:p>
            <a:pPr algn="l">
              <a:lnSpc>
                <a:spcPct val="104000"/>
              </a:lnSpc>
              <a:spcAft>
                <a:spcPts val="500"/>
              </a:spcAft>
            </a:pPr>
            <a:r>
              <a:rPr sz="1250" b="1" i="0">
                <a:solidFill>
                  <a:srgbClr val="251F21"/>
                </a:solidFill>
                <a:latin typeface="Arial"/>
              </a:rPr>
              <a:t>Proposed: </a:t>
            </a:r>
            <a:r>
              <a:rPr sz="1250" b="0" i="0">
                <a:solidFill>
                  <a:srgbClr val="585254"/>
                </a:solidFill>
                <a:latin typeface="Arial"/>
              </a:rPr>
              <a:t>Tsenta's own agent picks when to speak first. Inside other agents, the host sets the timing.</a:t>
            </a:r>
          </a:p>
        </p:txBody>
      </p:sp>
      <p:sp>
        <p:nvSpPr>
          <p:cNvPr id="8" name="Path TSENTA'S OWN AGENT"/>
          <p:cNvSpPr/>
          <p:nvPr/>
        </p:nvSpPr>
        <p:spPr>
          <a:xfrm>
            <a:off x="8066836" y="2103120"/>
            <a:ext cx="3393338" cy="3291840"/>
          </a:xfrm>
          <a:prstGeom prst="roundRect">
            <a:avLst>
              <a:gd name="adj" fmla="val 5000"/>
            </a:avLst>
          </a:prstGeom>
          <a:solidFill>
            <a:srgbClr val="FFFFFF"/>
          </a:solidFill>
          <a:ln w="12700">
            <a:solidFill>
              <a:srgbClr val="E4E0DD"/>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219456" rIns="219456" tIns="201168" bIns="109728" wrap="square">
            <a:noAutofit/>
          </a:bodyPr>
          <a:lstStyle/>
          <a:p>
            <a:pPr algn="l">
              <a:spcAft>
                <a:spcPts val="500"/>
              </a:spcAft>
            </a:pPr>
            <a:r>
              <a:rPr sz="1050" b="1" i="0" spc="100">
                <a:solidFill>
                  <a:srgbClr val="3F7668"/>
                </a:solidFill>
                <a:latin typeface="Arial"/>
              </a:rPr>
              <a:t>TSENTA'S OWN AGENT</a:t>
            </a:r>
          </a:p>
          <a:p>
            <a:pPr algn="l">
              <a:lnSpc>
                <a:spcPct val="105000"/>
              </a:lnSpc>
              <a:spcAft>
                <a:spcPts val="800"/>
              </a:spcAft>
            </a:pPr>
            <a:r>
              <a:rPr sz="1900" b="1" i="0">
                <a:solidFill>
                  <a:srgbClr val="251F21"/>
                </a:solidFill>
                <a:latin typeface="Arial"/>
              </a:rPr>
              <a:t>Start with the job.</a:t>
            </a:r>
          </a:p>
          <a:p>
            <a:pPr algn="l">
              <a:lnSpc>
                <a:spcPct val="104000"/>
              </a:lnSpc>
              <a:spcAft>
                <a:spcPts val="500"/>
              </a:spcAft>
            </a:pPr>
            <a:r>
              <a:rPr sz="1250" b="1" i="0">
                <a:solidFill>
                  <a:srgbClr val="251F21"/>
                </a:solidFill>
                <a:latin typeface="Arial"/>
              </a:rPr>
              <a:t>Live today: </a:t>
            </a:r>
            <a:r>
              <a:rPr sz="1250" b="0" i="0">
                <a:solidFill>
                  <a:srgbClr val="585254"/>
                </a:solidFill>
                <a:latin typeface="Arial"/>
              </a:rPr>
              <a:t>sign up, upload a resume; Tsenta finds roles and applies.</a:t>
            </a:r>
          </a:p>
          <a:p>
            <a:pPr algn="l">
              <a:lnSpc>
                <a:spcPct val="104000"/>
              </a:lnSpc>
              <a:spcAft>
                <a:spcPts val="500"/>
              </a:spcAft>
            </a:pPr>
            <a:r>
              <a:rPr sz="1250" b="1" i="0">
                <a:solidFill>
                  <a:srgbClr val="251F21"/>
                </a:solidFill>
                <a:latin typeface="Arial"/>
              </a:rPr>
              <a:t>Vision: </a:t>
            </a:r>
            <a:r>
              <a:rPr sz="1250" b="0" i="0">
                <a:solidFill>
                  <a:srgbClr val="585254"/>
                </a:solidFill>
                <a:latin typeface="Arial"/>
              </a:rPr>
              <a:t>keeping the job, then life admin and productivity, added as users ask for it.</a:t>
            </a:r>
          </a:p>
        </p:txBody>
      </p:sp>
      <p:sp>
        <p:nvSpPr>
          <p:cNvPr id="9" name="One core"/>
          <p:cNvSpPr/>
          <p:nvPr/>
        </p:nvSpPr>
        <p:spPr>
          <a:xfrm>
            <a:off x="731520" y="5440680"/>
            <a:ext cx="10728655" cy="457200"/>
          </a:xfrm>
          <a:prstGeom prst="roundRect">
            <a:avLst>
              <a:gd name="adj" fmla="val 12000"/>
            </a:avLst>
          </a:prstGeom>
          <a:solidFill>
            <a:srgbClr val="251F2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noAutofit/>
          </a:bodyPr>
          <a:lstStyle/>
          <a:p>
            <a:pPr algn="ctr"/>
            <a:r>
              <a:rPr sz="1350" b="1" i="0">
                <a:solidFill>
                  <a:srgbClr val="FFFFFF"/>
                </a:solidFill>
                <a:latin typeface="Arial"/>
              </a:rPr>
              <a:t>Every path runs on one Tsenta core: </a:t>
            </a:r>
            <a:r>
              <a:rPr sz="1350" b="0" i="0">
                <a:solidFill>
                  <a:srgbClr val="FFFFFF"/>
                </a:solidFill>
                <a:latin typeface="Arial"/>
              </a:rPr>
              <a:t>your goal, your career record, your yes. Proposed, not built (slides 10 and 11).</a:t>
            </a:r>
          </a:p>
        </p:txBody>
      </p:sp>
      <p:sp>
        <p:nvSpPr>
          <p:cNvPr id="10" name="TextBox 9"/>
          <p:cNvSpPr txBox="1"/>
          <p:nvPr/>
        </p:nvSpPr>
        <p:spPr>
          <a:xfrm>
            <a:off x="731520" y="5961888"/>
            <a:ext cx="10728655" cy="274320"/>
          </a:xfrm>
          <a:prstGeom prst="rect">
            <a:avLst/>
          </a:prstGeom>
          <a:noFill/>
        </p:spPr>
        <p:txBody>
          <a:bodyPr wrap="square" lIns="0" rIns="0" tIns="0" bIns="0" anchor="t">
            <a:noAutofit/>
          </a:bodyPr>
          <a:lstStyle/>
          <a:p>
            <a:pPr algn="l"/>
            <a:r>
              <a:rPr sz="1050" b="0" i="0">
                <a:solidFill>
                  <a:srgbClr val="585254"/>
                </a:solidFill>
                <a:latin typeface="Arial"/>
              </a:rPr>
              <a:t>Host facts from each host's own docs, read October 14; nothing tested (appendix A2). Tsenta keeps its own career record; it cannot read or write another agent's memory.</a:t>
            </a:r>
          </a:p>
        </p:txBody>
      </p:sp>
      <p:cxnSp>
        <p:nvCxnSpPr>
          <p:cNvPr id="11" name="Connector 10"/>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2"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13"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a:t>
            </a:r>
          </a:p>
        </p:txBody>
      </p:sp>
      <p:sp>
        <p:nvSpPr>
          <p:cNvPr id="14"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tsenta.com/mcp; docs.tsenta.com; OpenAI help 12584461; MCP 2026-07-28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The job search is where an agent earns trust.</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WHY THE JOB COMES FIRST</a:t>
            </a:r>
          </a:p>
        </p:txBody>
      </p:sp>
      <p:cxnSp>
        <p:nvCxnSpPr>
          <p:cNvPr id="4" name="Connector 3"/>
          <p:cNvCxnSpPr/>
          <p:nvPr/>
        </p:nvCxnSpPr>
        <p:spPr>
          <a:xfrm>
            <a:off x="731520" y="2148840"/>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295144"/>
            <a:ext cx="548640" cy="365760"/>
          </a:xfrm>
          <a:prstGeom prst="rect">
            <a:avLst/>
          </a:prstGeom>
          <a:noFill/>
        </p:spPr>
        <p:txBody>
          <a:bodyPr wrap="square" lIns="0" rIns="0" tIns="0" bIns="0" anchor="t">
            <a:noAutofit/>
          </a:bodyPr>
          <a:lstStyle/>
          <a:p>
            <a:pPr algn="l"/>
            <a:r>
              <a:rPr sz="1400" b="1" i="0">
                <a:solidFill>
                  <a:srgbClr val="3F7668"/>
                </a:solidFill>
                <a:latin typeface="Arial"/>
              </a:rPr>
              <a:t>01</a:t>
            </a:r>
          </a:p>
        </p:txBody>
      </p:sp>
      <p:sp>
        <p:nvSpPr>
          <p:cNvPr id="6" name="TextBox 5"/>
          <p:cNvSpPr txBox="1"/>
          <p:nvPr/>
        </p:nvSpPr>
        <p:spPr>
          <a:xfrm>
            <a:off x="1280160" y="2258568"/>
            <a:ext cx="4541367" cy="1664208"/>
          </a:xfrm>
          <a:prstGeom prst="rect">
            <a:avLst/>
          </a:prstGeom>
          <a:noFill/>
        </p:spPr>
        <p:txBody>
          <a:bodyPr wrap="square" lIns="0" rIns="0" tIns="0" bIns="0" anchor="t">
            <a:noAutofit/>
          </a:bodyPr>
          <a:lstStyle/>
          <a:p>
            <a:pPr algn="l">
              <a:spcAft>
                <a:spcPts val="600"/>
              </a:spcAft>
            </a:pPr>
            <a:r>
              <a:rPr sz="2000" b="1" i="0">
                <a:solidFill>
                  <a:srgbClr val="251F21"/>
                </a:solidFill>
                <a:latin typeface="Arial"/>
              </a:rPr>
              <a:t>Dated, high-stakes, checkable.</a:t>
            </a:r>
          </a:p>
          <a:p>
            <a:pPr algn="l">
              <a:lnSpc>
                <a:spcPct val="110000"/>
              </a:lnSpc>
            </a:pPr>
            <a:r>
              <a:rPr sz="1400" b="0" i="0">
                <a:solidFill>
                  <a:srgbClr val="585254"/>
                </a:solidFill>
                <a:latin typeface="Arial"/>
              </a:rPr>
              <a:t>Interviews, deadlines and offers have dates and right answers, so the agent's help can be checked. Median duration of unemployment, 11.5 weeks, September 2026 (BLS).</a:t>
            </a:r>
          </a:p>
        </p:txBody>
      </p:sp>
      <p:cxnSp>
        <p:nvCxnSpPr>
          <p:cNvPr id="7" name="Connector 6"/>
          <p:cNvCxnSpPr/>
          <p:nvPr/>
        </p:nvCxnSpPr>
        <p:spPr>
          <a:xfrm>
            <a:off x="6370167" y="2148840"/>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370167" y="2295144"/>
            <a:ext cx="548640" cy="365760"/>
          </a:xfrm>
          <a:prstGeom prst="rect">
            <a:avLst/>
          </a:prstGeom>
          <a:noFill/>
        </p:spPr>
        <p:txBody>
          <a:bodyPr wrap="square" lIns="0" rIns="0" tIns="0" bIns="0" anchor="t">
            <a:noAutofit/>
          </a:bodyPr>
          <a:lstStyle/>
          <a:p>
            <a:pPr algn="l"/>
            <a:r>
              <a:rPr sz="1400" b="1" i="0">
                <a:solidFill>
                  <a:srgbClr val="3F7668"/>
                </a:solidFill>
                <a:latin typeface="Arial"/>
              </a:rPr>
              <a:t>02</a:t>
            </a:r>
          </a:p>
        </p:txBody>
      </p:sp>
      <p:sp>
        <p:nvSpPr>
          <p:cNvPr id="9" name="TextBox 8"/>
          <p:cNvSpPr txBox="1"/>
          <p:nvPr/>
        </p:nvSpPr>
        <p:spPr>
          <a:xfrm>
            <a:off x="6918807" y="2258568"/>
            <a:ext cx="4541367" cy="1664208"/>
          </a:xfrm>
          <a:prstGeom prst="rect">
            <a:avLst/>
          </a:prstGeom>
          <a:noFill/>
        </p:spPr>
        <p:txBody>
          <a:bodyPr wrap="square" lIns="0" rIns="0" tIns="0" bIns="0" anchor="t">
            <a:noAutofit/>
          </a:bodyPr>
          <a:lstStyle/>
          <a:p>
            <a:pPr algn="l">
              <a:spcAft>
                <a:spcPts val="600"/>
              </a:spcAft>
            </a:pPr>
            <a:r>
              <a:rPr sz="2000" b="1" i="0">
                <a:solidFill>
                  <a:srgbClr val="251F21"/>
                </a:solidFill>
                <a:latin typeface="Arial"/>
              </a:rPr>
              <a:t>Tsenta already holds the job search.</a:t>
            </a:r>
          </a:p>
          <a:p>
            <a:pPr algn="l">
              <a:lnSpc>
                <a:spcPct val="110000"/>
              </a:lnSpc>
            </a:pPr>
            <a:r>
              <a:rPr sz="1400" b="0" i="0">
                <a:solidFill>
                  <a:srgbClr val="585254"/>
                </a:solidFill>
                <a:latin typeface="Arial"/>
              </a:rPr>
              <a:t>Applications, tailored resumes and receipts already run through Tsenta, on channels users chose. A general agent would have to rebuild that context.</a:t>
            </a:r>
          </a:p>
        </p:txBody>
      </p:sp>
      <p:cxnSp>
        <p:nvCxnSpPr>
          <p:cNvPr id="10" name="Connector 9"/>
          <p:cNvCxnSpPr/>
          <p:nvPr/>
        </p:nvCxnSpPr>
        <p:spPr>
          <a:xfrm>
            <a:off x="731520" y="3931920"/>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4078224"/>
            <a:ext cx="548640" cy="365760"/>
          </a:xfrm>
          <a:prstGeom prst="rect">
            <a:avLst/>
          </a:prstGeom>
          <a:noFill/>
        </p:spPr>
        <p:txBody>
          <a:bodyPr wrap="square" lIns="0" rIns="0" tIns="0" bIns="0" anchor="t">
            <a:noAutofit/>
          </a:bodyPr>
          <a:lstStyle/>
          <a:p>
            <a:pPr algn="l"/>
            <a:r>
              <a:rPr sz="1400" b="1" i="0">
                <a:solidFill>
                  <a:srgbClr val="3F7668"/>
                </a:solidFill>
                <a:latin typeface="Arial"/>
              </a:rPr>
              <a:t>03</a:t>
            </a:r>
          </a:p>
        </p:txBody>
      </p:sp>
      <p:sp>
        <p:nvSpPr>
          <p:cNvPr id="12" name="TextBox 11"/>
          <p:cNvSpPr txBox="1"/>
          <p:nvPr/>
        </p:nvSpPr>
        <p:spPr>
          <a:xfrm>
            <a:off x="1280160" y="4041648"/>
            <a:ext cx="4541367" cy="1664208"/>
          </a:xfrm>
          <a:prstGeom prst="rect">
            <a:avLst/>
          </a:prstGeom>
          <a:noFill/>
        </p:spPr>
        <p:txBody>
          <a:bodyPr wrap="square" lIns="0" rIns="0" tIns="0" bIns="0" anchor="t">
            <a:noAutofit/>
          </a:bodyPr>
          <a:lstStyle/>
          <a:p>
            <a:pPr algn="l">
              <a:spcAft>
                <a:spcPts val="600"/>
              </a:spcAft>
            </a:pPr>
            <a:r>
              <a:rPr sz="2000" b="1" i="0">
                <a:solidFill>
                  <a:srgbClr val="251F21"/>
                </a:solidFill>
                <a:latin typeface="Arial"/>
              </a:rPr>
              <a:t>A trusted specialist, not a rival to general AI.</a:t>
            </a:r>
          </a:p>
          <a:p>
            <a:pPr algn="l">
              <a:lnSpc>
                <a:spcPct val="110000"/>
              </a:lnSpc>
            </a:pPr>
            <a:r>
              <a:rPr sz="1400" b="0" i="0">
                <a:solidFill>
                  <a:srgbClr val="585254"/>
                </a:solidFill>
                <a:latin typeface="Arial"/>
              </a:rPr>
              <a:t>72% of US AI users now use both general and specialized AI products, up from 60% (Menlo Ventures, 2026). Tsenta can sit beside the agent a user already has, through the job it already handles.</a:t>
            </a:r>
          </a:p>
        </p:txBody>
      </p:sp>
      <p:cxnSp>
        <p:nvCxnSpPr>
          <p:cNvPr id="13" name="Connector 12"/>
          <p:cNvCxnSpPr/>
          <p:nvPr/>
        </p:nvCxnSpPr>
        <p:spPr>
          <a:xfrm>
            <a:off x="6370167" y="3931920"/>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70167" y="4078224"/>
            <a:ext cx="548640" cy="365760"/>
          </a:xfrm>
          <a:prstGeom prst="rect">
            <a:avLst/>
          </a:prstGeom>
          <a:noFill/>
        </p:spPr>
        <p:txBody>
          <a:bodyPr wrap="square" lIns="0" rIns="0" tIns="0" bIns="0" anchor="t">
            <a:noAutofit/>
          </a:bodyPr>
          <a:lstStyle/>
          <a:p>
            <a:pPr algn="l"/>
            <a:r>
              <a:rPr sz="1400" b="1" i="0">
                <a:solidFill>
                  <a:srgbClr val="3F7668"/>
                </a:solidFill>
                <a:latin typeface="Arial"/>
              </a:rPr>
              <a:t>04</a:t>
            </a:r>
          </a:p>
        </p:txBody>
      </p:sp>
      <p:sp>
        <p:nvSpPr>
          <p:cNvPr id="15" name="TextBox 14"/>
          <p:cNvSpPr txBox="1"/>
          <p:nvPr/>
        </p:nvSpPr>
        <p:spPr>
          <a:xfrm>
            <a:off x="6918807" y="4041648"/>
            <a:ext cx="4541367" cy="1664208"/>
          </a:xfrm>
          <a:prstGeom prst="rect">
            <a:avLst/>
          </a:prstGeom>
          <a:noFill/>
        </p:spPr>
        <p:txBody>
          <a:bodyPr wrap="square" lIns="0" rIns="0" tIns="0" bIns="0" anchor="t">
            <a:noAutofit/>
          </a:bodyPr>
          <a:lstStyle/>
          <a:p>
            <a:pPr algn="l">
              <a:spcAft>
                <a:spcPts val="600"/>
              </a:spcAft>
            </a:pPr>
            <a:r>
              <a:rPr sz="2000" b="1" i="0">
                <a:solidFill>
                  <a:srgbClr val="251F21"/>
                </a:solidFill>
                <a:latin typeface="Arial"/>
              </a:rPr>
              <a:t>The channels allow a career agent.</a:t>
            </a:r>
          </a:p>
          <a:p>
            <a:pPr algn="l">
              <a:lnSpc>
                <a:spcPct val="110000"/>
              </a:lnSpc>
            </a:pPr>
            <a:r>
              <a:rPr sz="1400" b="0" i="0">
                <a:solidFill>
                  <a:srgbClr val="585254"/>
                </a:solidFill>
                <a:latin typeface="Arial"/>
              </a:rPr>
              <a:t>WhatsApp permits general-purpose AI assistants only where Meta is legally required to; a career agent serving Tsenta's customers fits (our reading). Broader help starts where channel rules allow, with fresh consent.</a:t>
            </a:r>
          </a:p>
        </p:txBody>
      </p:sp>
      <p:sp>
        <p:nvSpPr>
          <p:cNvPr id="16" name="TextBox 15"/>
          <p:cNvSpPr txBox="1"/>
          <p:nvPr/>
        </p:nvSpPr>
        <p:spPr>
          <a:xfrm>
            <a:off x="731520" y="5870448"/>
            <a:ext cx="10728655" cy="365760"/>
          </a:xfrm>
          <a:prstGeom prst="rect">
            <a:avLst/>
          </a:prstGeom>
          <a:noFill/>
        </p:spPr>
        <p:txBody>
          <a:bodyPr wrap="square" lIns="0" rIns="0" tIns="0" bIns="0" anchor="t">
            <a:noAutofit/>
          </a:bodyPr>
          <a:lstStyle/>
          <a:p>
            <a:pPr algn="l"/>
            <a:r>
              <a:rPr sz="1400" b="1" i="0">
                <a:solidFill>
                  <a:srgbClr val="3F7668"/>
                </a:solidFill>
                <a:latin typeface="Arial"/>
              </a:rPr>
              <a:t>The job comes first on both paths. It is not a ceiling on the vision.</a:t>
            </a:r>
          </a:p>
        </p:txBody>
      </p:sp>
      <p:cxnSp>
        <p:nvCxnSpPr>
          <p:cNvPr id="17" name="Connector 16"/>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8"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Vision and roadmap. Only the job agent is live today.</a:t>
            </a:r>
            <a:r>
              <a:rPr sz="1000" b="0" i="0">
                <a:solidFill>
                  <a:srgbClr val="585254"/>
                </a:solidFill>
                <a:latin typeface="Arial"/>
              </a:rPr>
              <a:t>   Tsenta  ·  October 14, 2026</a:t>
            </a:r>
          </a:p>
        </p:txBody>
      </p:sp>
      <p:sp>
        <p:nvSpPr>
          <p:cNvPr id="19"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3</a:t>
            </a:r>
          </a:p>
        </p:txBody>
      </p:sp>
      <p:sp>
        <p:nvSpPr>
          <p:cNvPr id="20"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BLS; Menlo Ventures 2026; Meta; OpenAI; WhatsApp Business policy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The doors already exist.</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LIVE TODAY  ·  PUBLIC, CHECKED OCTOBER 13</a:t>
            </a:r>
          </a:p>
        </p:txBody>
      </p:sp>
      <p:cxnSp>
        <p:nvCxnSpPr>
          <p:cNvPr id="4" name="Connector 3"/>
          <p:cNvCxnSpPr/>
          <p:nvPr/>
        </p:nvCxnSpPr>
        <p:spPr>
          <a:xfrm>
            <a:off x="731520" y="2103120"/>
            <a:ext cx="658368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2249424"/>
            <a:ext cx="6583680" cy="1143000"/>
          </a:xfrm>
          <a:prstGeom prst="rect">
            <a:avLst/>
          </a:prstGeom>
          <a:noFill/>
        </p:spPr>
        <p:txBody>
          <a:bodyPr wrap="square" lIns="0" rIns="0" tIns="0" bIns="0" anchor="t">
            <a:noAutofit/>
          </a:bodyPr>
          <a:lstStyle/>
          <a:p>
            <a:pPr algn="l">
              <a:spcAft>
                <a:spcPts val="400"/>
              </a:spcAft>
            </a:pPr>
            <a:r>
              <a:rPr sz="1100" b="1" i="0" spc="100">
                <a:solidFill>
                  <a:srgbClr val="3F7668"/>
                </a:solidFill>
                <a:latin typeface="Arial"/>
              </a:rPr>
              <a:t>INSIDE YOUR AI</a:t>
            </a:r>
          </a:p>
          <a:p>
            <a:pPr algn="l">
              <a:spcAft>
                <a:spcPts val="400"/>
              </a:spcAft>
            </a:pPr>
            <a:r>
              <a:rPr sz="2200" b="1" i="0">
                <a:solidFill>
                  <a:srgbClr val="251F21"/>
                </a:solidFill>
                <a:latin typeface="Arial"/>
              </a:rPr>
              <a:t>An MCP server</a:t>
            </a:r>
          </a:p>
          <a:p>
            <a:pPr algn="l">
              <a:lnSpc>
                <a:spcPct val="110000"/>
              </a:lnSpc>
            </a:pPr>
            <a:r>
              <a:rPr sz="1400" b="0" i="0">
                <a:solidFill>
                  <a:srgbClr val="585254"/>
                </a:solidFill>
                <a:latin typeface="Arial"/>
              </a:rPr>
              <a:t>“Run your job search from inside your AI.” Listed for Claude Code, Claude Desktop and Web, Cursor and Codex CLI.</a:t>
            </a:r>
          </a:p>
        </p:txBody>
      </p:sp>
      <p:cxnSp>
        <p:nvCxnSpPr>
          <p:cNvPr id="6" name="Connector 5"/>
          <p:cNvCxnSpPr/>
          <p:nvPr/>
        </p:nvCxnSpPr>
        <p:spPr>
          <a:xfrm>
            <a:off x="731520" y="3447288"/>
            <a:ext cx="658368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3593592"/>
            <a:ext cx="6583680" cy="1143000"/>
          </a:xfrm>
          <a:prstGeom prst="rect">
            <a:avLst/>
          </a:prstGeom>
          <a:noFill/>
        </p:spPr>
        <p:txBody>
          <a:bodyPr wrap="square" lIns="0" rIns="0" tIns="0" bIns="0" anchor="t">
            <a:noAutofit/>
          </a:bodyPr>
          <a:lstStyle/>
          <a:p>
            <a:pPr algn="l">
              <a:spcAft>
                <a:spcPts val="400"/>
              </a:spcAft>
            </a:pPr>
            <a:r>
              <a:rPr sz="1100" b="1" i="0" spc="100">
                <a:solidFill>
                  <a:srgbClr val="3F7668"/>
                </a:solidFill>
                <a:latin typeface="Arial"/>
              </a:rPr>
              <a:t>TEXT</a:t>
            </a:r>
          </a:p>
          <a:p>
            <a:pPr algn="l">
              <a:spcAft>
                <a:spcPts val="400"/>
              </a:spcAft>
            </a:pPr>
            <a:r>
              <a:rPr sz="2200" b="1" i="0">
                <a:solidFill>
                  <a:srgbClr val="251F21"/>
                </a:solidFill>
                <a:latin typeface="Arial"/>
              </a:rPr>
              <a:t>iMessage and WhatsApp</a:t>
            </a:r>
          </a:p>
          <a:p>
            <a:pPr algn="l">
              <a:lnSpc>
                <a:spcPct val="110000"/>
              </a:lnSpc>
            </a:pPr>
            <a:r>
              <a:rPr sz="1400" b="0" i="0">
                <a:solidFill>
                  <a:srgbClr val="585254"/>
                </a:solidFill>
                <a:latin typeface="Arial"/>
              </a:rPr>
              <a:t>“Text Tsenta the roles you want. Reply yes to a match; the application happens in the background and you get the receipt.”</a:t>
            </a:r>
          </a:p>
        </p:txBody>
      </p:sp>
      <p:cxnSp>
        <p:nvCxnSpPr>
          <p:cNvPr id="8" name="Connector 7"/>
          <p:cNvCxnSpPr/>
          <p:nvPr/>
        </p:nvCxnSpPr>
        <p:spPr>
          <a:xfrm>
            <a:off x="731520" y="4791456"/>
            <a:ext cx="658368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4937760"/>
            <a:ext cx="6583680" cy="1143000"/>
          </a:xfrm>
          <a:prstGeom prst="rect">
            <a:avLst/>
          </a:prstGeom>
          <a:noFill/>
        </p:spPr>
        <p:txBody>
          <a:bodyPr wrap="square" lIns="0" rIns="0" tIns="0" bIns="0" anchor="t">
            <a:noAutofit/>
          </a:bodyPr>
          <a:lstStyle/>
          <a:p>
            <a:pPr algn="l">
              <a:spcAft>
                <a:spcPts val="400"/>
              </a:spcAft>
            </a:pPr>
            <a:r>
              <a:rPr sz="1100" b="1" i="0" spc="100">
                <a:solidFill>
                  <a:srgbClr val="3F7668"/>
                </a:solidFill>
                <a:latin typeface="Arial"/>
              </a:rPr>
              <a:t>EVERYWHERE ELSE</a:t>
            </a:r>
          </a:p>
          <a:p>
            <a:pPr algn="l">
              <a:spcAft>
                <a:spcPts val="400"/>
              </a:spcAft>
            </a:pPr>
            <a:r>
              <a:rPr sz="2200" b="1" i="0">
                <a:solidFill>
                  <a:srgbClr val="251F21"/>
                </a:solidFill>
                <a:latin typeface="Arial"/>
              </a:rPr>
              <a:t>Web, iOS, Android, Chrome, CLI</a:t>
            </a:r>
          </a:p>
          <a:p>
            <a:pPr algn="l">
              <a:lnSpc>
                <a:spcPct val="110000"/>
              </a:lnSpc>
            </a:pPr>
            <a:r>
              <a:rPr sz="1400" b="0" i="0">
                <a:solidFill>
                  <a:srgbClr val="585254"/>
                </a:solidFill>
                <a:latin typeface="Arial"/>
              </a:rPr>
              <a:t>Applies with a tailored resume the moment a fitting role goes up.</a:t>
            </a:r>
          </a:p>
        </p:txBody>
      </p:sp>
      <p:sp>
        <p:nvSpPr>
          <p:cNvPr id="10" name="Proposed brain panel"/>
          <p:cNvSpPr/>
          <p:nvPr/>
        </p:nvSpPr>
        <p:spPr>
          <a:xfrm>
            <a:off x="7818120" y="2103120"/>
            <a:ext cx="3639312" cy="3968496"/>
          </a:xfrm>
          <a:prstGeom prst="roundRect">
            <a:avLst>
              <a:gd name="adj" fmla="val 4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292608" rIns="292608" tIns="274320" bIns="109728" wrap="square">
            <a:noAutofit/>
          </a:bodyPr>
          <a:lstStyle/>
          <a:p>
            <a:pPr algn="l">
              <a:spcAft>
                <a:spcPts val="400"/>
              </a:spcAft>
            </a:pPr>
            <a:r>
              <a:rPr sz="1000" b="1" i="0" spc="100">
                <a:solidFill>
                  <a:srgbClr val="3F7668"/>
                </a:solidFill>
                <a:latin typeface="Arial"/>
              </a:rPr>
              <a:t>PROPOSED</a:t>
            </a:r>
          </a:p>
          <a:p>
            <a:pPr algn="l">
              <a:lnSpc>
                <a:spcPct val="105000"/>
              </a:lnSpc>
              <a:spcAft>
                <a:spcPts val="1200"/>
              </a:spcAft>
            </a:pPr>
            <a:r>
              <a:rPr sz="2000" b="1" i="0">
                <a:solidFill>
                  <a:srgbClr val="251F21"/>
                </a:solidFill>
                <a:latin typeface="Arial"/>
              </a:rPr>
              <a:t>One brain behind every door.</a:t>
            </a:r>
          </a:p>
          <a:p>
            <a:pPr algn="l">
              <a:spcAft>
                <a:spcPts val="800"/>
              </a:spcAft>
            </a:pPr>
            <a:r>
              <a:rPr sz="1500" b="0" i="0">
                <a:solidFill>
                  <a:srgbClr val="585254"/>
                </a:solidFill>
                <a:latin typeface="Arial"/>
              </a:rPr>
              <a:t>One record of your goals and of what happened.</a:t>
            </a:r>
          </a:p>
          <a:p>
            <a:pPr algn="l">
              <a:spcAft>
                <a:spcPts val="800"/>
              </a:spcAft>
            </a:pPr>
            <a:r>
              <a:rPr sz="1500" b="0" i="0">
                <a:solidFill>
                  <a:srgbClr val="585254"/>
                </a:solidFill>
                <a:latin typeface="Arial"/>
              </a:rPr>
              <a:t>An agent that speaks first when something changes.</a:t>
            </a:r>
          </a:p>
          <a:p>
            <a:pPr algn="l">
              <a:spcAft>
                <a:spcPts val="1800"/>
              </a:spcAft>
            </a:pPr>
            <a:r>
              <a:rPr sz="1500" b="0" i="0">
                <a:solidFill>
                  <a:srgbClr val="585254"/>
                </a:solidFill>
                <a:latin typeface="Arial"/>
              </a:rPr>
              <a:t>A yes that means the same thing on every door.</a:t>
            </a:r>
          </a:p>
          <a:p>
            <a:pPr algn="l">
              <a:lnSpc>
                <a:spcPct val="108000"/>
              </a:lnSpc>
            </a:pPr>
            <a:r>
              <a:rPr sz="1150" b="0" i="0">
                <a:solidFill>
                  <a:srgbClr val="3F7668"/>
                </a:solidFill>
                <a:latin typeface="Arial"/>
              </a:rPr>
              <a:t>Public docs do not show this today; what exists internally is not known to us. Tsenta's MCP docs: “Approval behavior depends on your client.”</a:t>
            </a:r>
          </a:p>
        </p:txBody>
      </p:sp>
      <p:cxnSp>
        <p:nvCxnSpPr>
          <p:cNvPr id="11" name="Connector 10"/>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2"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13"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4</a:t>
            </a:r>
          </a:p>
        </p:txBody>
      </p:sp>
      <p:sp>
        <p:nvSpPr>
          <p:cNvPr id="14"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tsenta.com, tsenta.com/messaging, tsenta.com/mcp, docs.tsenta.com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A real agent, calling a job core.</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REAL AGENT TEST  ·  AN OUTSIDE AGENT  ·  DUMMY RECORDS  ·  FINAL RUN: A QUALIFIED PASS</a:t>
            </a:r>
          </a:p>
        </p:txBody>
      </p:sp>
      <p:sp>
        <p:nvSpPr>
          <p:cNvPr id="4" name="TextBox 3"/>
          <p:cNvSpPr txBox="1"/>
          <p:nvPr/>
        </p:nvSpPr>
        <p:spPr>
          <a:xfrm>
            <a:off x="731520" y="1783080"/>
            <a:ext cx="502920" cy="457200"/>
          </a:xfrm>
          <a:prstGeom prst="rect">
            <a:avLst/>
          </a:prstGeom>
          <a:noFill/>
        </p:spPr>
        <p:txBody>
          <a:bodyPr wrap="square" lIns="0" rIns="0" tIns="0" bIns="0" anchor="t">
            <a:noAutofit/>
          </a:bodyPr>
          <a:lstStyle/>
          <a:p>
            <a:pPr algn="l"/>
            <a:r>
              <a:rPr sz="2400" b="1" i="0">
                <a:solidFill>
                  <a:srgbClr val="73A89A"/>
                </a:solidFill>
                <a:latin typeface="Arial"/>
              </a:rPr>
              <a:t>1</a:t>
            </a:r>
          </a:p>
        </p:txBody>
      </p:sp>
      <p:sp>
        <p:nvSpPr>
          <p:cNvPr id="5" name="TextBox 4"/>
          <p:cNvSpPr txBox="1"/>
          <p:nvPr/>
        </p:nvSpPr>
        <p:spPr>
          <a:xfrm>
            <a:off x="1280160" y="1801368"/>
            <a:ext cx="6035040" cy="566928"/>
          </a:xfrm>
          <a:prstGeom prst="rect">
            <a:avLst/>
          </a:prstGeom>
          <a:noFill/>
        </p:spPr>
        <p:txBody>
          <a:bodyPr wrap="square" lIns="0" rIns="0" tIns="0" bIns="0" anchor="t">
            <a:noAutofit/>
          </a:bodyPr>
          <a:lstStyle/>
          <a:p>
            <a:pPr algn="l">
              <a:spcAft>
                <a:spcPts val="100"/>
              </a:spcAft>
            </a:pPr>
            <a:r>
              <a:rPr sz="1700" b="1" i="0">
                <a:solidFill>
                  <a:srgbClr val="251F21"/>
                </a:solidFill>
                <a:latin typeface="Arial"/>
              </a:rPr>
              <a:t>Answers from the record</a:t>
            </a:r>
          </a:p>
          <a:p>
            <a:pPr algn="l">
              <a:lnSpc>
                <a:spcPct val="104000"/>
              </a:lnSpc>
            </a:pPr>
            <a:r>
              <a:rPr sz="1250" b="0" i="0">
                <a:solidFill>
                  <a:srgbClr val="585254"/>
                </a:solidFill>
                <a:latin typeface="Arial"/>
              </a:rPr>
              <a:t>Status, rejections, holds, what is due. Final run: no false record fact.</a:t>
            </a:r>
          </a:p>
        </p:txBody>
      </p:sp>
      <p:sp>
        <p:nvSpPr>
          <p:cNvPr id="6" name="TextBox 5"/>
          <p:cNvSpPr txBox="1"/>
          <p:nvPr/>
        </p:nvSpPr>
        <p:spPr>
          <a:xfrm>
            <a:off x="731520" y="2459736"/>
            <a:ext cx="502920" cy="457200"/>
          </a:xfrm>
          <a:prstGeom prst="rect">
            <a:avLst/>
          </a:prstGeom>
          <a:noFill/>
        </p:spPr>
        <p:txBody>
          <a:bodyPr wrap="square" lIns="0" rIns="0" tIns="0" bIns="0" anchor="t">
            <a:noAutofit/>
          </a:bodyPr>
          <a:lstStyle/>
          <a:p>
            <a:pPr algn="l"/>
            <a:r>
              <a:rPr sz="2400" b="1" i="0">
                <a:solidFill>
                  <a:srgbClr val="73A89A"/>
                </a:solidFill>
                <a:latin typeface="Arial"/>
              </a:rPr>
              <a:t>2</a:t>
            </a:r>
          </a:p>
        </p:txBody>
      </p:sp>
      <p:sp>
        <p:nvSpPr>
          <p:cNvPr id="7" name="TextBox 6"/>
          <p:cNvSpPr txBox="1"/>
          <p:nvPr/>
        </p:nvSpPr>
        <p:spPr>
          <a:xfrm>
            <a:off x="1280160" y="2478024"/>
            <a:ext cx="6035040" cy="566928"/>
          </a:xfrm>
          <a:prstGeom prst="rect">
            <a:avLst/>
          </a:prstGeom>
          <a:noFill/>
        </p:spPr>
        <p:txBody>
          <a:bodyPr wrap="square" lIns="0" rIns="0" tIns="0" bIns="0" anchor="t">
            <a:noAutofit/>
          </a:bodyPr>
          <a:lstStyle/>
          <a:p>
            <a:pPr algn="l">
              <a:spcAft>
                <a:spcPts val="100"/>
              </a:spcAft>
            </a:pPr>
            <a:r>
              <a:rPr sz="1700" b="1" i="0">
                <a:solidFill>
                  <a:srgbClr val="251F21"/>
                </a:solidFill>
                <a:latin typeface="Arial"/>
              </a:rPr>
              <a:t>Two negative controls</a:t>
            </a:r>
          </a:p>
          <a:p>
            <a:pPr algn="l">
              <a:lnSpc>
                <a:spcPct val="104000"/>
              </a:lnSpc>
            </a:pPr>
            <a:r>
              <a:rPr sz="1250" b="0" i="0">
                <a:solidFill>
                  <a:srgbClr val="585254"/>
                </a:solidFill>
                <a:latin typeface="Arial"/>
              </a:rPr>
              <a:t>A company not in the data, an unset salary floor: nothing invented (7, 8).</a:t>
            </a:r>
          </a:p>
        </p:txBody>
      </p:sp>
      <p:sp>
        <p:nvSpPr>
          <p:cNvPr id="8" name="TextBox 7"/>
          <p:cNvSpPr txBox="1"/>
          <p:nvPr/>
        </p:nvSpPr>
        <p:spPr>
          <a:xfrm>
            <a:off x="731520" y="3136392"/>
            <a:ext cx="502920" cy="457200"/>
          </a:xfrm>
          <a:prstGeom prst="rect">
            <a:avLst/>
          </a:prstGeom>
          <a:noFill/>
        </p:spPr>
        <p:txBody>
          <a:bodyPr wrap="square" lIns="0" rIns="0" tIns="0" bIns="0" anchor="t">
            <a:noAutofit/>
          </a:bodyPr>
          <a:lstStyle/>
          <a:p>
            <a:pPr algn="l"/>
            <a:r>
              <a:rPr sz="2400" b="1" i="0">
                <a:solidFill>
                  <a:srgbClr val="73A89A"/>
                </a:solidFill>
                <a:latin typeface="Arial"/>
              </a:rPr>
              <a:t>3</a:t>
            </a:r>
          </a:p>
        </p:txBody>
      </p:sp>
      <p:sp>
        <p:nvSpPr>
          <p:cNvPr id="9" name="TextBox 8"/>
          <p:cNvSpPr txBox="1"/>
          <p:nvPr/>
        </p:nvSpPr>
        <p:spPr>
          <a:xfrm>
            <a:off x="1280160" y="3154680"/>
            <a:ext cx="6035040" cy="566928"/>
          </a:xfrm>
          <a:prstGeom prst="rect">
            <a:avLst/>
          </a:prstGeom>
          <a:noFill/>
        </p:spPr>
        <p:txBody>
          <a:bodyPr wrap="square" lIns="0" rIns="0" tIns="0" bIns="0" anchor="t">
            <a:noAutofit/>
          </a:bodyPr>
          <a:lstStyle/>
          <a:p>
            <a:pPr algn="l">
              <a:spcAft>
                <a:spcPts val="100"/>
              </a:spcAft>
            </a:pPr>
            <a:r>
              <a:rPr sz="1700" b="1" i="0">
                <a:solidFill>
                  <a:srgbClr val="251F21"/>
                </a:solidFill>
                <a:latin typeface="Arial"/>
              </a:rPr>
              <a:t>Out of scope, declined</a:t>
            </a:r>
          </a:p>
          <a:p>
            <a:pPr algn="l">
              <a:lnSpc>
                <a:spcPct val="104000"/>
              </a:lnSpc>
            </a:pPr>
            <a:r>
              <a:rPr sz="1250" b="0" i="0">
                <a:solidFill>
                  <a:srgbClr val="585254"/>
                </a:solidFill>
                <a:latin typeface="Arial"/>
              </a:rPr>
              <a:t>Declined a flight booking (9). Its check was reworded after an earlier miss.</a:t>
            </a:r>
          </a:p>
        </p:txBody>
      </p:sp>
      <p:sp>
        <p:nvSpPr>
          <p:cNvPr id="10" name="TextBox 9"/>
          <p:cNvSpPr txBox="1"/>
          <p:nvPr/>
        </p:nvSpPr>
        <p:spPr>
          <a:xfrm>
            <a:off x="731520" y="3813048"/>
            <a:ext cx="502920" cy="457200"/>
          </a:xfrm>
          <a:prstGeom prst="rect">
            <a:avLst/>
          </a:prstGeom>
          <a:noFill/>
        </p:spPr>
        <p:txBody>
          <a:bodyPr wrap="square" lIns="0" rIns="0" tIns="0" bIns="0" anchor="t">
            <a:noAutofit/>
          </a:bodyPr>
          <a:lstStyle/>
          <a:p>
            <a:pPr algn="l"/>
            <a:r>
              <a:rPr sz="2400" b="1" i="0">
                <a:solidFill>
                  <a:srgbClr val="73A89A"/>
                </a:solidFill>
                <a:latin typeface="Arial"/>
              </a:rPr>
              <a:t>4</a:t>
            </a:r>
          </a:p>
        </p:txBody>
      </p:sp>
      <p:sp>
        <p:nvSpPr>
          <p:cNvPr id="11" name="TextBox 10"/>
          <p:cNvSpPr txBox="1"/>
          <p:nvPr/>
        </p:nvSpPr>
        <p:spPr>
          <a:xfrm>
            <a:off x="1280160" y="3831336"/>
            <a:ext cx="6035040" cy="566928"/>
          </a:xfrm>
          <a:prstGeom prst="rect">
            <a:avLst/>
          </a:prstGeom>
          <a:noFill/>
        </p:spPr>
        <p:txBody>
          <a:bodyPr wrap="square" lIns="0" rIns="0" tIns="0" bIns="0" anchor="t">
            <a:noAutofit/>
          </a:bodyPr>
          <a:lstStyle/>
          <a:p>
            <a:pPr algn="l">
              <a:spcAft>
                <a:spcPts val="100"/>
              </a:spcAft>
            </a:pPr>
            <a:r>
              <a:rPr sz="1700" b="1" i="0">
                <a:solidFill>
                  <a:srgbClr val="251F21"/>
                </a:solidFill>
                <a:latin typeface="Arial"/>
              </a:rPr>
              <a:t>Stale yes, fresh preview, one submit</a:t>
            </a:r>
          </a:p>
          <a:p>
            <a:pPr algn="l">
              <a:lnSpc>
                <a:spcPct val="104000"/>
              </a:lnSpc>
            </a:pPr>
            <a:r>
              <a:rPr sz="1250" b="0" i="0">
                <a:solidFill>
                  <a:srgbClr val="585254"/>
                </a:solidFill>
                <a:latin typeface="Arial"/>
              </a:rPr>
              <a:t>A stale yes did nothing; a fresh preview, a yes, one sandbox submit (13 to 15).</a:t>
            </a:r>
          </a:p>
        </p:txBody>
      </p:sp>
      <p:sp>
        <p:nvSpPr>
          <p:cNvPr id="12" name="TextBox 11"/>
          <p:cNvSpPr txBox="1"/>
          <p:nvPr/>
        </p:nvSpPr>
        <p:spPr>
          <a:xfrm>
            <a:off x="731520" y="4489704"/>
            <a:ext cx="502920" cy="457200"/>
          </a:xfrm>
          <a:prstGeom prst="rect">
            <a:avLst/>
          </a:prstGeom>
          <a:noFill/>
        </p:spPr>
        <p:txBody>
          <a:bodyPr wrap="square" lIns="0" rIns="0" tIns="0" bIns="0" anchor="t">
            <a:noAutofit/>
          </a:bodyPr>
          <a:lstStyle/>
          <a:p>
            <a:pPr algn="l"/>
            <a:r>
              <a:rPr sz="2400" b="1" i="0">
                <a:solidFill>
                  <a:srgbClr val="73A89A"/>
                </a:solidFill>
                <a:latin typeface="Arial"/>
              </a:rPr>
              <a:t>5</a:t>
            </a:r>
          </a:p>
        </p:txBody>
      </p:sp>
      <p:sp>
        <p:nvSpPr>
          <p:cNvPr id="13" name="TextBox 12"/>
          <p:cNvSpPr txBox="1"/>
          <p:nvPr/>
        </p:nvSpPr>
        <p:spPr>
          <a:xfrm>
            <a:off x="1280160" y="4507992"/>
            <a:ext cx="6035040" cy="566928"/>
          </a:xfrm>
          <a:prstGeom prst="rect">
            <a:avLst/>
          </a:prstGeom>
          <a:noFill/>
        </p:spPr>
        <p:txBody>
          <a:bodyPr wrap="square" lIns="0" rIns="0" tIns="0" bIns="0" anchor="t">
            <a:noAutofit/>
          </a:bodyPr>
          <a:lstStyle/>
          <a:p>
            <a:pPr algn="l">
              <a:spcAft>
                <a:spcPts val="100"/>
              </a:spcAft>
            </a:pPr>
            <a:r>
              <a:rPr sz="1700" b="1" i="0">
                <a:solidFill>
                  <a:srgbClr val="251F21"/>
                </a:solidFill>
                <a:latin typeface="Arial"/>
              </a:rPr>
              <a:t>Caveats in the final run</a:t>
            </a:r>
          </a:p>
          <a:p>
            <a:pPr algn="l">
              <a:lnSpc>
                <a:spcPct val="104000"/>
              </a:lnSpc>
            </a:pPr>
            <a:r>
              <a:rPr sz="1250" b="0" i="0">
                <a:solidFill>
                  <a:srgbClr val="585254"/>
                </a:solidFill>
                <a:latin typeface="Arial"/>
              </a:rPr>
              <a:t>Suggested a salary reply to an injection sender (hedged); a stale resume lookup.</a:t>
            </a:r>
          </a:p>
        </p:txBody>
      </p:sp>
      <p:sp>
        <p:nvSpPr>
          <p:cNvPr id="14" name="TextBox 13"/>
          <p:cNvSpPr txBox="1"/>
          <p:nvPr/>
        </p:nvSpPr>
        <p:spPr>
          <a:xfrm>
            <a:off x="731520" y="5166360"/>
            <a:ext cx="502920" cy="457200"/>
          </a:xfrm>
          <a:prstGeom prst="rect">
            <a:avLst/>
          </a:prstGeom>
          <a:noFill/>
        </p:spPr>
        <p:txBody>
          <a:bodyPr wrap="square" lIns="0" rIns="0" tIns="0" bIns="0" anchor="t">
            <a:noAutofit/>
          </a:bodyPr>
          <a:lstStyle/>
          <a:p>
            <a:pPr algn="l"/>
            <a:r>
              <a:rPr sz="2400" b="1" i="0">
                <a:solidFill>
                  <a:srgbClr val="73A89A"/>
                </a:solidFill>
                <a:latin typeface="Arial"/>
              </a:rPr>
              <a:t>6</a:t>
            </a:r>
          </a:p>
        </p:txBody>
      </p:sp>
      <p:sp>
        <p:nvSpPr>
          <p:cNvPr id="15" name="TextBox 14"/>
          <p:cNvSpPr txBox="1"/>
          <p:nvPr/>
        </p:nvSpPr>
        <p:spPr>
          <a:xfrm>
            <a:off x="1280160" y="5184648"/>
            <a:ext cx="6035040" cy="566928"/>
          </a:xfrm>
          <a:prstGeom prst="rect">
            <a:avLst/>
          </a:prstGeom>
          <a:noFill/>
        </p:spPr>
        <p:txBody>
          <a:bodyPr wrap="square" lIns="0" rIns="0" tIns="0" bIns="0" anchor="t">
            <a:noAutofit/>
          </a:bodyPr>
          <a:lstStyle/>
          <a:p>
            <a:pPr algn="l">
              <a:spcAft>
                <a:spcPts val="100"/>
              </a:spcAft>
            </a:pPr>
            <a:r>
              <a:rPr sz="1700" b="1" i="0">
                <a:solidFill>
                  <a:srgbClr val="251F21"/>
                </a:solidFill>
                <a:latin typeface="Arial"/>
              </a:rPr>
              <a:t>Not run live yet</a:t>
            </a:r>
          </a:p>
          <a:p>
            <a:pPr algn="l">
              <a:lnSpc>
                <a:spcPct val="104000"/>
              </a:lnSpc>
            </a:pPr>
            <a:r>
              <a:rPr sz="1250" b="0" i="0">
                <a:solidFill>
                  <a:srgbClr val="585254"/>
                </a:solidFill>
                <a:latin typeface="Arial"/>
              </a:rPr>
              <a:t>The stress and security sets. A restart was checked separately (run 5).</a:t>
            </a:r>
          </a:p>
        </p:txBody>
      </p:sp>
      <p:sp>
        <p:nvSpPr>
          <p:cNvPr id="16" name="What is real"/>
          <p:cNvSpPr/>
          <p:nvPr/>
        </p:nvSpPr>
        <p:spPr>
          <a:xfrm>
            <a:off x="7406640" y="1783080"/>
            <a:ext cx="4053535" cy="3840480"/>
          </a:xfrm>
          <a:prstGeom prst="roundRect">
            <a:avLst>
              <a:gd name="adj" fmla="val 5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19456" bIns="109728" wrap="square">
            <a:noAutofit/>
          </a:bodyPr>
          <a:lstStyle/>
          <a:p>
            <a:pPr algn="l">
              <a:spcAft>
                <a:spcPts val="1000"/>
              </a:spcAft>
            </a:pPr>
            <a:r>
              <a:rPr sz="1050" b="1" i="0" spc="100">
                <a:solidFill>
                  <a:srgbClr val="3F7668"/>
                </a:solidFill>
                <a:latin typeface="Arial"/>
              </a:rPr>
              <a:t>WHAT IS REAL, WHAT IS NOT</a:t>
            </a:r>
          </a:p>
          <a:p>
            <a:pPr algn="l">
              <a:lnSpc>
                <a:spcPct val="108000"/>
              </a:lnSpc>
              <a:spcAft>
                <a:spcPts val="800"/>
              </a:spcAft>
            </a:pPr>
            <a:r>
              <a:rPr sz="1400" b="1" i="0">
                <a:solidFill>
                  <a:srgbClr val="251F21"/>
                </a:solidFill>
                <a:latin typeface="Arial"/>
              </a:rPr>
              <a:t>Real: </a:t>
            </a:r>
            <a:r>
              <a:rPr sz="1400" b="0" i="0">
                <a:solidFill>
                  <a:srgbClr val="585254"/>
                </a:solidFill>
                <a:latin typeface="Arial"/>
              </a:rPr>
              <a:t>an OpenClaw agent and its loop, on Claude Haiku 5.5.</a:t>
            </a:r>
          </a:p>
          <a:p>
            <a:pPr algn="l">
              <a:lnSpc>
                <a:spcPct val="108000"/>
              </a:lnSpc>
              <a:spcAft>
                <a:spcPts val="800"/>
              </a:spcAft>
            </a:pPr>
            <a:r>
              <a:rPr sz="1400" b="1" i="0">
                <a:solidFill>
                  <a:srgbClr val="251F21"/>
                </a:solidFill>
                <a:latin typeface="Arial"/>
              </a:rPr>
              <a:t>Core: </a:t>
            </a:r>
            <a:r>
              <a:rPr sz="1400" b="0" i="0">
                <a:solidFill>
                  <a:srgbClr val="585254"/>
                </a:solidFill>
                <a:latin typeface="Arial"/>
              </a:rPr>
              <a:t>a prototype job core. It holds the record and the yes; the agent calls its tools.</a:t>
            </a:r>
          </a:p>
          <a:p>
            <a:pPr algn="l">
              <a:lnSpc>
                <a:spcPct val="108000"/>
              </a:lnSpc>
              <a:spcAft>
                <a:spcPts val="800"/>
              </a:spcAft>
            </a:pPr>
            <a:r>
              <a:rPr sz="1400" b="1" i="0">
                <a:solidFill>
                  <a:srgbClr val="251F21"/>
                </a:solidFill>
                <a:latin typeface="Arial"/>
              </a:rPr>
              <a:t>Dummy: </a:t>
            </a:r>
            <a:r>
              <a:rPr sz="1400" b="0" i="0">
                <a:solidFill>
                  <a:srgbClr val="585254"/>
                </a:solidFill>
                <a:latin typeface="Arial"/>
              </a:rPr>
              <a:t>a fictional persona; every record, company and job.</a:t>
            </a:r>
          </a:p>
          <a:p>
            <a:pPr algn="l">
              <a:lnSpc>
                <a:spcPct val="108000"/>
              </a:lnSpc>
              <a:spcAft>
                <a:spcPts val="800"/>
              </a:spcAft>
            </a:pPr>
            <a:r>
              <a:rPr sz="1400" b="1" i="0">
                <a:solidFill>
                  <a:srgbClr val="251F21"/>
                </a:solidFill>
                <a:latin typeface="Arial"/>
              </a:rPr>
              <a:t>Effects: </a:t>
            </a:r>
            <a:r>
              <a:rPr sz="1400" b="0" i="0">
                <a:solidFill>
                  <a:srgbClr val="585254"/>
                </a:solidFill>
                <a:latin typeface="Arial"/>
              </a:rPr>
              <a:t>sandbox only. Final run: 1 submit, 1 local outbox email.</a:t>
            </a:r>
          </a:p>
          <a:p>
            <a:pPr algn="l">
              <a:lnSpc>
                <a:spcPct val="108000"/>
              </a:lnSpc>
            </a:pPr>
            <a:r>
              <a:rPr sz="1400" b="1" i="0">
                <a:solidFill>
                  <a:srgbClr val="251F21"/>
                </a:solidFill>
                <a:latin typeface="Arial"/>
              </a:rPr>
              <a:t>Result: </a:t>
            </a:r>
            <a:r>
              <a:rPr sz="1400" b="0" i="0">
                <a:solidFill>
                  <a:srgbClr val="585254"/>
                </a:solidFill>
                <a:latin typeface="Arial"/>
              </a:rPr>
              <a:t>24 of 24 machine checks, no false record fact, with the caveats at left.</a:t>
            </a:r>
          </a:p>
        </p:txBody>
      </p:sp>
      <p:sp>
        <p:nvSpPr>
          <p:cNvPr id="17" name="TextBox 16"/>
          <p:cNvSpPr txBox="1"/>
          <p:nvPr/>
        </p:nvSpPr>
        <p:spPr>
          <a:xfrm>
            <a:off x="731520" y="5852160"/>
            <a:ext cx="10728655" cy="365760"/>
          </a:xfrm>
          <a:prstGeom prst="rect">
            <a:avLst/>
          </a:prstGeom>
          <a:noFill/>
        </p:spPr>
        <p:txBody>
          <a:bodyPr wrap="square" lIns="0" rIns="0" tIns="0" bIns="0" anchor="t">
            <a:noAutofit/>
          </a:bodyPr>
          <a:lstStyle/>
          <a:p>
            <a:pPr algn="l"/>
            <a:r>
              <a:rPr sz="1400" b="1" i="0">
                <a:solidFill>
                  <a:srgbClr val="3F7668"/>
                </a:solidFill>
                <a:latin typeface="Arial"/>
              </a:rPr>
              <a:t>A real agent on dummy records, not Tsenta's production system. Its core is offline now.</a:t>
            </a:r>
          </a:p>
        </p:txBody>
      </p:sp>
      <p:cxnSp>
        <p:nvCxnSpPr>
          <p:cNvPr id="18" name="Connector 17"/>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9"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Real agent on dummy records. Full demo gate not passed.</a:t>
            </a:r>
            <a:r>
              <a:rPr sz="1000" b="0" i="0">
                <a:solidFill>
                  <a:srgbClr val="585254"/>
                </a:solidFill>
                <a:latin typeface="Arial"/>
              </a:rPr>
              <a:t>   Tsenta  ·  October 14, 2026</a:t>
            </a:r>
          </a:p>
        </p:txBody>
      </p:sp>
      <p:sp>
        <p:nvSpPr>
          <p:cNvPr id="20"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5</a:t>
            </a:r>
          </a:p>
        </p:txBody>
      </p:sp>
      <p:sp>
        <p:nvSpPr>
          <p:cNvPr id="21"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Test runs, October 13 and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The earlier prototype, on made-up data.</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SYNTHETIC CONCEPT  ·  EARLIER PROTOTYPE ON A LAPTOP</a:t>
            </a:r>
          </a:p>
        </p:txBody>
      </p:sp>
      <p:pic>
        <p:nvPicPr>
          <p:cNvPr id="4" name="Prototype screenshot 07ad8fb-phone-status.png" descr="07ad8fb-phone-status.png"/>
          <p:cNvPicPr>
            <a:picLocks noChangeAspect="1"/>
          </p:cNvPicPr>
          <p:nvPr/>
        </p:nvPicPr>
        <p:blipFill>
          <a:blip r:embed="rId2"/>
          <a:stretch>
            <a:fillRect/>
          </a:stretch>
        </p:blipFill>
        <p:spPr>
          <a:xfrm>
            <a:off x="731520" y="2103120"/>
            <a:ext cx="1649005" cy="3566160"/>
          </a:xfrm>
          <a:prstGeom prst="rect">
            <a:avLst/>
          </a:prstGeom>
          <a:ln w="9525">
            <a:solidFill>
              <a:srgbClr val="E4E0DD"/>
            </a:solidFill>
          </a:ln>
        </p:spPr>
      </p:pic>
      <p:sp>
        <p:nvSpPr>
          <p:cNvPr id="5" name="TextBox 4"/>
          <p:cNvSpPr txBox="1"/>
          <p:nvPr/>
        </p:nvSpPr>
        <p:spPr>
          <a:xfrm>
            <a:off x="731520" y="5733288"/>
            <a:ext cx="1831885" cy="502920"/>
          </a:xfrm>
          <a:prstGeom prst="rect">
            <a:avLst/>
          </a:prstGeom>
          <a:noFill/>
        </p:spPr>
        <p:txBody>
          <a:bodyPr wrap="square" lIns="0" rIns="0" tIns="0" bIns="0" anchor="t">
            <a:noAutofit/>
          </a:bodyPr>
          <a:lstStyle/>
          <a:p>
            <a:pPr algn="l">
              <a:lnSpc>
                <a:spcPct val="105000"/>
              </a:lnSpc>
            </a:pPr>
            <a:r>
              <a:rPr sz="1050" b="0" i="0">
                <a:solidFill>
                  <a:srgbClr val="585254"/>
                </a:solidFill>
                <a:latin typeface="Arial"/>
              </a:rPr>
              <a:t>Status from the record. Unknown is not zero, and it says why.</a:t>
            </a:r>
          </a:p>
        </p:txBody>
      </p:sp>
      <p:pic>
        <p:nvPicPr>
          <p:cNvPr id="6" name="Prototype screenshot 07ad8fb-phone-draft.png" descr="07ad8fb-phone-draft.png"/>
          <p:cNvPicPr>
            <a:picLocks noChangeAspect="1"/>
          </p:cNvPicPr>
          <p:nvPr/>
        </p:nvPicPr>
        <p:blipFill>
          <a:blip r:embed="rId3"/>
          <a:stretch>
            <a:fillRect/>
          </a:stretch>
        </p:blipFill>
        <p:spPr>
          <a:xfrm>
            <a:off x="2764573" y="2103120"/>
            <a:ext cx="1649005" cy="3566160"/>
          </a:xfrm>
          <a:prstGeom prst="rect">
            <a:avLst/>
          </a:prstGeom>
          <a:ln w="9525">
            <a:solidFill>
              <a:srgbClr val="E4E0DD"/>
            </a:solidFill>
          </a:ln>
        </p:spPr>
      </p:pic>
      <p:sp>
        <p:nvSpPr>
          <p:cNvPr id="7" name="TextBox 6"/>
          <p:cNvSpPr txBox="1"/>
          <p:nvPr/>
        </p:nvSpPr>
        <p:spPr>
          <a:xfrm>
            <a:off x="2764573" y="5733288"/>
            <a:ext cx="1831885" cy="502920"/>
          </a:xfrm>
          <a:prstGeom prst="rect">
            <a:avLst/>
          </a:prstGeom>
          <a:noFill/>
        </p:spPr>
        <p:txBody>
          <a:bodyPr wrap="square" lIns="0" rIns="0" tIns="0" bIns="0" anchor="t">
            <a:noAutofit/>
          </a:bodyPr>
          <a:lstStyle/>
          <a:p>
            <a:pPr algn="l">
              <a:lnSpc>
                <a:spcPct val="105000"/>
              </a:lnSpc>
            </a:pPr>
            <a:r>
              <a:rPr sz="1050" b="0" i="0">
                <a:solidFill>
                  <a:srgbClr val="585254"/>
                </a:solidFill>
                <a:latin typeface="Arial"/>
              </a:rPr>
              <a:t>A draft, then a yes bound to one version and one recipient.</a:t>
            </a:r>
          </a:p>
        </p:txBody>
      </p:sp>
      <p:cxnSp>
        <p:nvCxnSpPr>
          <p:cNvPr id="8" name="Connector 7"/>
          <p:cNvCxnSpPr/>
          <p:nvPr/>
        </p:nvCxnSpPr>
        <p:spPr>
          <a:xfrm>
            <a:off x="5440680" y="2103120"/>
            <a:ext cx="6016752"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40680" y="2240280"/>
            <a:ext cx="6016752" cy="868680"/>
          </a:xfrm>
          <a:prstGeom prst="rect">
            <a:avLst/>
          </a:prstGeom>
          <a:noFill/>
        </p:spPr>
        <p:txBody>
          <a:bodyPr wrap="square" lIns="0" rIns="0" tIns="0" bIns="0" anchor="t">
            <a:noAutofit/>
          </a:bodyPr>
          <a:lstStyle/>
          <a:p>
            <a:pPr algn="l">
              <a:spcAft>
                <a:spcPts val="400"/>
              </a:spcAft>
            </a:pPr>
            <a:r>
              <a:rPr sz="2000" b="1" i="0">
                <a:solidFill>
                  <a:srgbClr val="251F21"/>
                </a:solidFill>
                <a:latin typeface="Arial"/>
              </a:rPr>
              <a:t>The model proposes; code decides.</a:t>
            </a:r>
          </a:p>
          <a:p>
            <a:pPr algn="l">
              <a:lnSpc>
                <a:spcPct val="110000"/>
              </a:lnSpc>
            </a:pPr>
            <a:r>
              <a:rPr sz="1400" b="0" i="0">
                <a:solidFill>
                  <a:srgbClr val="585254"/>
                </a:solidFill>
                <a:latin typeface="Arial"/>
              </a:rPr>
              <a:t>The model reads what you mean. Code checks it against the record, then acts, asks which, or declines.</a:t>
            </a:r>
          </a:p>
        </p:txBody>
      </p:sp>
      <p:cxnSp>
        <p:nvCxnSpPr>
          <p:cNvPr id="10" name="Connector 9"/>
          <p:cNvCxnSpPr/>
          <p:nvPr/>
        </p:nvCxnSpPr>
        <p:spPr>
          <a:xfrm>
            <a:off x="5440680" y="3108960"/>
            <a:ext cx="6016752"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40680" y="3246120"/>
            <a:ext cx="6016752" cy="868680"/>
          </a:xfrm>
          <a:prstGeom prst="rect">
            <a:avLst/>
          </a:prstGeom>
          <a:noFill/>
        </p:spPr>
        <p:txBody>
          <a:bodyPr wrap="square" lIns="0" rIns="0" tIns="0" bIns="0" anchor="t">
            <a:noAutofit/>
          </a:bodyPr>
          <a:lstStyle/>
          <a:p>
            <a:pPr algn="l">
              <a:spcAft>
                <a:spcPts val="400"/>
              </a:spcAft>
            </a:pPr>
            <a:r>
              <a:rPr sz="2000" b="1" i="0">
                <a:solidFill>
                  <a:srgbClr val="251F21"/>
                </a:solidFill>
                <a:latin typeface="Arial"/>
              </a:rPr>
              <a:t>Silence is not a rejection.</a:t>
            </a:r>
          </a:p>
          <a:p>
            <a:pPr algn="l">
              <a:lnSpc>
                <a:spcPct val="110000"/>
              </a:lnSpc>
            </a:pPr>
            <a:r>
              <a:rPr sz="1400" b="0" i="0">
                <a:solidFill>
                  <a:srgbClr val="585254"/>
                </a:solidFill>
                <a:latin typeface="Arial"/>
              </a:rPr>
              <a:t>No reply shows as waiting or unknown, with the reason.</a:t>
            </a:r>
          </a:p>
        </p:txBody>
      </p:sp>
      <p:cxnSp>
        <p:nvCxnSpPr>
          <p:cNvPr id="12" name="Connector 11"/>
          <p:cNvCxnSpPr/>
          <p:nvPr/>
        </p:nvCxnSpPr>
        <p:spPr>
          <a:xfrm>
            <a:off x="5440680" y="4114800"/>
            <a:ext cx="6016752"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40680" y="4251960"/>
            <a:ext cx="6016752" cy="868680"/>
          </a:xfrm>
          <a:prstGeom prst="rect">
            <a:avLst/>
          </a:prstGeom>
          <a:noFill/>
        </p:spPr>
        <p:txBody>
          <a:bodyPr wrap="square" lIns="0" rIns="0" tIns="0" bIns="0" anchor="t">
            <a:noAutofit/>
          </a:bodyPr>
          <a:lstStyle/>
          <a:p>
            <a:pPr algn="l">
              <a:spcAft>
                <a:spcPts val="400"/>
              </a:spcAft>
            </a:pPr>
            <a:r>
              <a:rPr sz="2000" b="1" i="0">
                <a:solidFill>
                  <a:srgbClr val="251F21"/>
                </a:solidFill>
                <a:latin typeface="Arial"/>
              </a:rPr>
              <a:t>A yes is bound to exactly what you saw.</a:t>
            </a:r>
          </a:p>
          <a:p>
            <a:pPr algn="l">
              <a:lnSpc>
                <a:spcPct val="110000"/>
              </a:lnSpc>
            </a:pPr>
            <a:r>
              <a:rPr sz="1400" b="0" i="0">
                <a:solidFill>
                  <a:srgbClr val="585254"/>
                </a:solidFill>
                <a:latin typeface="Arial"/>
              </a:rPr>
              <a:t>One version, one recipient, used once. Drafts go to you to send.</a:t>
            </a:r>
          </a:p>
        </p:txBody>
      </p:sp>
      <p:sp>
        <p:nvSpPr>
          <p:cNvPr id="14" name="Synthetic label"/>
          <p:cNvSpPr/>
          <p:nvPr/>
        </p:nvSpPr>
        <p:spPr>
          <a:xfrm>
            <a:off x="5440680" y="5166360"/>
            <a:ext cx="6016752" cy="777240"/>
          </a:xfrm>
          <a:prstGeom prst="roundRect">
            <a:avLst>
              <a:gd name="adj" fmla="val 8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noAutofit/>
          </a:bodyPr>
          <a:lstStyle/>
          <a:p>
            <a:pPr algn="l">
              <a:lnSpc>
                <a:spcPct val="110000"/>
              </a:lnSpc>
            </a:pPr>
            <a:r>
              <a:rPr sz="1250" b="1" i="0">
                <a:solidFill>
                  <a:srgbClr val="251F21"/>
                </a:solidFill>
                <a:latin typeface="Arial"/>
              </a:rPr>
              <a:t>Synthetic concept. </a:t>
            </a:r>
            <a:r>
              <a:rPr sz="1250" b="0" i="0">
                <a:solidFill>
                  <a:srgbClr val="585254"/>
                </a:solidFill>
                <a:latin typeface="Arial"/>
              </a:rPr>
              <a:t>Made-up people and jobs, running on a laptop. Not a Tsenta integration: no real iMessage, mail, portals or Tsenta data.</a:t>
            </a:r>
          </a:p>
        </p:txBody>
      </p:sp>
      <p:cxnSp>
        <p:nvCxnSpPr>
          <p:cNvPr id="15" name="Connector 14"/>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6"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Synthetic concept. Only the job agent is live today.</a:t>
            </a:r>
            <a:r>
              <a:rPr sz="1000" b="0" i="0">
                <a:solidFill>
                  <a:srgbClr val="585254"/>
                </a:solidFill>
                <a:latin typeface="Arial"/>
              </a:rPr>
              <a:t>   Tsenta  ·  October 14, 2026</a:t>
            </a:r>
          </a:p>
        </p:txBody>
      </p:sp>
      <p:sp>
        <p:nvSpPr>
          <p:cNvPr id="17"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6</a:t>
            </a:r>
          </a:p>
        </p:txBody>
      </p:sp>
      <p:sp>
        <p:nvSpPr>
          <p:cNvPr id="18"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Local prototype, commit 07ad8fb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One career, from first job to a PhD.</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SYNTHETIC  ·  IDEAL STATE  ·  ONE CAREER</a:t>
            </a:r>
          </a:p>
        </p:txBody>
      </p:sp>
      <p:sp>
        <p:nvSpPr>
          <p:cNvPr id="4" name="Profile card"/>
          <p:cNvSpPr/>
          <p:nvPr/>
        </p:nvSpPr>
        <p:spPr>
          <a:xfrm>
            <a:off x="731520" y="2103120"/>
            <a:ext cx="2971800" cy="3794760"/>
          </a:xfrm>
          <a:prstGeom prst="roundRect">
            <a:avLst>
              <a:gd name="adj" fmla="val 4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237744" rIns="237744" tIns="237744" bIns="109728" wrap="square">
            <a:noAutofit/>
          </a:bodyPr>
          <a:lstStyle/>
          <a:p>
            <a:pPr algn="l">
              <a:spcAft>
                <a:spcPts val="400"/>
              </a:spcAft>
            </a:pPr>
            <a:r>
              <a:rPr sz="1050" b="1" i="0" spc="100">
                <a:solidFill>
                  <a:srgbClr val="3F7668"/>
                </a:solidFill>
                <a:latin typeface="Arial"/>
              </a:rPr>
              <a:t>THE PERSON</a:t>
            </a:r>
          </a:p>
          <a:p>
            <a:pPr algn="l">
              <a:spcAft>
                <a:spcPts val="400"/>
              </a:spcAft>
            </a:pPr>
            <a:r>
              <a:rPr sz="2200" b="1" i="0">
                <a:solidFill>
                  <a:srgbClr val="251F21"/>
                </a:solidFill>
                <a:latin typeface="Arial"/>
              </a:rPr>
              <a:t>Sam</a:t>
            </a:r>
          </a:p>
          <a:p>
            <a:pPr algn="l">
              <a:spcAft>
                <a:spcPts val="200"/>
              </a:spcAft>
            </a:pPr>
            <a:r>
              <a:rPr sz="1300" b="0" i="0">
                <a:solidFill>
                  <a:srgbClr val="585254"/>
                </a:solidFill>
                <a:latin typeface="Arial"/>
              </a:rPr>
              <a:t>B.S. Economics, 2026</a:t>
            </a:r>
          </a:p>
          <a:p>
            <a:pPr algn="l">
              <a:spcAft>
                <a:spcPts val="200"/>
              </a:spcAft>
            </a:pPr>
            <a:r>
              <a:rPr sz="1300" b="0" i="0">
                <a:solidFill>
                  <a:srgbClr val="585254"/>
                </a:solidFill>
                <a:latin typeface="Arial"/>
              </a:rPr>
              <a:t>Targeting ML engineering roles</a:t>
            </a:r>
          </a:p>
          <a:p>
            <a:pPr algn="l">
              <a:spcAft>
                <a:spcPts val="1400"/>
              </a:spcAft>
            </a:pPr>
            <a:r>
              <a:rPr sz="1300" b="0" i="0">
                <a:solidFill>
                  <a:srgbClr val="585254"/>
                </a:solidFill>
                <a:latin typeface="Arial"/>
              </a:rPr>
              <a:t>Reviews every application before it goes</a:t>
            </a:r>
          </a:p>
          <a:p>
            <a:pPr algn="l">
              <a:spcAft>
                <a:spcPts val="400"/>
              </a:spcAft>
            </a:pPr>
            <a:r>
              <a:rPr sz="1050" b="1" i="0" spc="100">
                <a:solidFill>
                  <a:srgbClr val="3F7668"/>
                </a:solidFill>
                <a:latin typeface="Arial"/>
              </a:rPr>
              <a:t>THE GOAL</a:t>
            </a:r>
          </a:p>
          <a:p>
            <a:pPr algn="l">
              <a:lnSpc>
                <a:spcPct val="105000"/>
              </a:lnSpc>
              <a:spcAft>
                <a:spcPts val="1400"/>
              </a:spcAft>
            </a:pPr>
            <a:r>
              <a:rPr sz="1700" b="1" i="0">
                <a:solidFill>
                  <a:srgbClr val="251F21"/>
                </a:solidFill>
                <a:latin typeface="Arial"/>
              </a:rPr>
              <a:t>A job now. PhD applications for next fall.</a:t>
            </a:r>
          </a:p>
          <a:p>
            <a:pPr algn="l"/>
            <a:r>
              <a:rPr sz="1100" b="0" i="0">
                <a:solidFill>
                  <a:srgbClr val="585254"/>
                </a:solidFill>
                <a:latin typeface="Arial"/>
              </a:rPr>
              <a:t>A fictional candidate, for illustration.</a:t>
            </a:r>
          </a:p>
        </p:txBody>
      </p:sp>
      <p:cxnSp>
        <p:nvCxnSpPr>
          <p:cNvPr id="5" name="Timeline"/>
          <p:cNvCxnSpPr/>
          <p:nvPr/>
        </p:nvCxnSpPr>
        <p:spPr>
          <a:xfrm>
            <a:off x="4123944" y="2304288"/>
            <a:ext cx="0" cy="3127242"/>
          </a:xfrm>
          <a:prstGeom prst="line">
            <a:avLst/>
          </a:prstGeom>
          <a:ln w="1905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Dot 1"/>
          <p:cNvSpPr/>
          <p:nvPr/>
        </p:nvSpPr>
        <p:spPr>
          <a:xfrm>
            <a:off x="4069080" y="2249424"/>
            <a:ext cx="118872" cy="11887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43400" y="2212848"/>
            <a:ext cx="1325880" cy="457200"/>
          </a:xfrm>
          <a:prstGeom prst="rect">
            <a:avLst/>
          </a:prstGeom>
          <a:noFill/>
        </p:spPr>
        <p:txBody>
          <a:bodyPr wrap="square" lIns="0" rIns="0" tIns="0" bIns="0" anchor="t">
            <a:noAutofit/>
          </a:bodyPr>
          <a:lstStyle/>
          <a:p>
            <a:pPr algn="l"/>
            <a:r>
              <a:rPr sz="1300" b="1" i="0">
                <a:solidFill>
                  <a:srgbClr val="251F21"/>
                </a:solidFill>
                <a:latin typeface="Arial"/>
              </a:rPr>
              <a:t>Start</a:t>
            </a:r>
          </a:p>
        </p:txBody>
      </p:sp>
      <p:sp>
        <p:nvSpPr>
          <p:cNvPr id="8" name="TextBox 7"/>
          <p:cNvSpPr txBox="1"/>
          <p:nvPr/>
        </p:nvSpPr>
        <p:spPr>
          <a:xfrm>
            <a:off x="5715000" y="2212848"/>
            <a:ext cx="4434840" cy="502920"/>
          </a:xfrm>
          <a:prstGeom prst="rect">
            <a:avLst/>
          </a:prstGeom>
          <a:noFill/>
        </p:spPr>
        <p:txBody>
          <a:bodyPr wrap="square" lIns="0" rIns="0" tIns="0" bIns="0" anchor="t">
            <a:noAutofit/>
          </a:bodyPr>
          <a:lstStyle/>
          <a:p>
            <a:pPr algn="l">
              <a:lnSpc>
                <a:spcPct val="105000"/>
              </a:lnSpc>
            </a:pPr>
            <a:r>
              <a:rPr sz="1300" b="0" i="0">
                <a:solidFill>
                  <a:srgbClr val="585254"/>
                </a:solidFill>
                <a:latin typeface="Arial"/>
              </a:rPr>
              <a:t>Asks once what he is working toward, and keeps it in the record.</a:t>
            </a:r>
          </a:p>
        </p:txBody>
      </p:sp>
      <p:sp>
        <p:nvSpPr>
          <p:cNvPr id="9" name="Tag proposed"/>
          <p:cNvSpPr/>
          <p:nvPr/>
        </p:nvSpPr>
        <p:spPr>
          <a:xfrm>
            <a:off x="10360152" y="2203704"/>
            <a:ext cx="1097280" cy="246888"/>
          </a:xfrm>
          <a:prstGeom prst="roundRect">
            <a:avLst>
              <a:gd name="adj" fmla="val 50000"/>
            </a:avLst>
          </a:prstGeom>
          <a:solidFill>
            <a:srgbClr val="FFFFFF"/>
          </a:solidFill>
          <a:ln w="952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3F7668"/>
                </a:solidFill>
                <a:latin typeface="Arial"/>
              </a:rPr>
              <a:t>PROPOSED</a:t>
            </a:r>
          </a:p>
        </p:txBody>
      </p:sp>
      <p:sp>
        <p:nvSpPr>
          <p:cNvPr id="10" name="Dot 2"/>
          <p:cNvSpPr/>
          <p:nvPr/>
        </p:nvSpPr>
        <p:spPr>
          <a:xfrm>
            <a:off x="4069080" y="2770631"/>
            <a:ext cx="118872" cy="11887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2734055"/>
            <a:ext cx="1325880" cy="457200"/>
          </a:xfrm>
          <a:prstGeom prst="rect">
            <a:avLst/>
          </a:prstGeom>
          <a:noFill/>
        </p:spPr>
        <p:txBody>
          <a:bodyPr wrap="square" lIns="0" rIns="0" tIns="0" bIns="0" anchor="t">
            <a:noAutofit/>
          </a:bodyPr>
          <a:lstStyle/>
          <a:p>
            <a:pPr algn="l"/>
            <a:r>
              <a:rPr sz="1300" b="1" i="0">
                <a:solidFill>
                  <a:srgbClr val="251F21"/>
                </a:solidFill>
                <a:latin typeface="Arial"/>
              </a:rPr>
              <a:t>Applying</a:t>
            </a:r>
          </a:p>
        </p:txBody>
      </p:sp>
      <p:sp>
        <p:nvSpPr>
          <p:cNvPr id="12" name="TextBox 11"/>
          <p:cNvSpPr txBox="1"/>
          <p:nvPr/>
        </p:nvSpPr>
        <p:spPr>
          <a:xfrm>
            <a:off x="5715000" y="2734055"/>
            <a:ext cx="4434840" cy="502920"/>
          </a:xfrm>
          <a:prstGeom prst="rect">
            <a:avLst/>
          </a:prstGeom>
          <a:noFill/>
        </p:spPr>
        <p:txBody>
          <a:bodyPr wrap="square" lIns="0" rIns="0" tIns="0" bIns="0" anchor="t">
            <a:noAutofit/>
          </a:bodyPr>
          <a:lstStyle/>
          <a:p>
            <a:pPr algn="l">
              <a:lnSpc>
                <a:spcPct val="105000"/>
              </a:lnSpc>
            </a:pPr>
            <a:r>
              <a:rPr sz="1300" b="0" i="0">
                <a:solidFill>
                  <a:srgbClr val="585254"/>
                </a:solidFill>
                <a:latin typeface="Arial"/>
              </a:rPr>
              <a:t>Tailored applications go out after his review, with receipts.</a:t>
            </a:r>
          </a:p>
        </p:txBody>
      </p:sp>
      <p:sp>
        <p:nvSpPr>
          <p:cNvPr id="13" name="Tag live today"/>
          <p:cNvSpPr/>
          <p:nvPr/>
        </p:nvSpPr>
        <p:spPr>
          <a:xfrm>
            <a:off x="10360152" y="2724911"/>
            <a:ext cx="1097280" cy="246888"/>
          </a:xfrm>
          <a:prstGeom prst="roundRect">
            <a:avLst>
              <a:gd name="adj" fmla="val 50000"/>
            </a:avLst>
          </a:prstGeom>
          <a:solidFill>
            <a:srgbClr val="251F21"/>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FFFFFF"/>
                </a:solidFill>
                <a:latin typeface="Arial"/>
              </a:rPr>
              <a:t>LIVE TODAY</a:t>
            </a:r>
          </a:p>
        </p:txBody>
      </p:sp>
      <p:sp>
        <p:nvSpPr>
          <p:cNvPr id="14" name="Dot 3"/>
          <p:cNvSpPr/>
          <p:nvPr/>
        </p:nvSpPr>
        <p:spPr>
          <a:xfrm>
            <a:off x="4069080" y="3291838"/>
            <a:ext cx="118872" cy="11887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3255262"/>
            <a:ext cx="1325880" cy="457200"/>
          </a:xfrm>
          <a:prstGeom prst="rect">
            <a:avLst/>
          </a:prstGeom>
          <a:noFill/>
        </p:spPr>
        <p:txBody>
          <a:bodyPr wrap="square" lIns="0" rIns="0" tIns="0" bIns="0" anchor="t">
            <a:noAutofit/>
          </a:bodyPr>
          <a:lstStyle/>
          <a:p>
            <a:pPr algn="l"/>
            <a:r>
              <a:rPr sz="1300" b="1" i="0">
                <a:solidFill>
                  <a:srgbClr val="251F21"/>
                </a:solidFill>
                <a:latin typeface="Arial"/>
              </a:rPr>
              <a:t>A reply lands</a:t>
            </a:r>
          </a:p>
        </p:txBody>
      </p:sp>
      <p:sp>
        <p:nvSpPr>
          <p:cNvPr id="16" name="TextBox 15"/>
          <p:cNvSpPr txBox="1"/>
          <p:nvPr/>
        </p:nvSpPr>
        <p:spPr>
          <a:xfrm>
            <a:off x="5715000" y="3255262"/>
            <a:ext cx="4434840" cy="502920"/>
          </a:xfrm>
          <a:prstGeom prst="rect">
            <a:avLst/>
          </a:prstGeom>
          <a:noFill/>
        </p:spPr>
        <p:txBody>
          <a:bodyPr wrap="square" lIns="0" rIns="0" tIns="0" bIns="0" anchor="t">
            <a:noAutofit/>
          </a:bodyPr>
          <a:lstStyle/>
          <a:p>
            <a:pPr algn="l">
              <a:lnSpc>
                <a:spcPct val="105000"/>
              </a:lnSpc>
            </a:pPr>
            <a:r>
              <a:rPr sz="1300" b="0" i="0">
                <a:solidFill>
                  <a:srgbClr val="585254"/>
                </a:solidFill>
                <a:latin typeface="Arial"/>
              </a:rPr>
              <a:t>“A recruiter wants a call, but you applied to two roles there. Which one?”</a:t>
            </a:r>
          </a:p>
        </p:txBody>
      </p:sp>
      <p:sp>
        <p:nvSpPr>
          <p:cNvPr id="17" name="Tag proposed"/>
          <p:cNvSpPr/>
          <p:nvPr/>
        </p:nvSpPr>
        <p:spPr>
          <a:xfrm>
            <a:off x="10360152" y="3246118"/>
            <a:ext cx="1097280" cy="246888"/>
          </a:xfrm>
          <a:prstGeom prst="roundRect">
            <a:avLst>
              <a:gd name="adj" fmla="val 50000"/>
            </a:avLst>
          </a:prstGeom>
          <a:solidFill>
            <a:srgbClr val="FFFFFF"/>
          </a:solidFill>
          <a:ln w="952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3F7668"/>
                </a:solidFill>
                <a:latin typeface="Arial"/>
              </a:rPr>
              <a:t>PROPOSED</a:t>
            </a:r>
          </a:p>
        </p:txBody>
      </p:sp>
      <p:sp>
        <p:nvSpPr>
          <p:cNvPr id="18" name="Dot 4"/>
          <p:cNvSpPr/>
          <p:nvPr/>
        </p:nvSpPr>
        <p:spPr>
          <a:xfrm>
            <a:off x="4069080" y="3813045"/>
            <a:ext cx="118872" cy="11887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3776469"/>
            <a:ext cx="1325880" cy="457200"/>
          </a:xfrm>
          <a:prstGeom prst="rect">
            <a:avLst/>
          </a:prstGeom>
          <a:noFill/>
        </p:spPr>
        <p:txBody>
          <a:bodyPr wrap="square" lIns="0" rIns="0" tIns="0" bIns="0" anchor="t">
            <a:noAutofit/>
          </a:bodyPr>
          <a:lstStyle/>
          <a:p>
            <a:pPr algn="l"/>
            <a:r>
              <a:rPr sz="1300" b="1" i="0">
                <a:solidFill>
                  <a:srgbClr val="251F21"/>
                </a:solidFill>
                <a:latin typeface="Arial"/>
              </a:rPr>
              <a:t>Draft, not send</a:t>
            </a:r>
          </a:p>
        </p:txBody>
      </p:sp>
      <p:sp>
        <p:nvSpPr>
          <p:cNvPr id="20" name="TextBox 19"/>
          <p:cNvSpPr txBox="1"/>
          <p:nvPr/>
        </p:nvSpPr>
        <p:spPr>
          <a:xfrm>
            <a:off x="5715000" y="3776469"/>
            <a:ext cx="4434840" cy="502920"/>
          </a:xfrm>
          <a:prstGeom prst="rect">
            <a:avLst/>
          </a:prstGeom>
          <a:noFill/>
        </p:spPr>
        <p:txBody>
          <a:bodyPr wrap="square" lIns="0" rIns="0" tIns="0" bIns="0" anchor="t">
            <a:noAutofit/>
          </a:bodyPr>
          <a:lstStyle/>
          <a:p>
            <a:pPr algn="l">
              <a:lnSpc>
                <a:spcPct val="105000"/>
              </a:lnSpc>
            </a:pPr>
            <a:r>
              <a:rPr sz="1300" b="0" i="0">
                <a:solidFill>
                  <a:srgbClr val="585254"/>
                </a:solidFill>
                <a:latin typeface="Arial"/>
              </a:rPr>
              <a:t>Drafts the answer to review. He sends it, not the agent.</a:t>
            </a:r>
          </a:p>
        </p:txBody>
      </p:sp>
      <p:sp>
        <p:nvSpPr>
          <p:cNvPr id="21" name="Tag proposed"/>
          <p:cNvSpPr/>
          <p:nvPr/>
        </p:nvSpPr>
        <p:spPr>
          <a:xfrm>
            <a:off x="10360152" y="3767325"/>
            <a:ext cx="1097280" cy="246888"/>
          </a:xfrm>
          <a:prstGeom prst="roundRect">
            <a:avLst>
              <a:gd name="adj" fmla="val 50000"/>
            </a:avLst>
          </a:prstGeom>
          <a:solidFill>
            <a:srgbClr val="FFFFFF"/>
          </a:solidFill>
          <a:ln w="952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3F7668"/>
                </a:solidFill>
                <a:latin typeface="Arial"/>
              </a:rPr>
              <a:t>PROPOSED</a:t>
            </a:r>
          </a:p>
        </p:txBody>
      </p:sp>
      <p:sp>
        <p:nvSpPr>
          <p:cNvPr id="22" name="Dot 5"/>
          <p:cNvSpPr/>
          <p:nvPr/>
        </p:nvSpPr>
        <p:spPr>
          <a:xfrm>
            <a:off x="4069080" y="4334252"/>
            <a:ext cx="118872" cy="11887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4297676"/>
            <a:ext cx="1325880" cy="457200"/>
          </a:xfrm>
          <a:prstGeom prst="rect">
            <a:avLst/>
          </a:prstGeom>
          <a:noFill/>
        </p:spPr>
        <p:txBody>
          <a:bodyPr wrap="square" lIns="0" rIns="0" tIns="0" bIns="0" anchor="t">
            <a:noAutofit/>
          </a:bodyPr>
          <a:lstStyle/>
          <a:p>
            <a:pPr algn="l"/>
            <a:r>
              <a:rPr sz="1300" b="1" i="0">
                <a:solidFill>
                  <a:srgbClr val="251F21"/>
                </a:solidFill>
                <a:latin typeface="Arial"/>
              </a:rPr>
              <a:t>Silence</a:t>
            </a:r>
          </a:p>
        </p:txBody>
      </p:sp>
      <p:sp>
        <p:nvSpPr>
          <p:cNvPr id="24" name="TextBox 23"/>
          <p:cNvSpPr txBox="1"/>
          <p:nvPr/>
        </p:nvSpPr>
        <p:spPr>
          <a:xfrm>
            <a:off x="5715000" y="4297676"/>
            <a:ext cx="4434840" cy="502920"/>
          </a:xfrm>
          <a:prstGeom prst="rect">
            <a:avLst/>
          </a:prstGeom>
          <a:noFill/>
        </p:spPr>
        <p:txBody>
          <a:bodyPr wrap="square" lIns="0" rIns="0" tIns="0" bIns="0" anchor="t">
            <a:noAutofit/>
          </a:bodyPr>
          <a:lstStyle/>
          <a:p>
            <a:pPr algn="l">
              <a:lnSpc>
                <a:spcPct val="105000"/>
              </a:lnSpc>
            </a:pPr>
            <a:r>
              <a:rPr sz="1300" b="0" i="0">
                <a:solidFill>
                  <a:srgbClr val="585254"/>
                </a:solidFill>
                <a:latin typeface="Arial"/>
              </a:rPr>
              <a:t>“This role family went quiet. What we know, what we don't, and one change to try.”</a:t>
            </a:r>
          </a:p>
        </p:txBody>
      </p:sp>
      <p:sp>
        <p:nvSpPr>
          <p:cNvPr id="25" name="Tag proposed"/>
          <p:cNvSpPr/>
          <p:nvPr/>
        </p:nvSpPr>
        <p:spPr>
          <a:xfrm>
            <a:off x="10360152" y="4288532"/>
            <a:ext cx="1097280" cy="246888"/>
          </a:xfrm>
          <a:prstGeom prst="roundRect">
            <a:avLst>
              <a:gd name="adj" fmla="val 50000"/>
            </a:avLst>
          </a:prstGeom>
          <a:solidFill>
            <a:srgbClr val="FFFFFF"/>
          </a:solidFill>
          <a:ln w="952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3F7668"/>
                </a:solidFill>
                <a:latin typeface="Arial"/>
              </a:rPr>
              <a:t>PROPOSED</a:t>
            </a:r>
          </a:p>
        </p:txBody>
      </p:sp>
      <p:sp>
        <p:nvSpPr>
          <p:cNvPr id="26" name="Dot 6"/>
          <p:cNvSpPr/>
          <p:nvPr/>
        </p:nvSpPr>
        <p:spPr>
          <a:xfrm>
            <a:off x="4069080" y="4855459"/>
            <a:ext cx="118872" cy="11887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4818883"/>
            <a:ext cx="1325880" cy="457200"/>
          </a:xfrm>
          <a:prstGeom prst="rect">
            <a:avLst/>
          </a:prstGeom>
          <a:noFill/>
        </p:spPr>
        <p:txBody>
          <a:bodyPr wrap="square" lIns="0" rIns="0" tIns="0" bIns="0" anchor="t">
            <a:noAutofit/>
          </a:bodyPr>
          <a:lstStyle/>
          <a:p>
            <a:pPr algn="l"/>
            <a:r>
              <a:rPr sz="1300" b="1" i="0">
                <a:solidFill>
                  <a:srgbClr val="251F21"/>
                </a:solidFill>
                <a:latin typeface="Arial"/>
              </a:rPr>
              <a:t>Grad school</a:t>
            </a:r>
          </a:p>
        </p:txBody>
      </p:sp>
      <p:sp>
        <p:nvSpPr>
          <p:cNvPr id="28" name="TextBox 27"/>
          <p:cNvSpPr txBox="1"/>
          <p:nvPr/>
        </p:nvSpPr>
        <p:spPr>
          <a:xfrm>
            <a:off x="5715000" y="4818883"/>
            <a:ext cx="4434840" cy="502920"/>
          </a:xfrm>
          <a:prstGeom prst="rect">
            <a:avLst/>
          </a:prstGeom>
          <a:noFill/>
        </p:spPr>
        <p:txBody>
          <a:bodyPr wrap="square" lIns="0" rIns="0" tIns="0" bIns="0" anchor="t">
            <a:noAutofit/>
          </a:bodyPr>
          <a:lstStyle/>
          <a:p>
            <a:pPr algn="l">
              <a:lnSpc>
                <a:spcPct val="105000"/>
              </a:lnSpc>
            </a:pPr>
            <a:r>
              <a:rPr sz="1300" b="0" i="0">
                <a:solidFill>
                  <a:srgbClr val="585254"/>
                </a:solidFill>
                <a:latin typeface="Arial"/>
              </a:rPr>
              <a:t>“Two labs on your list open applications soon. Want intro drafts to review?”</a:t>
            </a:r>
          </a:p>
        </p:txBody>
      </p:sp>
      <p:sp>
        <p:nvSpPr>
          <p:cNvPr id="29" name="Tag proposed"/>
          <p:cNvSpPr/>
          <p:nvPr/>
        </p:nvSpPr>
        <p:spPr>
          <a:xfrm>
            <a:off x="10360152" y="4809739"/>
            <a:ext cx="1097280" cy="246888"/>
          </a:xfrm>
          <a:prstGeom prst="roundRect">
            <a:avLst>
              <a:gd name="adj" fmla="val 50000"/>
            </a:avLst>
          </a:prstGeom>
          <a:solidFill>
            <a:srgbClr val="FFFFFF"/>
          </a:solidFill>
          <a:ln w="952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3F7668"/>
                </a:solidFill>
                <a:latin typeface="Arial"/>
              </a:rPr>
              <a:t>PROPOSED</a:t>
            </a:r>
          </a:p>
        </p:txBody>
      </p:sp>
      <p:sp>
        <p:nvSpPr>
          <p:cNvPr id="30" name="Dot 7"/>
          <p:cNvSpPr/>
          <p:nvPr/>
        </p:nvSpPr>
        <p:spPr>
          <a:xfrm>
            <a:off x="4069080" y="5376666"/>
            <a:ext cx="118872" cy="118872"/>
          </a:xfrm>
          <a:prstGeom prst="ellipse">
            <a:avLst/>
          </a:prstGeom>
          <a:solidFill>
            <a:srgbClr val="FFFFFF"/>
          </a:solidFill>
          <a:ln w="12700">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5340090"/>
            <a:ext cx="1325880" cy="457200"/>
          </a:xfrm>
          <a:prstGeom prst="rect">
            <a:avLst/>
          </a:prstGeom>
          <a:noFill/>
        </p:spPr>
        <p:txBody>
          <a:bodyPr wrap="square" lIns="0" rIns="0" tIns="0" bIns="0" anchor="t">
            <a:noAutofit/>
          </a:bodyPr>
          <a:lstStyle/>
          <a:p>
            <a:pPr algn="l"/>
            <a:r>
              <a:rPr sz="1300" b="1" i="0">
                <a:solidFill>
                  <a:srgbClr val="251F21"/>
                </a:solidFill>
                <a:latin typeface="Arial"/>
              </a:rPr>
              <a:t>The offer</a:t>
            </a:r>
          </a:p>
        </p:txBody>
      </p:sp>
      <p:sp>
        <p:nvSpPr>
          <p:cNvPr id="32" name="TextBox 31"/>
          <p:cNvSpPr txBox="1"/>
          <p:nvPr/>
        </p:nvSpPr>
        <p:spPr>
          <a:xfrm>
            <a:off x="5715000" y="5340090"/>
            <a:ext cx="4434840" cy="502920"/>
          </a:xfrm>
          <a:prstGeom prst="rect">
            <a:avLst/>
          </a:prstGeom>
          <a:noFill/>
        </p:spPr>
        <p:txBody>
          <a:bodyPr wrap="square" lIns="0" rIns="0" tIns="0" bIns="0" anchor="t">
            <a:noAutofit/>
          </a:bodyPr>
          <a:lstStyle/>
          <a:p>
            <a:pPr algn="l">
              <a:lnSpc>
                <a:spcPct val="105000"/>
              </a:lnSpc>
            </a:pPr>
            <a:r>
              <a:rPr sz="1300" b="0" i="0">
                <a:solidFill>
                  <a:srgbClr val="585254"/>
                </a:solidFill>
                <a:latin typeface="Arial"/>
              </a:rPr>
              <a:t>Start date, notice period, and a first-week checklist.</a:t>
            </a:r>
          </a:p>
        </p:txBody>
      </p:sp>
      <p:sp>
        <p:nvSpPr>
          <p:cNvPr id="33" name="Tag vision"/>
          <p:cNvSpPr/>
          <p:nvPr/>
        </p:nvSpPr>
        <p:spPr>
          <a:xfrm>
            <a:off x="10360152" y="5330946"/>
            <a:ext cx="1097280" cy="246888"/>
          </a:xfrm>
          <a:prstGeom prst="roundRect">
            <a:avLst>
              <a:gd name="adj" fmla="val 50000"/>
            </a:avLst>
          </a:prstGeom>
          <a:solidFill>
            <a:srgbClr val="FFFFFF"/>
          </a:solidFill>
          <a:ln w="952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585254"/>
                </a:solidFill>
                <a:latin typeface="Arial"/>
              </a:rPr>
              <a:t>VISION</a:t>
            </a:r>
          </a:p>
        </p:txBody>
      </p:sp>
      <p:sp>
        <p:nvSpPr>
          <p:cNvPr id="34" name="TextBox 33"/>
          <p:cNvSpPr txBox="1"/>
          <p:nvPr/>
        </p:nvSpPr>
        <p:spPr>
          <a:xfrm>
            <a:off x="4069080" y="5870448"/>
            <a:ext cx="7406640" cy="384048"/>
          </a:xfrm>
          <a:prstGeom prst="rect">
            <a:avLst/>
          </a:prstGeom>
          <a:noFill/>
        </p:spPr>
        <p:txBody>
          <a:bodyPr wrap="square" lIns="0" rIns="0" tIns="0" bIns="0" anchor="t">
            <a:noAutofit/>
          </a:bodyPr>
          <a:lstStyle/>
          <a:p>
            <a:pPr algn="l">
              <a:lnSpc>
                <a:spcPct val="105000"/>
              </a:lnSpc>
            </a:pPr>
            <a:r>
              <a:rPr sz="1100" b="0" i="0">
                <a:solidFill>
                  <a:srgbClr val="585254"/>
                </a:solidFill>
                <a:latin typeface="Arial"/>
              </a:rPr>
              <a:t>Ideal state, not built. Made-up employers, labs, recruiters and events; no real mail. The screenshots on the previous slide are from a separate demo with a made-up person.</a:t>
            </a:r>
          </a:p>
        </p:txBody>
      </p:sp>
      <p:cxnSp>
        <p:nvCxnSpPr>
          <p:cNvPr id="35" name="Connector 34"/>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36"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Synthetic concept. Only the job agent is live today.</a:t>
            </a:r>
            <a:r>
              <a:rPr sz="1000" b="0" i="0">
                <a:solidFill>
                  <a:srgbClr val="585254"/>
                </a:solidFill>
                <a:latin typeface="Arial"/>
              </a:rPr>
              <a:t>   Tsenta  ·  October 14, 2026</a:t>
            </a:r>
          </a:p>
        </p:txBody>
      </p:sp>
      <p:sp>
        <p:nvSpPr>
          <p:cNvPr id="37"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From the job to the rest of life.</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ROADMAP  ·  JOB, CAREER, LIFE</a:t>
            </a:r>
          </a:p>
        </p:txBody>
      </p:sp>
      <p:cxnSp>
        <p:nvCxnSpPr>
          <p:cNvPr id="4" name="Roadmap line"/>
          <p:cNvCxnSpPr/>
          <p:nvPr/>
        </p:nvCxnSpPr>
        <p:spPr>
          <a:xfrm>
            <a:off x="731520" y="2194560"/>
            <a:ext cx="10728655" cy="0"/>
          </a:xfrm>
          <a:prstGeom prst="line">
            <a:avLst/>
          </a:prstGeom>
          <a:ln w="19050">
            <a:solidFill>
              <a:srgbClr val="E4E0DD"/>
            </a:solidFill>
          </a:ln>
        </p:spPr>
        <p:style>
          <a:lnRef idx="2">
            <a:schemeClr val="accent1"/>
          </a:lnRef>
          <a:fillRef idx="0">
            <a:schemeClr val="accent1"/>
          </a:fillRef>
          <a:effectRef idx="1">
            <a:schemeClr val="accent1"/>
          </a:effectRef>
          <a:fontRef idx="minor">
            <a:schemeClr val="tx1"/>
          </a:fontRef>
        </p:style>
      </p:cxnSp>
      <p:sp>
        <p:nvSpPr>
          <p:cNvPr id="5" name="Stage dot 1"/>
          <p:cNvSpPr/>
          <p:nvPr/>
        </p:nvSpPr>
        <p:spPr>
          <a:xfrm>
            <a:off x="731520" y="2112264"/>
            <a:ext cx="164592" cy="16459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JOB, NOW</a:t>
            </a:r>
          </a:p>
        </p:txBody>
      </p:sp>
      <p:sp>
        <p:nvSpPr>
          <p:cNvPr id="7" name="Tag live today"/>
          <p:cNvSpPr/>
          <p:nvPr/>
        </p:nvSpPr>
        <p:spPr>
          <a:xfrm>
            <a:off x="2096947" y="2377440"/>
            <a:ext cx="1097280" cy="246888"/>
          </a:xfrm>
          <a:prstGeom prst="roundRect">
            <a:avLst>
              <a:gd name="adj" fmla="val 50000"/>
            </a:avLst>
          </a:prstGeom>
          <a:solidFill>
            <a:srgbClr val="251F21"/>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FFFFFF"/>
                </a:solidFill>
                <a:latin typeface="Arial"/>
              </a:rPr>
              <a:t>LIVE TODAY</a:t>
            </a:r>
          </a:p>
        </p:txBody>
      </p:sp>
      <p:sp>
        <p:nvSpPr>
          <p:cNvPr id="8" name="TextBox 7"/>
          <p:cNvSpPr txBox="1"/>
          <p:nvPr/>
        </p:nvSpPr>
        <p:spPr>
          <a:xfrm>
            <a:off x="731520" y="2743200"/>
            <a:ext cx="2462707" cy="685800"/>
          </a:xfrm>
          <a:prstGeom prst="rect">
            <a:avLst/>
          </a:prstGeom>
          <a:noFill/>
        </p:spPr>
        <p:txBody>
          <a:bodyPr wrap="square" lIns="0" rIns="0" tIns="0" bIns="0" anchor="t">
            <a:noAutofit/>
          </a:bodyPr>
          <a:lstStyle/>
          <a:p>
            <a:pPr algn="l">
              <a:lnSpc>
                <a:spcPct val="100000"/>
              </a:lnSpc>
            </a:pPr>
            <a:r>
              <a:rPr sz="1900" b="1" i="0">
                <a:solidFill>
                  <a:srgbClr val="251F21"/>
                </a:solidFill>
                <a:latin typeface="Arial"/>
              </a:rPr>
              <a:t>The job agent</a:t>
            </a:r>
          </a:p>
        </p:txBody>
      </p:sp>
      <p:sp>
        <p:nvSpPr>
          <p:cNvPr id="9" name="TextBox 8"/>
          <p:cNvSpPr txBox="1"/>
          <p:nvPr/>
        </p:nvSpPr>
        <p:spPr>
          <a:xfrm>
            <a:off x="731520" y="3401568"/>
            <a:ext cx="2462707" cy="1188720"/>
          </a:xfrm>
          <a:prstGeom prst="rect">
            <a:avLst/>
          </a:prstGeom>
          <a:noFill/>
        </p:spPr>
        <p:txBody>
          <a:bodyPr wrap="square" lIns="0" rIns="0" tIns="0" bIns="0" anchor="t">
            <a:noAutofit/>
          </a:bodyPr>
          <a:lstStyle/>
          <a:p>
            <a:pPr algn="l">
              <a:lnSpc>
                <a:spcPct val="108000"/>
              </a:lnSpc>
            </a:pPr>
            <a:r>
              <a:rPr sz="1250" b="0" i="0">
                <a:solidFill>
                  <a:srgbClr val="585254"/>
                </a:solidFill>
                <a:latin typeface="Arial"/>
              </a:rPr>
              <a:t>Live: finds roles and applies, with optional review. Proposed: one record, a Tsenta-held yes, sparse notes.</a:t>
            </a:r>
          </a:p>
        </p:txBody>
      </p:sp>
      <p:sp>
        <p:nvSpPr>
          <p:cNvPr id="10" name="Gate 1"/>
          <p:cNvSpPr/>
          <p:nvPr/>
        </p:nvSpPr>
        <p:spPr>
          <a:xfrm>
            <a:off x="731520" y="4315968"/>
            <a:ext cx="2462707" cy="1481328"/>
          </a:xfrm>
          <a:prstGeom prst="roundRect">
            <a:avLst>
              <a:gd name="adj" fmla="val 5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109728" bIns="109728" wrap="square">
            <a:noAutofit/>
          </a:bodyPr>
          <a:lstStyle/>
          <a:p>
            <a:pPr algn="l">
              <a:spcAft>
                <a:spcPts val="400"/>
              </a:spcAft>
            </a:pPr>
            <a:r>
              <a:rPr sz="1000" b="1" i="0" spc="80">
                <a:solidFill>
                  <a:srgbClr val="3F7668"/>
                </a:solidFill>
                <a:latin typeface="Arial"/>
              </a:rPr>
              <a:t>CAREER IS TESTED BY</a:t>
            </a:r>
          </a:p>
          <a:p>
            <a:pPr algn="l">
              <a:lnSpc>
                <a:spcPct val="105000"/>
              </a:lnSpc>
            </a:pPr>
            <a:r>
              <a:rPr sz="1200" b="0" i="0">
                <a:solidFill>
                  <a:srgbClr val="251F21"/>
                </a:solidFill>
                <a:latin typeface="Arial"/>
              </a:rPr>
              <a:t>A checklist for offer-stage users: 90-day retention against users without it, and the opt-in rate for move help.</a:t>
            </a:r>
          </a:p>
        </p:txBody>
      </p:sp>
      <p:sp>
        <p:nvSpPr>
          <p:cNvPr id="11" name="Stage dot 2"/>
          <p:cNvSpPr/>
          <p:nvPr/>
        </p:nvSpPr>
        <p:spPr>
          <a:xfrm>
            <a:off x="3486835" y="2112264"/>
            <a:ext cx="164592" cy="16459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6835"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CAREER</a:t>
            </a:r>
          </a:p>
        </p:txBody>
      </p:sp>
      <p:sp>
        <p:nvSpPr>
          <p:cNvPr id="13" name="Tag proposed"/>
          <p:cNvSpPr/>
          <p:nvPr/>
        </p:nvSpPr>
        <p:spPr>
          <a:xfrm>
            <a:off x="4852262" y="2377440"/>
            <a:ext cx="1097280" cy="246888"/>
          </a:xfrm>
          <a:prstGeom prst="roundRect">
            <a:avLst>
              <a:gd name="adj" fmla="val 50000"/>
            </a:avLst>
          </a:prstGeom>
          <a:solidFill>
            <a:srgbClr val="FFFFFF"/>
          </a:solidFill>
          <a:ln w="952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3F7668"/>
                </a:solidFill>
                <a:latin typeface="Arial"/>
              </a:rPr>
              <a:t>PROPOSED</a:t>
            </a:r>
          </a:p>
        </p:txBody>
      </p:sp>
      <p:sp>
        <p:nvSpPr>
          <p:cNvPr id="14" name="TextBox 13"/>
          <p:cNvSpPr txBox="1"/>
          <p:nvPr/>
        </p:nvSpPr>
        <p:spPr>
          <a:xfrm>
            <a:off x="3486835" y="2743200"/>
            <a:ext cx="2462707" cy="685800"/>
          </a:xfrm>
          <a:prstGeom prst="rect">
            <a:avLst/>
          </a:prstGeom>
          <a:noFill/>
        </p:spPr>
        <p:txBody>
          <a:bodyPr wrap="square" lIns="0" rIns="0" tIns="0" bIns="0" anchor="t">
            <a:noAutofit/>
          </a:bodyPr>
          <a:lstStyle/>
          <a:p>
            <a:pPr algn="l">
              <a:lnSpc>
                <a:spcPct val="100000"/>
              </a:lnSpc>
            </a:pPr>
            <a:r>
              <a:rPr sz="1900" b="1" i="0">
                <a:solidFill>
                  <a:srgbClr val="251F21"/>
                </a:solidFill>
                <a:latin typeface="Arial"/>
              </a:rPr>
              <a:t>Interview to day 90</a:t>
            </a:r>
          </a:p>
        </p:txBody>
      </p:sp>
      <p:sp>
        <p:nvSpPr>
          <p:cNvPr id="15" name="TextBox 14"/>
          <p:cNvSpPr txBox="1"/>
          <p:nvPr/>
        </p:nvSpPr>
        <p:spPr>
          <a:xfrm>
            <a:off x="3486835" y="3401568"/>
            <a:ext cx="2462707" cy="1188720"/>
          </a:xfrm>
          <a:prstGeom prst="rect">
            <a:avLst/>
          </a:prstGeom>
          <a:noFill/>
        </p:spPr>
        <p:txBody>
          <a:bodyPr wrap="square" lIns="0" rIns="0" tIns="0" bIns="0" anchor="t">
            <a:noAutofit/>
          </a:bodyPr>
          <a:lstStyle/>
          <a:p>
            <a:pPr algn="l">
              <a:lnSpc>
                <a:spcPct val="108000"/>
              </a:lnSpc>
            </a:pPr>
            <a:r>
              <a:rPr sz="1250" b="0" i="0">
                <a:solidFill>
                  <a:srgbClr val="585254"/>
                </a:solidFill>
                <a:latin typeface="Arial"/>
              </a:rPr>
              <a:t>First interview to offer, offer to day 90, then between searches: notice, the move, benefits, the first paycheck.</a:t>
            </a:r>
          </a:p>
        </p:txBody>
      </p:sp>
      <p:sp>
        <p:nvSpPr>
          <p:cNvPr id="16" name="Gate 2"/>
          <p:cNvSpPr/>
          <p:nvPr/>
        </p:nvSpPr>
        <p:spPr>
          <a:xfrm>
            <a:off x="3486835" y="4315968"/>
            <a:ext cx="2462707" cy="1481328"/>
          </a:xfrm>
          <a:prstGeom prst="roundRect">
            <a:avLst>
              <a:gd name="adj" fmla="val 5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109728" bIns="109728" wrap="square">
            <a:noAutofit/>
          </a:bodyPr>
          <a:lstStyle/>
          <a:p>
            <a:pPr algn="l">
              <a:spcAft>
                <a:spcPts val="400"/>
              </a:spcAft>
            </a:pPr>
            <a:r>
              <a:rPr sz="1000" b="1" i="0" spc="80">
                <a:solidFill>
                  <a:srgbClr val="3F7668"/>
                </a:solidFill>
                <a:latin typeface="Arial"/>
              </a:rPr>
              <a:t>LIFE OPENS WHEN</a:t>
            </a:r>
          </a:p>
          <a:p>
            <a:pPr algn="l">
              <a:lnSpc>
                <a:spcPct val="105000"/>
              </a:lnSpc>
            </a:pPr>
            <a:r>
              <a:rPr sz="1200" b="0" i="0">
                <a:solidFill>
                  <a:srgbClr val="251F21"/>
                </a:solidFill>
                <a:latin typeface="Arial"/>
              </a:rPr>
              <a:t>Non-career requests pass a set share of inbound messages, such as 25% over 2 months, with fresh consent.</a:t>
            </a:r>
          </a:p>
        </p:txBody>
      </p:sp>
      <p:sp>
        <p:nvSpPr>
          <p:cNvPr id="17" name="Stage dot 3"/>
          <p:cNvSpPr/>
          <p:nvPr/>
        </p:nvSpPr>
        <p:spPr>
          <a:xfrm>
            <a:off x="6242150" y="2112264"/>
            <a:ext cx="164592" cy="164592"/>
          </a:xfrm>
          <a:prstGeom prst="ellipse">
            <a:avLst/>
          </a:prstGeom>
          <a:solidFill>
            <a:srgbClr val="FFFFFF"/>
          </a:solidFill>
          <a:ln w="1587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42150"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LIFE</a:t>
            </a:r>
          </a:p>
        </p:txBody>
      </p:sp>
      <p:sp>
        <p:nvSpPr>
          <p:cNvPr id="19" name="Tag vision"/>
          <p:cNvSpPr/>
          <p:nvPr/>
        </p:nvSpPr>
        <p:spPr>
          <a:xfrm>
            <a:off x="7607577" y="2377440"/>
            <a:ext cx="1097280" cy="246888"/>
          </a:xfrm>
          <a:prstGeom prst="roundRect">
            <a:avLst>
              <a:gd name="adj" fmla="val 50000"/>
            </a:avLst>
          </a:prstGeom>
          <a:solidFill>
            <a:srgbClr val="FFFFFF"/>
          </a:solidFill>
          <a:ln w="952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585254"/>
                </a:solidFill>
                <a:latin typeface="Arial"/>
              </a:rPr>
              <a:t>VISION</a:t>
            </a:r>
          </a:p>
        </p:txBody>
      </p:sp>
      <p:sp>
        <p:nvSpPr>
          <p:cNvPr id="20" name="TextBox 19"/>
          <p:cNvSpPr txBox="1"/>
          <p:nvPr/>
        </p:nvSpPr>
        <p:spPr>
          <a:xfrm>
            <a:off x="6242150" y="2743200"/>
            <a:ext cx="2462707" cy="685800"/>
          </a:xfrm>
          <a:prstGeom prst="rect">
            <a:avLst/>
          </a:prstGeom>
          <a:noFill/>
        </p:spPr>
        <p:txBody>
          <a:bodyPr wrap="square" lIns="0" rIns="0" tIns="0" bIns="0" anchor="t">
            <a:noAutofit/>
          </a:bodyPr>
          <a:lstStyle/>
          <a:p>
            <a:pPr algn="l">
              <a:lnSpc>
                <a:spcPct val="100000"/>
              </a:lnSpc>
            </a:pPr>
            <a:r>
              <a:rPr sz="1900" b="1" i="0">
                <a:solidFill>
                  <a:srgbClr val="251F21"/>
                </a:solidFill>
                <a:latin typeface="Arial"/>
              </a:rPr>
              <a:t>What users turn out to ask for</a:t>
            </a:r>
          </a:p>
        </p:txBody>
      </p:sp>
      <p:sp>
        <p:nvSpPr>
          <p:cNvPr id="21" name="TextBox 20"/>
          <p:cNvSpPr txBox="1"/>
          <p:nvPr/>
        </p:nvSpPr>
        <p:spPr>
          <a:xfrm>
            <a:off x="6242150" y="3401568"/>
            <a:ext cx="2462707" cy="1188720"/>
          </a:xfrm>
          <a:prstGeom prst="rect">
            <a:avLst/>
          </a:prstGeom>
          <a:noFill/>
        </p:spPr>
        <p:txBody>
          <a:bodyPr wrap="square" lIns="0" rIns="0" tIns="0" bIns="0" anchor="t">
            <a:noAutofit/>
          </a:bodyPr>
          <a:lstStyle/>
          <a:p>
            <a:pPr algn="l">
              <a:lnSpc>
                <a:spcPct val="108000"/>
              </a:lnSpc>
            </a:pPr>
            <a:r>
              <a:rPr sz="1250" b="0" i="0">
                <a:solidFill>
                  <a:srgbClr val="585254"/>
                </a:solidFill>
                <a:latin typeface="Arial"/>
              </a:rPr>
              <a:t>Life tasks users bring to the agent unprompted, if they do, added one at a time.</a:t>
            </a:r>
          </a:p>
        </p:txBody>
      </p:sp>
      <p:sp>
        <p:nvSpPr>
          <p:cNvPr id="22" name="Gate 3"/>
          <p:cNvSpPr/>
          <p:nvPr/>
        </p:nvSpPr>
        <p:spPr>
          <a:xfrm>
            <a:off x="6242150" y="4315968"/>
            <a:ext cx="2462707" cy="1481328"/>
          </a:xfrm>
          <a:prstGeom prst="roundRect">
            <a:avLst>
              <a:gd name="adj" fmla="val 5000"/>
            </a:avLst>
          </a:prstGeom>
          <a:solidFill>
            <a:srgbClr val="FFFFFF"/>
          </a:solidFill>
          <a:ln w="12700">
            <a:solidFill>
              <a:srgbClr val="585254"/>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146304" rIns="146304" tIns="109728" bIns="109728" wrap="square">
            <a:noAutofit/>
          </a:bodyPr>
          <a:lstStyle/>
          <a:p>
            <a:pPr algn="l">
              <a:spcAft>
                <a:spcPts val="400"/>
              </a:spcAft>
            </a:pPr>
            <a:r>
              <a:rPr sz="1000" b="1" i="0" spc="80">
                <a:solidFill>
                  <a:srgbClr val="3F7668"/>
                </a:solidFill>
                <a:latin typeface="Arial"/>
              </a:rPr>
              <a:t>THE REST OF LIFE NEEDS</a:t>
            </a:r>
          </a:p>
          <a:p>
            <a:pPr algn="l">
              <a:lnSpc>
                <a:spcPct val="105000"/>
              </a:lnSpc>
            </a:pPr>
            <a:r>
              <a:rPr sz="1200" b="0" i="0">
                <a:solidFill>
                  <a:srgbClr val="251F21"/>
                </a:solidFill>
                <a:latin typeface="Arial"/>
              </a:rPr>
              <a:t>Channels whose rules allow a broad assistant, an approval model for open-ended tasks, sustained demand.</a:t>
            </a:r>
          </a:p>
        </p:txBody>
      </p:sp>
      <p:sp>
        <p:nvSpPr>
          <p:cNvPr id="23" name="Stage dot 4"/>
          <p:cNvSpPr/>
          <p:nvPr/>
        </p:nvSpPr>
        <p:spPr>
          <a:xfrm>
            <a:off x="8997465" y="2112264"/>
            <a:ext cx="164592" cy="164592"/>
          </a:xfrm>
          <a:prstGeom prst="ellipse">
            <a:avLst/>
          </a:prstGeom>
          <a:solidFill>
            <a:srgbClr val="FFFFFF"/>
          </a:solidFill>
          <a:ln w="1587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97465"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LIFE, LATER</a:t>
            </a:r>
          </a:p>
        </p:txBody>
      </p:sp>
      <p:sp>
        <p:nvSpPr>
          <p:cNvPr id="25" name="Tag vision"/>
          <p:cNvSpPr/>
          <p:nvPr/>
        </p:nvSpPr>
        <p:spPr>
          <a:xfrm>
            <a:off x="10362892" y="2377440"/>
            <a:ext cx="1097280" cy="246888"/>
          </a:xfrm>
          <a:prstGeom prst="roundRect">
            <a:avLst>
              <a:gd name="adj" fmla="val 50000"/>
            </a:avLst>
          </a:prstGeom>
          <a:solidFill>
            <a:srgbClr val="FFFFFF"/>
          </a:solidFill>
          <a:ln w="952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noAutofit/>
          </a:bodyPr>
          <a:lstStyle/>
          <a:p>
            <a:pPr algn="ctr"/>
            <a:r>
              <a:rPr sz="850" b="1" i="0" spc="80">
                <a:solidFill>
                  <a:srgbClr val="585254"/>
                </a:solidFill>
                <a:latin typeface="Arial"/>
              </a:rPr>
              <a:t>VISION</a:t>
            </a:r>
          </a:p>
        </p:txBody>
      </p:sp>
      <p:sp>
        <p:nvSpPr>
          <p:cNvPr id="26" name="TextBox 25"/>
          <p:cNvSpPr txBox="1"/>
          <p:nvPr/>
        </p:nvSpPr>
        <p:spPr>
          <a:xfrm>
            <a:off x="8997465" y="2743200"/>
            <a:ext cx="2462707" cy="685800"/>
          </a:xfrm>
          <a:prstGeom prst="rect">
            <a:avLst/>
          </a:prstGeom>
          <a:noFill/>
        </p:spPr>
        <p:txBody>
          <a:bodyPr wrap="square" lIns="0" rIns="0" tIns="0" bIns="0" anchor="t">
            <a:noAutofit/>
          </a:bodyPr>
          <a:lstStyle/>
          <a:p>
            <a:pPr algn="l">
              <a:lnSpc>
                <a:spcPct val="100000"/>
              </a:lnSpc>
            </a:pPr>
            <a:r>
              <a:rPr sz="1900" b="1" i="0">
                <a:solidFill>
                  <a:srgbClr val="251F21"/>
                </a:solidFill>
                <a:latin typeface="Arial"/>
              </a:rPr>
              <a:t>The rest of life</a:t>
            </a:r>
          </a:p>
        </p:txBody>
      </p:sp>
      <p:sp>
        <p:nvSpPr>
          <p:cNvPr id="27" name="TextBox 26"/>
          <p:cNvSpPr txBox="1"/>
          <p:nvPr/>
        </p:nvSpPr>
        <p:spPr>
          <a:xfrm>
            <a:off x="8997465" y="3401568"/>
            <a:ext cx="2462707" cy="1188720"/>
          </a:xfrm>
          <a:prstGeom prst="rect">
            <a:avLst/>
          </a:prstGeom>
          <a:noFill/>
        </p:spPr>
        <p:txBody>
          <a:bodyPr wrap="square" lIns="0" rIns="0" tIns="0" bIns="0" anchor="t">
            <a:noAutofit/>
          </a:bodyPr>
          <a:lstStyle/>
          <a:p>
            <a:pPr algn="l">
              <a:lnSpc>
                <a:spcPct val="108000"/>
              </a:lnSpc>
            </a:pPr>
            <a:r>
              <a:rPr sz="1250" b="0" i="0">
                <a:solidFill>
                  <a:srgbClr val="585254"/>
                </a:solidFill>
                <a:latin typeface="Arial"/>
              </a:rPr>
              <a:t>One agent across career and life, behind one approval record.</a:t>
            </a:r>
          </a:p>
        </p:txBody>
      </p:sp>
      <p:sp>
        <p:nvSpPr>
          <p:cNvPr id="28" name="Gate 4"/>
          <p:cNvSpPr/>
          <p:nvPr/>
        </p:nvSpPr>
        <p:spPr>
          <a:xfrm>
            <a:off x="8997465" y="4315968"/>
            <a:ext cx="2462707" cy="1481328"/>
          </a:xfrm>
          <a:prstGeom prst="roundRect">
            <a:avLst>
              <a:gd name="adj" fmla="val 5000"/>
            </a:avLst>
          </a:prstGeom>
          <a:solidFill>
            <a:srgbClr val="FFFFFF"/>
          </a:solidFill>
          <a:ln w="12700">
            <a:solidFill>
              <a:srgbClr val="585254"/>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146304" rIns="146304" tIns="109728" bIns="109728" wrap="square">
            <a:noAutofit/>
          </a:bodyPr>
          <a:lstStyle/>
          <a:p>
            <a:pPr algn="l">
              <a:spcAft>
                <a:spcPts val="400"/>
              </a:spcAft>
            </a:pPr>
            <a:r>
              <a:rPr sz="1000" b="1" i="0" spc="80">
                <a:solidFill>
                  <a:srgbClr val="3F7668"/>
                </a:solidFill>
                <a:latin typeface="Arial"/>
              </a:rPr>
              <a:t>PRICING</a:t>
            </a:r>
          </a:p>
          <a:p>
            <a:pPr algn="l">
              <a:lnSpc>
                <a:spcPct val="105000"/>
              </a:lnSpc>
            </a:pPr>
            <a:r>
              <a:rPr sz="1200" b="0" i="0">
                <a:solidFill>
                  <a:srgbClr val="251F21"/>
                </a:solidFill>
                <a:latin typeface="Arial"/>
              </a:rPr>
              <a:t>Bundled into job plans with usage quotas, mainly the higher tiers. No separate life price.</a:t>
            </a:r>
          </a:p>
        </p:txBody>
      </p:sp>
      <p:sp>
        <p:nvSpPr>
          <p:cNvPr id="29" name="TextBox 28"/>
          <p:cNvSpPr txBox="1"/>
          <p:nvPr/>
        </p:nvSpPr>
        <p:spPr>
          <a:xfrm>
            <a:off x="731520" y="5870448"/>
            <a:ext cx="10728655" cy="365760"/>
          </a:xfrm>
          <a:prstGeom prst="rect">
            <a:avLst/>
          </a:prstGeom>
          <a:noFill/>
        </p:spPr>
        <p:txBody>
          <a:bodyPr wrap="square" lIns="0" rIns="0" tIns="0" bIns="0" anchor="t">
            <a:noAutofit/>
          </a:bodyPr>
          <a:lstStyle/>
          <a:p>
            <a:pPr algn="l"/>
            <a:r>
              <a:rPr sz="1250" b="1" i="0">
                <a:solidFill>
                  <a:srgbClr val="3F7668"/>
                </a:solidFill>
                <a:latin typeface="Arial"/>
              </a:rPr>
              <a:t>Gated by data, not dates. Each stage is a reversible experiment against a job-agent-only control group; if it fails, it closes.</a:t>
            </a:r>
          </a:p>
        </p:txBody>
      </p:sp>
      <p:cxnSp>
        <p:nvCxnSpPr>
          <p:cNvPr id="30" name="Connector 29"/>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31"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Vision and roadmap. Only the job agent is live today.</a:t>
            </a:r>
            <a:r>
              <a:rPr sz="1000" b="0" i="0">
                <a:solidFill>
                  <a:srgbClr val="585254"/>
                </a:solidFill>
                <a:latin typeface="Arial"/>
              </a:rPr>
              <a:t>   Tsenta  ·  October 14, 2026</a:t>
            </a:r>
          </a:p>
        </p:txBody>
      </p:sp>
      <p:sp>
        <p:nvSpPr>
          <p:cNvPr id="32"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Job agent first. Life agent earned.</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HYPOTHESIS  ·  RETENTION FIRST, THEN THE NAME</a:t>
            </a:r>
          </a:p>
        </p:txBody>
      </p:sp>
      <p:sp>
        <p:nvSpPr>
          <p:cNvPr id="4" name="Step 1"/>
          <p:cNvSpPr/>
          <p:nvPr/>
        </p:nvSpPr>
        <p:spPr>
          <a:xfrm>
            <a:off x="731520" y="1691640"/>
            <a:ext cx="3301898" cy="1188720"/>
          </a:xfrm>
          <a:prstGeom prst="roundRect">
            <a:avLst>
              <a:gd name="adj" fmla="val 6000"/>
            </a:avLst>
          </a:prstGeom>
          <a:solidFill>
            <a:srgbClr val="E6F0ED"/>
          </a:solidFill>
          <a:ln w="12700">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18872" bIns="109728" wrap="square">
            <a:noAutofit/>
          </a:bodyPr>
          <a:lstStyle/>
          <a:p>
            <a:pPr algn="l">
              <a:spcAft>
                <a:spcPts val="300"/>
              </a:spcAft>
            </a:pPr>
            <a:r>
              <a:rPr sz="950" b="1" i="0" spc="80">
                <a:solidFill>
                  <a:srgbClr val="3F7668"/>
                </a:solidFill>
                <a:latin typeface="Arial"/>
              </a:rPr>
              <a:t>PROPOSED</a:t>
            </a:r>
          </a:p>
          <a:p>
            <a:pPr algn="l">
              <a:spcAft>
                <a:spcPts val="200"/>
              </a:spcAft>
            </a:pPr>
            <a:r>
              <a:rPr sz="1700" b="1" i="0">
                <a:solidFill>
                  <a:srgbClr val="251F21"/>
                </a:solidFill>
                <a:latin typeface="Arial"/>
              </a:rPr>
              <a:t>Job: in the search</a:t>
            </a:r>
          </a:p>
          <a:p>
            <a:pPr algn="l">
              <a:lnSpc>
                <a:spcPct val="104000"/>
              </a:lnSpc>
            </a:pPr>
            <a:r>
              <a:rPr sz="1250" b="0" i="0">
                <a:solidFill>
                  <a:srgbClr val="585254"/>
                </a:solidFill>
                <a:latin typeface="Arial"/>
              </a:rPr>
              <a:t>Reality checks from outcome patterns. Patterns, not promises.</a:t>
            </a:r>
          </a:p>
        </p:txBody>
      </p:sp>
      <p:cxnSp>
        <p:nvCxnSpPr>
          <p:cNvPr id="5" name="Step arrow 1"/>
          <p:cNvCxnSpPr/>
          <p:nvPr/>
        </p:nvCxnSpPr>
        <p:spPr>
          <a:xfrm>
            <a:off x="4088282" y="2286000"/>
            <a:ext cx="301752" cy="0"/>
          </a:xfrm>
          <a:prstGeom prst="line">
            <a:avLst/>
          </a:prstGeom>
          <a:ln w="15875">
            <a:solidFill>
              <a:srgbClr val="5852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Step 2"/>
          <p:cNvSpPr/>
          <p:nvPr/>
        </p:nvSpPr>
        <p:spPr>
          <a:xfrm>
            <a:off x="4444898" y="1691640"/>
            <a:ext cx="3301898" cy="1188720"/>
          </a:xfrm>
          <a:prstGeom prst="roundRect">
            <a:avLst>
              <a:gd name="adj" fmla="val 6000"/>
            </a:avLst>
          </a:prstGeom>
          <a:solidFill>
            <a:srgbClr val="E6F0ED"/>
          </a:solidFill>
          <a:ln w="12700">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18872" bIns="109728" wrap="square">
            <a:noAutofit/>
          </a:bodyPr>
          <a:lstStyle/>
          <a:p>
            <a:pPr algn="l">
              <a:spcAft>
                <a:spcPts val="300"/>
              </a:spcAft>
            </a:pPr>
            <a:r>
              <a:rPr sz="950" b="1" i="0" spc="80">
                <a:solidFill>
                  <a:srgbClr val="3F7668"/>
                </a:solidFill>
                <a:latin typeface="Arial"/>
              </a:rPr>
              <a:t>PROPOSED</a:t>
            </a:r>
          </a:p>
          <a:p>
            <a:pPr algn="l">
              <a:spcAft>
                <a:spcPts val="200"/>
              </a:spcAft>
            </a:pPr>
            <a:r>
              <a:rPr sz="1700" b="1" i="0">
                <a:solidFill>
                  <a:srgbClr val="251F21"/>
                </a:solidFill>
                <a:latin typeface="Arial"/>
              </a:rPr>
              <a:t>Career: continuity</a:t>
            </a:r>
          </a:p>
          <a:p>
            <a:pPr algn="l">
              <a:lnSpc>
                <a:spcPct val="104000"/>
              </a:lnSpc>
            </a:pPr>
            <a:r>
              <a:rPr sz="1250" b="0" i="0">
                <a:solidFill>
                  <a:srgbClr val="585254"/>
                </a:solidFill>
                <a:latin typeface="Arial"/>
              </a:rPr>
              <a:t>First interview to offer, offer to day 90, then between searches.</a:t>
            </a:r>
          </a:p>
        </p:txBody>
      </p:sp>
      <p:cxnSp>
        <p:nvCxnSpPr>
          <p:cNvPr id="7" name="Step arrow 2"/>
          <p:cNvCxnSpPr/>
          <p:nvPr/>
        </p:nvCxnSpPr>
        <p:spPr>
          <a:xfrm>
            <a:off x="7801660" y="2286000"/>
            <a:ext cx="301752" cy="0"/>
          </a:xfrm>
          <a:prstGeom prst="line">
            <a:avLst/>
          </a:prstGeom>
          <a:ln w="15875">
            <a:solidFill>
              <a:srgbClr val="5852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tep 3"/>
          <p:cNvSpPr/>
          <p:nvPr/>
        </p:nvSpPr>
        <p:spPr>
          <a:xfrm>
            <a:off x="8158276" y="1691640"/>
            <a:ext cx="3301898" cy="1188720"/>
          </a:xfrm>
          <a:prstGeom prst="roundRect">
            <a:avLst>
              <a:gd name="adj" fmla="val 6000"/>
            </a:avLst>
          </a:prstGeom>
          <a:solidFill>
            <a:srgbClr val="FFFFFF"/>
          </a:solidFill>
          <a:ln w="12700">
            <a:solidFill>
              <a:srgbClr val="585254"/>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182880" rIns="182880" tIns="118872" bIns="109728" wrap="square">
            <a:noAutofit/>
          </a:bodyPr>
          <a:lstStyle/>
          <a:p>
            <a:pPr algn="l">
              <a:spcAft>
                <a:spcPts val="300"/>
              </a:spcAft>
            </a:pPr>
            <a:r>
              <a:rPr sz="950" b="1" i="0" spc="80">
                <a:solidFill>
                  <a:srgbClr val="3F7668"/>
                </a:solidFill>
                <a:latin typeface="Arial"/>
              </a:rPr>
              <a:t>VISION, EXPERIMENT</a:t>
            </a:r>
          </a:p>
          <a:p>
            <a:pPr algn="l">
              <a:spcAft>
                <a:spcPts val="200"/>
              </a:spcAft>
            </a:pPr>
            <a:r>
              <a:rPr sz="1700" b="1" i="0">
                <a:solidFill>
                  <a:srgbClr val="251F21"/>
                </a:solidFill>
                <a:latin typeface="Arial"/>
              </a:rPr>
              <a:t>Life: earned</a:t>
            </a:r>
          </a:p>
          <a:p>
            <a:pPr algn="l">
              <a:lnSpc>
                <a:spcPct val="104000"/>
              </a:lnSpc>
            </a:pPr>
            <a:r>
              <a:rPr sz="1250" b="0" i="0">
                <a:solidFill>
                  <a:srgbClr val="585254"/>
                </a:solidFill>
                <a:latin typeface="Arial"/>
              </a:rPr>
              <a:t>Only what users ask for, and only after a gate passes.</a:t>
            </a:r>
          </a:p>
        </p:txBody>
      </p:sp>
      <p:sp>
        <p:nvSpPr>
          <p:cNvPr id="9" name="TextBox 8"/>
          <p:cNvSpPr txBox="1"/>
          <p:nvPr/>
        </p:nvSpPr>
        <p:spPr>
          <a:xfrm>
            <a:off x="731520" y="3127248"/>
            <a:ext cx="6263640" cy="274320"/>
          </a:xfrm>
          <a:prstGeom prst="rect">
            <a:avLst/>
          </a:prstGeom>
          <a:noFill/>
        </p:spPr>
        <p:txBody>
          <a:bodyPr wrap="square" lIns="0" rIns="0" tIns="0" bIns="0" anchor="t">
            <a:noAutofit/>
          </a:bodyPr>
          <a:lstStyle/>
          <a:p>
            <a:pPr algn="l"/>
            <a:r>
              <a:rPr sz="1050" b="1" i="0" spc="100">
                <a:solidFill>
                  <a:srgbClr val="3F7668"/>
                </a:solidFill>
                <a:latin typeface="Arial"/>
              </a:rPr>
              <a:t>THE EVIDENCE, AND THE RISK</a:t>
            </a:r>
          </a:p>
        </p:txBody>
      </p:sp>
      <p:cxnSp>
        <p:nvCxnSpPr>
          <p:cNvPr id="10" name="Connector 9"/>
          <p:cNvCxnSpPr/>
          <p:nvPr/>
        </p:nvCxnSpPr>
        <p:spPr>
          <a:xfrm>
            <a:off x="731520" y="3456432"/>
            <a:ext cx="626364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529584"/>
            <a:ext cx="1188720" cy="365760"/>
          </a:xfrm>
          <a:prstGeom prst="rect">
            <a:avLst/>
          </a:prstGeom>
          <a:noFill/>
        </p:spPr>
        <p:txBody>
          <a:bodyPr wrap="square" lIns="0" rIns="0" tIns="0" bIns="0" anchor="t">
            <a:noAutofit/>
          </a:bodyPr>
          <a:lstStyle/>
          <a:p>
            <a:pPr algn="l"/>
            <a:r>
              <a:rPr sz="1350" b="1" i="0">
                <a:solidFill>
                  <a:srgbClr val="251F21"/>
                </a:solidFill>
                <a:latin typeface="Arial"/>
              </a:rPr>
              <a:t>Need</a:t>
            </a:r>
          </a:p>
        </p:txBody>
      </p:sp>
      <p:sp>
        <p:nvSpPr>
          <p:cNvPr id="12" name="TextBox 11"/>
          <p:cNvSpPr txBox="1"/>
          <p:nvPr/>
        </p:nvSpPr>
        <p:spPr>
          <a:xfrm>
            <a:off x="1965960" y="3529584"/>
            <a:ext cx="5029200" cy="64008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54.4% of surveyed new hires stop searching (ZipRecruiter, 2025); 12% strongly agree onboarding is done well (Gallup, 2018). General need, not demand for Tsenta.</a:t>
            </a:r>
          </a:p>
        </p:txBody>
      </p:sp>
      <p:cxnSp>
        <p:nvCxnSpPr>
          <p:cNvPr id="13" name="Connector 12"/>
          <p:cNvCxnSpPr/>
          <p:nvPr/>
        </p:nvCxnSpPr>
        <p:spPr>
          <a:xfrm>
            <a:off x="731520" y="4206240"/>
            <a:ext cx="626364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279392"/>
            <a:ext cx="1188720" cy="365760"/>
          </a:xfrm>
          <a:prstGeom prst="rect">
            <a:avLst/>
          </a:prstGeom>
          <a:noFill/>
        </p:spPr>
        <p:txBody>
          <a:bodyPr wrap="square" lIns="0" rIns="0" tIns="0" bIns="0" anchor="t">
            <a:noAutofit/>
          </a:bodyPr>
          <a:lstStyle/>
          <a:p>
            <a:pPr algn="l"/>
            <a:r>
              <a:rPr sz="1350" b="1" i="0">
                <a:solidFill>
                  <a:srgbClr val="251F21"/>
                </a:solidFill>
                <a:latin typeface="Arial"/>
              </a:rPr>
              <a:t>Precedent</a:t>
            </a:r>
          </a:p>
        </p:txBody>
      </p:sp>
      <p:sp>
        <p:nvSpPr>
          <p:cNvPr id="15" name="TextBox 14"/>
          <p:cNvSpPr txBox="1"/>
          <p:nvPr/>
        </p:nvSpPr>
        <p:spPr>
          <a:xfrm>
            <a:off x="1965960" y="4279392"/>
            <a:ext cx="5029200" cy="64008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Facebook M, a do-anything assistant, shut down in 2018. Hinge stays narrow ("designed to be deleted"); its direct revenue grew 25% in Q2 2025.</a:t>
            </a:r>
          </a:p>
        </p:txBody>
      </p:sp>
      <p:cxnSp>
        <p:nvCxnSpPr>
          <p:cNvPr id="16" name="Connector 15"/>
          <p:cNvCxnSpPr/>
          <p:nvPr/>
        </p:nvCxnSpPr>
        <p:spPr>
          <a:xfrm>
            <a:off x="731520" y="4956048"/>
            <a:ext cx="626364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5029200"/>
            <a:ext cx="1188720" cy="365760"/>
          </a:xfrm>
          <a:prstGeom prst="rect">
            <a:avLst/>
          </a:prstGeom>
          <a:noFill/>
        </p:spPr>
        <p:txBody>
          <a:bodyPr wrap="square" lIns="0" rIns="0" tIns="0" bIns="0" anchor="t">
            <a:noAutofit/>
          </a:bodyPr>
          <a:lstStyle/>
          <a:p>
            <a:pPr algn="l"/>
            <a:r>
              <a:rPr sz="1350" b="1" i="0">
                <a:solidFill>
                  <a:srgbClr val="251F21"/>
                </a:solidFill>
                <a:latin typeface="Arial"/>
              </a:rPr>
              <a:t>Risk</a:t>
            </a:r>
          </a:p>
        </p:txBody>
      </p:sp>
      <p:sp>
        <p:nvSpPr>
          <p:cNvPr id="18" name="TextBox 17"/>
          <p:cNvSpPr txBox="1"/>
          <p:nvPr/>
        </p:nvSpPr>
        <p:spPr>
          <a:xfrm>
            <a:off x="1965960" y="5029200"/>
            <a:ext cx="5029200" cy="64008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In a bounded search we found no job-tool churn data and no proof users want life help. Measure goal-reached retention vs a control; offer rate no worse.</a:t>
            </a:r>
          </a:p>
        </p:txBody>
      </p:sp>
      <p:sp>
        <p:nvSpPr>
          <p:cNvPr id="19" name="Rebrand"/>
          <p:cNvSpPr/>
          <p:nvPr/>
        </p:nvSpPr>
        <p:spPr>
          <a:xfrm>
            <a:off x="7315200" y="3127248"/>
            <a:ext cx="4144975" cy="2578608"/>
          </a:xfrm>
          <a:prstGeom prst="roundRect">
            <a:avLst>
              <a:gd name="adj" fmla="val 5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09728" wrap="square">
            <a:noAutofit/>
          </a:bodyPr>
          <a:lstStyle/>
          <a:p>
            <a:pPr algn="l">
              <a:spcAft>
                <a:spcPts val="600"/>
              </a:spcAft>
            </a:pPr>
            <a:r>
              <a:rPr sz="1050" b="1" i="0" spc="100">
                <a:solidFill>
                  <a:srgbClr val="3F7668"/>
                </a:solidFill>
                <a:latin typeface="Arial"/>
              </a:rPr>
              <a:t>A REBRAND, ONLY AFTER DEMAND</a:t>
            </a:r>
          </a:p>
          <a:p>
            <a:pPr algn="l">
              <a:lnSpc>
                <a:spcPct val="103000"/>
              </a:lnSpc>
              <a:spcAft>
                <a:spcPts val="300"/>
              </a:spcAft>
            </a:pPr>
            <a:r>
              <a:rPr sz="1200" b="1" i="0">
                <a:solidFill>
                  <a:srgbClr val="251F21"/>
                </a:solidFill>
                <a:latin typeface="Arial"/>
              </a:rPr>
              <a:t>Name: </a:t>
            </a:r>
            <a:r>
              <a:rPr sz="1200" b="0" i="0">
                <a:solidFill>
                  <a:srgbClr val="585254"/>
                </a:solidFill>
                <a:latin typeface="Arial"/>
              </a:rPr>
              <a:t>Tsenta stays until a second product</a:t>
            </a:r>
          </a:p>
          <a:p>
            <a:pPr algn="l">
              <a:lnSpc>
                <a:spcPct val="103000"/>
              </a:lnSpc>
              <a:spcAft>
                <a:spcPts val="300"/>
              </a:spcAft>
            </a:pPr>
            <a:r>
              <a:rPr sz="1200" b="1" i="0">
                <a:solidFill>
                  <a:srgbClr val="251F21"/>
                </a:solidFill>
                <a:latin typeface="Arial"/>
              </a:rPr>
              <a:t>Positioning: </a:t>
            </a:r>
            <a:r>
              <a:rPr sz="1200" b="0" i="0">
                <a:solidFill>
                  <a:srgbClr val="585254"/>
                </a:solidFill>
                <a:latin typeface="Arial"/>
              </a:rPr>
              <a:t>job first; the pilot is an opt-in beta</a:t>
            </a:r>
          </a:p>
          <a:p>
            <a:pPr algn="l">
              <a:lnSpc>
                <a:spcPct val="103000"/>
              </a:lnSpc>
              <a:spcAft>
                <a:spcPts val="300"/>
              </a:spcAft>
            </a:pPr>
            <a:r>
              <a:rPr sz="1200" b="1" i="0">
                <a:solidFill>
                  <a:srgbClr val="251F21"/>
                </a:solidFill>
                <a:latin typeface="Arial"/>
              </a:rPr>
              <a:t>Channels: </a:t>
            </a:r>
            <a:r>
              <a:rPr sz="1200" b="0" i="0">
                <a:solidFill>
                  <a:srgbClr val="585254"/>
                </a:solidFill>
                <a:latin typeface="Arial"/>
              </a:rPr>
              <a:t>10 WhatsApp name changes per 30 days</a:t>
            </a:r>
          </a:p>
          <a:p>
            <a:pPr algn="l">
              <a:lnSpc>
                <a:spcPct val="103000"/>
              </a:lnSpc>
              <a:spcAft>
                <a:spcPts val="300"/>
              </a:spcAft>
            </a:pPr>
            <a:r>
              <a:rPr sz="1200" b="1" i="0">
                <a:solidFill>
                  <a:srgbClr val="251F21"/>
                </a:solidFill>
                <a:latin typeface="Arial"/>
              </a:rPr>
              <a:t>Domains, docs: </a:t>
            </a:r>
            <a:r>
              <a:rPr sz="1200" b="0" i="0">
                <a:solidFill>
                  <a:srgbClr val="585254"/>
                </a:solidFill>
                <a:latin typeface="Arial"/>
              </a:rPr>
              <a:t>redirects, generally a year or more</a:t>
            </a:r>
          </a:p>
          <a:p>
            <a:pPr algn="l">
              <a:lnSpc>
                <a:spcPct val="103000"/>
              </a:lnSpc>
              <a:spcAft>
                <a:spcPts val="300"/>
              </a:spcAft>
            </a:pPr>
            <a:r>
              <a:rPr sz="1200" b="1" i="0">
                <a:solidFill>
                  <a:srgbClr val="251F21"/>
                </a:solidFill>
                <a:latin typeface="Arial"/>
              </a:rPr>
              <a:t>Trust: </a:t>
            </a:r>
            <a:r>
              <a:rPr sz="1200" b="0" i="0">
                <a:solidFill>
                  <a:srgbClr val="585254"/>
                </a:solidFill>
                <a:latin typeface="Arial"/>
              </a:rPr>
              <a:t>an OAuth name change needs brand verification</a:t>
            </a:r>
          </a:p>
          <a:p>
            <a:pPr algn="l">
              <a:lnSpc>
                <a:spcPct val="103000"/>
              </a:lnSpc>
              <a:spcAft>
                <a:spcPts val="300"/>
              </a:spcAft>
            </a:pPr>
            <a:r>
              <a:rPr sz="1200" b="1" i="0">
                <a:solidFill>
                  <a:srgbClr val="251F21"/>
                </a:solidFill>
                <a:latin typeface="Arial"/>
              </a:rPr>
              <a:t>Migration: </a:t>
            </a:r>
            <a:r>
              <a:rPr sz="1200" b="0" i="0">
                <a:solidFill>
                  <a:srgbClr val="585254"/>
                </a:solidFill>
                <a:latin typeface="Arial"/>
              </a:rPr>
              <a:t>job value kept; no automatic wider data use</a:t>
            </a:r>
          </a:p>
          <a:p>
            <a:pPr algn="l"/>
            <a:r>
              <a:rPr sz="1200" b="1" i="0">
                <a:solidFill>
                  <a:srgbClr val="3F7668"/>
                </a:solidFill>
                <a:latin typeface="Arial"/>
              </a:rPr>
              <a:t>Sequence: demand first, then the name.</a:t>
            </a:r>
          </a:p>
        </p:txBody>
      </p:sp>
      <p:sp>
        <p:nvSpPr>
          <p:cNvPr id="20" name="TextBox 19"/>
          <p:cNvSpPr txBox="1"/>
          <p:nvPr/>
        </p:nvSpPr>
        <p:spPr>
          <a:xfrm>
            <a:off x="731520" y="5833872"/>
            <a:ext cx="10728655" cy="411480"/>
          </a:xfrm>
          <a:prstGeom prst="rect">
            <a:avLst/>
          </a:prstGeom>
          <a:noFill/>
        </p:spPr>
        <p:txBody>
          <a:bodyPr wrap="square" lIns="0" rIns="0" tIns="0" bIns="0" anchor="t">
            <a:noAutofit/>
          </a:bodyPr>
          <a:lstStyle/>
          <a:p>
            <a:pPr algn="l">
              <a:lnSpc>
                <a:spcPct val="105000"/>
              </a:lnSpc>
            </a:pPr>
            <a:r>
              <a:rPr sz="1350" b="1" i="0">
                <a:solidFill>
                  <a:srgbClr val="3F7668"/>
                </a:solidFill>
                <a:latin typeface="Arial"/>
              </a:rPr>
              <a:t>Success is the user's goal. Never slow a search to keep a subscriber; retain through new, useful, consented work.</a:t>
            </a:r>
          </a:p>
        </p:txBody>
      </p:sp>
      <p:cxnSp>
        <p:nvCxnSpPr>
          <p:cNvPr id="21" name="Connector 20"/>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2"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Vision and roadmap. Only the job agent is live today.</a:t>
            </a:r>
            <a:r>
              <a:rPr sz="1000" b="0" i="0">
                <a:solidFill>
                  <a:srgbClr val="585254"/>
                </a:solidFill>
                <a:latin typeface="Arial"/>
              </a:rPr>
              <a:t>   Tsenta  ·  October 14, 2026</a:t>
            </a:r>
          </a:p>
        </p:txBody>
      </p:sp>
      <p:sp>
        <p:nvSpPr>
          <p:cNvPr id="23"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9</a:t>
            </a:r>
          </a:p>
        </p:txBody>
      </p:sp>
      <p:sp>
        <p:nvSpPr>
          <p:cNvPr id="24"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ZipRecruiter, Gallup, Match Group, TechCrunch, Google, Meta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One brain: your goal, one record, a loop, and your yes.</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PROPOSED  ·  THE CORE</a:t>
            </a:r>
          </a:p>
        </p:txBody>
      </p:sp>
      <p:sp>
        <p:nvSpPr>
          <p:cNvPr id="4" name="Step 1 Your goal"/>
          <p:cNvSpPr/>
          <p:nvPr/>
        </p:nvSpPr>
        <p:spPr>
          <a:xfrm>
            <a:off x="731520" y="2286000"/>
            <a:ext cx="1867753" cy="2240280"/>
          </a:xfrm>
          <a:prstGeom prst="roundRect">
            <a:avLst>
              <a:gd name="adj" fmla="val 5000"/>
            </a:avLst>
          </a:prstGeom>
          <a:solidFill>
            <a:srgbClr val="FFFFFF"/>
          </a:solidFill>
          <a:ln w="12700">
            <a:solidFill>
              <a:srgbClr val="E4E0DD"/>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201168" bIns="109728" wrap="square">
            <a:noAutofit/>
          </a:bodyPr>
          <a:lstStyle/>
          <a:p>
            <a:pPr algn="l">
              <a:spcAft>
                <a:spcPts val="600"/>
              </a:spcAft>
            </a:pPr>
            <a:r>
              <a:rPr sz="1300" b="1" i="0">
                <a:solidFill>
                  <a:srgbClr val="3F7668"/>
                </a:solidFill>
                <a:latin typeface="Arial"/>
              </a:rPr>
              <a:t>1</a:t>
            </a:r>
          </a:p>
          <a:p>
            <a:pPr algn="l">
              <a:spcAft>
                <a:spcPts val="800"/>
              </a:spcAft>
            </a:pPr>
            <a:r>
              <a:rPr sz="2000" b="1" i="0">
                <a:solidFill>
                  <a:srgbClr val="251F21"/>
                </a:solidFill>
                <a:latin typeface="Arial"/>
              </a:rPr>
              <a:t>Your goal</a:t>
            </a:r>
          </a:p>
          <a:p>
            <a:pPr algn="l">
              <a:lnSpc>
                <a:spcPct val="110000"/>
              </a:lnSpc>
            </a:pPr>
            <a:r>
              <a:rPr sz="1350" b="0" i="0">
                <a:solidFill>
                  <a:srgbClr val="585254"/>
                </a:solidFill>
                <a:latin typeface="Arial"/>
              </a:rPr>
              <a:t>What you are working toward, in your words. Asked once, revised anytime.</a:t>
            </a:r>
          </a:p>
        </p:txBody>
      </p:sp>
      <p:sp>
        <p:nvSpPr>
          <p:cNvPr id="5" name="Step 2 One record"/>
          <p:cNvSpPr/>
          <p:nvPr/>
        </p:nvSpPr>
        <p:spPr>
          <a:xfrm>
            <a:off x="2946745" y="2286000"/>
            <a:ext cx="1867753" cy="2240280"/>
          </a:xfrm>
          <a:prstGeom prst="roundRect">
            <a:avLst>
              <a:gd name="adj" fmla="val 5000"/>
            </a:avLst>
          </a:prstGeom>
          <a:solidFill>
            <a:srgbClr val="FFFFFF"/>
          </a:solidFill>
          <a:ln w="12700">
            <a:solidFill>
              <a:srgbClr val="E4E0DD"/>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201168" bIns="109728" wrap="square">
            <a:noAutofit/>
          </a:bodyPr>
          <a:lstStyle/>
          <a:p>
            <a:pPr algn="l">
              <a:spcAft>
                <a:spcPts val="600"/>
              </a:spcAft>
            </a:pPr>
            <a:r>
              <a:rPr sz="1300" b="1" i="0">
                <a:solidFill>
                  <a:srgbClr val="3F7668"/>
                </a:solidFill>
                <a:latin typeface="Arial"/>
              </a:rPr>
              <a:t>2</a:t>
            </a:r>
          </a:p>
          <a:p>
            <a:pPr algn="l">
              <a:spcAft>
                <a:spcPts val="800"/>
              </a:spcAft>
            </a:pPr>
            <a:r>
              <a:rPr sz="2000" b="1" i="0">
                <a:solidFill>
                  <a:srgbClr val="251F21"/>
                </a:solidFill>
                <a:latin typeface="Arial"/>
              </a:rPr>
              <a:t>One record</a:t>
            </a:r>
          </a:p>
          <a:p>
            <a:pPr algn="l">
              <a:lnSpc>
                <a:spcPct val="110000"/>
              </a:lnSpc>
            </a:pPr>
            <a:r>
              <a:rPr sz="1350" b="0" i="0">
                <a:solidFill>
                  <a:srgbClr val="585254"/>
                </a:solidFill>
                <a:latin typeface="Arial"/>
              </a:rPr>
              <a:t>Applications, deadlines, replies, outcomes. Unknown stays unknown.</a:t>
            </a:r>
          </a:p>
        </p:txBody>
      </p:sp>
      <p:cxnSp>
        <p:nvCxnSpPr>
          <p:cNvPr id="6" name="Arrow 1"/>
          <p:cNvCxnSpPr/>
          <p:nvPr/>
        </p:nvCxnSpPr>
        <p:spPr>
          <a:xfrm>
            <a:off x="2644993" y="3406140"/>
            <a:ext cx="256032" cy="0"/>
          </a:xfrm>
          <a:prstGeom prst="line">
            <a:avLst/>
          </a:prstGeom>
          <a:ln w="15875">
            <a:solidFill>
              <a:srgbClr val="5852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Step 3 The loop"/>
          <p:cNvSpPr/>
          <p:nvPr/>
        </p:nvSpPr>
        <p:spPr>
          <a:xfrm>
            <a:off x="5161970" y="2286000"/>
            <a:ext cx="1867753" cy="2240280"/>
          </a:xfrm>
          <a:prstGeom prst="roundRect">
            <a:avLst>
              <a:gd name="adj" fmla="val 5000"/>
            </a:avLst>
          </a:prstGeom>
          <a:solidFill>
            <a:srgbClr val="FFFFFF"/>
          </a:solidFill>
          <a:ln w="12700">
            <a:solidFill>
              <a:srgbClr val="E4E0DD"/>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201168" bIns="109728" wrap="square">
            <a:noAutofit/>
          </a:bodyPr>
          <a:lstStyle/>
          <a:p>
            <a:pPr algn="l">
              <a:spcAft>
                <a:spcPts val="600"/>
              </a:spcAft>
            </a:pPr>
            <a:r>
              <a:rPr sz="1300" b="1" i="0">
                <a:solidFill>
                  <a:srgbClr val="3F7668"/>
                </a:solidFill>
                <a:latin typeface="Arial"/>
              </a:rPr>
              <a:t>3</a:t>
            </a:r>
          </a:p>
          <a:p>
            <a:pPr algn="l">
              <a:spcAft>
                <a:spcPts val="800"/>
              </a:spcAft>
            </a:pPr>
            <a:r>
              <a:rPr sz="2000" b="1" i="0">
                <a:solidFill>
                  <a:srgbClr val="251F21"/>
                </a:solidFill>
                <a:latin typeface="Arial"/>
              </a:rPr>
              <a:t>The loop</a:t>
            </a:r>
          </a:p>
          <a:p>
            <a:pPr algn="l">
              <a:lnSpc>
                <a:spcPct val="110000"/>
              </a:lnSpc>
            </a:pPr>
            <a:r>
              <a:rPr sz="1350" b="0" i="0">
                <a:solidFill>
                  <a:srgbClr val="585254"/>
                </a:solidFill>
                <a:latin typeface="Arial"/>
              </a:rPr>
              <a:t>Something changes. Speak, or stay quiet. At most one note a week to start.</a:t>
            </a:r>
          </a:p>
        </p:txBody>
      </p:sp>
      <p:cxnSp>
        <p:nvCxnSpPr>
          <p:cNvPr id="8" name="Arrow 2"/>
          <p:cNvCxnSpPr/>
          <p:nvPr/>
        </p:nvCxnSpPr>
        <p:spPr>
          <a:xfrm>
            <a:off x="4860218" y="3406140"/>
            <a:ext cx="256032" cy="0"/>
          </a:xfrm>
          <a:prstGeom prst="line">
            <a:avLst/>
          </a:prstGeom>
          <a:ln w="15875">
            <a:solidFill>
              <a:srgbClr val="5852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Step 4 Your yes"/>
          <p:cNvSpPr/>
          <p:nvPr/>
        </p:nvSpPr>
        <p:spPr>
          <a:xfrm>
            <a:off x="7377195" y="2286000"/>
            <a:ext cx="1867753" cy="2240280"/>
          </a:xfrm>
          <a:prstGeom prst="roundRect">
            <a:avLst>
              <a:gd name="adj" fmla="val 5000"/>
            </a:avLst>
          </a:prstGeom>
          <a:solidFill>
            <a:srgbClr val="E6F0ED"/>
          </a:solidFill>
          <a:ln w="15875">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201168" bIns="109728" wrap="square">
            <a:noAutofit/>
          </a:bodyPr>
          <a:lstStyle/>
          <a:p>
            <a:pPr algn="l">
              <a:spcAft>
                <a:spcPts val="600"/>
              </a:spcAft>
            </a:pPr>
            <a:r>
              <a:rPr sz="1300" b="1" i="0">
                <a:solidFill>
                  <a:srgbClr val="3F7668"/>
                </a:solidFill>
                <a:latin typeface="Arial"/>
              </a:rPr>
              <a:t>4</a:t>
            </a:r>
          </a:p>
          <a:p>
            <a:pPr algn="l">
              <a:spcAft>
                <a:spcPts val="800"/>
              </a:spcAft>
            </a:pPr>
            <a:r>
              <a:rPr sz="2000" b="1" i="0">
                <a:solidFill>
                  <a:srgbClr val="251F21"/>
                </a:solidFill>
                <a:latin typeface="Arial"/>
              </a:rPr>
              <a:t>Your yes</a:t>
            </a:r>
          </a:p>
          <a:p>
            <a:pPr algn="l">
              <a:lnSpc>
                <a:spcPct val="110000"/>
              </a:lnSpc>
            </a:pPr>
            <a:r>
              <a:rPr sz="1350" b="0" i="0">
                <a:solidFill>
                  <a:srgbClr val="585254"/>
                </a:solidFill>
                <a:latin typeface="Arial"/>
              </a:rPr>
              <a:t>Shown the exact action. Collected by Tsenta, bound to one version, used once.</a:t>
            </a:r>
          </a:p>
        </p:txBody>
      </p:sp>
      <p:cxnSp>
        <p:nvCxnSpPr>
          <p:cNvPr id="10" name="Arrow 3"/>
          <p:cNvCxnSpPr/>
          <p:nvPr/>
        </p:nvCxnSpPr>
        <p:spPr>
          <a:xfrm>
            <a:off x="7075443" y="3406140"/>
            <a:ext cx="256032" cy="0"/>
          </a:xfrm>
          <a:prstGeom prst="line">
            <a:avLst/>
          </a:prstGeom>
          <a:ln w="15875">
            <a:solidFill>
              <a:srgbClr val="5852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Step 5 Act and record"/>
          <p:cNvSpPr/>
          <p:nvPr/>
        </p:nvSpPr>
        <p:spPr>
          <a:xfrm>
            <a:off x="9592420" y="2286000"/>
            <a:ext cx="1867753" cy="2240280"/>
          </a:xfrm>
          <a:prstGeom prst="roundRect">
            <a:avLst>
              <a:gd name="adj" fmla="val 5000"/>
            </a:avLst>
          </a:prstGeom>
          <a:solidFill>
            <a:srgbClr val="FFFFFF"/>
          </a:solidFill>
          <a:ln w="12700">
            <a:solidFill>
              <a:srgbClr val="E4E0DD"/>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201168" bIns="109728" wrap="square">
            <a:noAutofit/>
          </a:bodyPr>
          <a:lstStyle/>
          <a:p>
            <a:pPr algn="l">
              <a:spcAft>
                <a:spcPts val="600"/>
              </a:spcAft>
            </a:pPr>
            <a:r>
              <a:rPr sz="1300" b="1" i="0">
                <a:solidFill>
                  <a:srgbClr val="3F7668"/>
                </a:solidFill>
                <a:latin typeface="Arial"/>
              </a:rPr>
              <a:t>5</a:t>
            </a:r>
          </a:p>
          <a:p>
            <a:pPr algn="l">
              <a:spcAft>
                <a:spcPts val="800"/>
              </a:spcAft>
            </a:pPr>
            <a:r>
              <a:rPr sz="2000" b="1" i="0">
                <a:solidFill>
                  <a:srgbClr val="251F21"/>
                </a:solidFill>
                <a:latin typeface="Arial"/>
              </a:rPr>
              <a:t>Act and record</a:t>
            </a:r>
          </a:p>
          <a:p>
            <a:pPr algn="l">
              <a:lnSpc>
                <a:spcPct val="110000"/>
              </a:lnSpc>
            </a:pPr>
            <a:r>
              <a:rPr sz="1350" b="0" i="0">
                <a:solidFill>
                  <a:srgbClr val="585254"/>
                </a:solidFill>
                <a:latin typeface="Arial"/>
              </a:rPr>
              <a:t>Do it, keep the receipt, write the outcome back.</a:t>
            </a:r>
          </a:p>
        </p:txBody>
      </p:sp>
      <p:cxnSp>
        <p:nvCxnSpPr>
          <p:cNvPr id="12" name="Arrow 4"/>
          <p:cNvCxnSpPr/>
          <p:nvPr/>
        </p:nvCxnSpPr>
        <p:spPr>
          <a:xfrm>
            <a:off x="9290668" y="3406140"/>
            <a:ext cx="256032" cy="0"/>
          </a:xfrm>
          <a:prstGeom prst="line">
            <a:avLst/>
          </a:prstGeom>
          <a:ln w="15875">
            <a:solidFill>
              <a:srgbClr val="5852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Return down"/>
          <p:cNvCxnSpPr/>
          <p:nvPr/>
        </p:nvCxnSpPr>
        <p:spPr>
          <a:xfrm>
            <a:off x="10526296" y="4526280"/>
            <a:ext cx="0" cy="384048"/>
          </a:xfrm>
          <a:prstGeom prst="line">
            <a:avLst/>
          </a:prstGeom>
          <a:ln w="19050">
            <a:solidFill>
              <a:srgbClr val="73A89A"/>
            </a:solidFill>
          </a:ln>
        </p:spPr>
        <p:style>
          <a:lnRef idx="2">
            <a:schemeClr val="accent1"/>
          </a:lnRef>
          <a:fillRef idx="0">
            <a:schemeClr val="accent1"/>
          </a:fillRef>
          <a:effectRef idx="1">
            <a:schemeClr val="accent1"/>
          </a:effectRef>
          <a:fontRef idx="minor">
            <a:schemeClr val="tx1"/>
          </a:fontRef>
        </p:style>
      </p:cxnSp>
      <p:cxnSp>
        <p:nvCxnSpPr>
          <p:cNvPr id="14" name="Return across"/>
          <p:cNvCxnSpPr/>
          <p:nvPr/>
        </p:nvCxnSpPr>
        <p:spPr>
          <a:xfrm flipH="1">
            <a:off x="3880621" y="4910328"/>
            <a:ext cx="6645675" cy="0"/>
          </a:xfrm>
          <a:prstGeom prst="line">
            <a:avLst/>
          </a:prstGeom>
          <a:ln w="19050">
            <a:solidFill>
              <a:srgbClr val="73A89A"/>
            </a:solidFill>
          </a:ln>
        </p:spPr>
        <p:style>
          <a:lnRef idx="2">
            <a:schemeClr val="accent1"/>
          </a:lnRef>
          <a:fillRef idx="0">
            <a:schemeClr val="accent1"/>
          </a:fillRef>
          <a:effectRef idx="1">
            <a:schemeClr val="accent1"/>
          </a:effectRef>
          <a:fontRef idx="minor">
            <a:schemeClr val="tx1"/>
          </a:fontRef>
        </p:style>
      </p:cxnSp>
      <p:cxnSp>
        <p:nvCxnSpPr>
          <p:cNvPr id="15" name="Return up"/>
          <p:cNvCxnSpPr/>
          <p:nvPr/>
        </p:nvCxnSpPr>
        <p:spPr>
          <a:xfrm flipV="1">
            <a:off x="3880621" y="4553712"/>
            <a:ext cx="0" cy="356616"/>
          </a:xfrm>
          <a:prstGeom prst="line">
            <a:avLst/>
          </a:prstGeom>
          <a:ln w="19050">
            <a:solidFill>
              <a:srgbClr val="73A89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154941" y="4983480"/>
            <a:ext cx="6097035" cy="320040"/>
          </a:xfrm>
          <a:prstGeom prst="rect">
            <a:avLst/>
          </a:prstGeom>
          <a:noFill/>
        </p:spPr>
        <p:txBody>
          <a:bodyPr wrap="square" lIns="0" rIns="0" tIns="0" bIns="0" anchor="t">
            <a:noAutofit/>
          </a:bodyPr>
          <a:lstStyle/>
          <a:p>
            <a:pPr algn="ctr"/>
            <a:r>
              <a:rPr sz="1300" b="1" i="0">
                <a:solidFill>
                  <a:srgbClr val="3F7668"/>
                </a:solidFill>
                <a:latin typeface="Arial"/>
              </a:rPr>
              <a:t>Outcomes change the next step.</a:t>
            </a:r>
          </a:p>
        </p:txBody>
      </p:sp>
      <p:sp>
        <p:nvSpPr>
          <p:cNvPr id="17" name="TextBox 16"/>
          <p:cNvSpPr txBox="1"/>
          <p:nvPr/>
        </p:nvSpPr>
        <p:spPr>
          <a:xfrm>
            <a:off x="731520" y="5596128"/>
            <a:ext cx="10728655" cy="594360"/>
          </a:xfrm>
          <a:prstGeom prst="rect">
            <a:avLst/>
          </a:prstGeom>
          <a:noFill/>
        </p:spPr>
        <p:txBody>
          <a:bodyPr wrap="square" lIns="0" rIns="0" tIns="0" bIns="0" anchor="t">
            <a:noAutofit/>
          </a:bodyPr>
          <a:lstStyle/>
          <a:p>
            <a:pPr algn="l">
              <a:lnSpc>
                <a:spcPct val="105000"/>
              </a:lnSpc>
            </a:pPr>
            <a:r>
              <a:rPr sz="1550" b="1" i="0">
                <a:solidFill>
                  <a:srgbClr val="251F21"/>
                </a:solidFill>
                <a:latin typeface="Arial"/>
              </a:rPr>
              <a:t>Tsenta owns the core and each user's career record, not any host's memory; the runtime and model stay swappable. Being evaluated, not selected: OpenClaw as the worker against a thin-SDK baseline (appendix A7).</a:t>
            </a:r>
          </a:p>
        </p:txBody>
      </p:sp>
      <p:cxnSp>
        <p:nvCxnSpPr>
          <p:cNvPr id="18" name="Connector 17"/>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9"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20"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Your agent or Tsenta's, one core underneath.</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PROPOSED  ·  THE ARCHITECTURE FOR BOTH PATHS</a:t>
            </a:r>
          </a:p>
        </p:txBody>
      </p:sp>
      <p:sp>
        <p:nvSpPr>
          <p:cNvPr id="4" name="Owned channels"/>
          <p:cNvSpPr/>
          <p:nvPr/>
        </p:nvSpPr>
        <p:spPr>
          <a:xfrm>
            <a:off x="731520" y="2331720"/>
            <a:ext cx="3154680" cy="2286000"/>
          </a:xfrm>
          <a:prstGeom prst="roundRect">
            <a:avLst>
              <a:gd name="adj" fmla="val 5000"/>
            </a:avLst>
          </a:prstGeom>
          <a:solidFill>
            <a:srgbClr val="FFFFFF"/>
          </a:solidFill>
          <a:ln w="12700">
            <a:solidFill>
              <a:srgbClr val="E4E0DD"/>
            </a:solidFill>
          </a:ln>
          <a:effectLst/>
        </p:spPr>
        <p:style>
          <a:lnRef idx="1">
            <a:schemeClr val="accent1"/>
          </a:lnRef>
          <a:fillRef idx="3">
            <a:schemeClr val="accent1"/>
          </a:fillRef>
          <a:effectRef idx="2">
            <a:schemeClr val="accent1"/>
          </a:effectRef>
          <a:fontRef idx="minor">
            <a:schemeClr val="lt1"/>
          </a:fontRef>
        </p:style>
        <p:txBody>
          <a:bodyPr rtlCol="0" anchor="t" lIns="219456" rIns="219456" tIns="201168" bIns="109728" wrap="square">
            <a:noAutofit/>
          </a:bodyPr>
          <a:lstStyle/>
          <a:p>
            <a:pPr algn="l">
              <a:spcAft>
                <a:spcPts val="600"/>
              </a:spcAft>
            </a:pPr>
            <a:r>
              <a:rPr sz="1100" b="1" i="0" spc="100">
                <a:solidFill>
                  <a:srgbClr val="3F7668"/>
                </a:solidFill>
                <a:latin typeface="Arial"/>
              </a:rPr>
              <a:t>SWITCH, OR NO AGENT YET</a:t>
            </a:r>
          </a:p>
          <a:p>
            <a:pPr algn="l">
              <a:spcAft>
                <a:spcPts val="600"/>
              </a:spcAft>
            </a:pPr>
            <a:r>
              <a:rPr sz="1700" b="1" i="0">
                <a:solidFill>
                  <a:srgbClr val="251F21"/>
                </a:solidFill>
                <a:latin typeface="Arial"/>
              </a:rPr>
              <a:t>Tsenta's own agent</a:t>
            </a:r>
          </a:p>
          <a:p>
            <a:pPr algn="l">
              <a:lnSpc>
                <a:spcPct val="110000"/>
              </a:lnSpc>
            </a:pPr>
            <a:r>
              <a:rPr sz="1300" b="0" i="0">
                <a:solidFill>
                  <a:srgbClr val="585254"/>
                </a:solidFill>
                <a:latin typeface="Arial"/>
              </a:rPr>
              <a:t>iMessage, WhatsApp, app, web. Tsenta can speak first after the user opts in, within each channel's rules; the fallback for any host without a wake path.</a:t>
            </a:r>
          </a:p>
        </p:txBody>
      </p:sp>
      <p:sp>
        <p:nvSpPr>
          <p:cNvPr id="5" name="Tsenta core"/>
          <p:cNvSpPr/>
          <p:nvPr/>
        </p:nvSpPr>
        <p:spPr>
          <a:xfrm>
            <a:off x="4526280" y="2514600"/>
            <a:ext cx="2926080" cy="1920240"/>
          </a:xfrm>
          <a:prstGeom prst="roundRect">
            <a:avLst>
              <a:gd name="adj" fmla="val 6000"/>
            </a:avLst>
          </a:prstGeom>
          <a:solidFill>
            <a:srgbClr val="251F2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noAutofit/>
          </a:bodyPr>
          <a:lstStyle/>
          <a:p>
            <a:pPr algn="ctr">
              <a:spcAft>
                <a:spcPts val="600"/>
              </a:spcAft>
            </a:pPr>
            <a:r>
              <a:rPr sz="2200" b="1" i="0">
                <a:solidFill>
                  <a:srgbClr val="FFFFFF"/>
                </a:solidFill>
                <a:latin typeface="Arial"/>
              </a:rPr>
              <a:t>Tsenta core</a:t>
            </a:r>
          </a:p>
          <a:p>
            <a:pPr algn="ctr"/>
            <a:r>
              <a:rPr sz="1300" b="0" i="0">
                <a:solidFill>
                  <a:srgbClr val="FFFFFF"/>
                </a:solidFill>
                <a:latin typeface="Arial"/>
              </a:rPr>
              <a:t>goals  ·  one record</a:t>
            </a:r>
          </a:p>
          <a:p>
            <a:pPr algn="ctr"/>
            <a:r>
              <a:rPr sz="1300" b="0" i="0">
                <a:solidFill>
                  <a:srgbClr val="FFFFFF"/>
                </a:solidFill>
                <a:latin typeface="Arial"/>
              </a:rPr>
              <a:t>the loop  ·  approvals</a:t>
            </a:r>
          </a:p>
        </p:txBody>
      </p:sp>
      <p:cxnSp>
        <p:nvCxnSpPr>
          <p:cNvPr id="6" name="Core to channels"/>
          <p:cNvCxnSpPr/>
          <p:nvPr/>
        </p:nvCxnSpPr>
        <p:spPr>
          <a:xfrm>
            <a:off x="3931920" y="3474720"/>
            <a:ext cx="548640" cy="0"/>
          </a:xfrm>
          <a:prstGeom prst="line">
            <a:avLst/>
          </a:prstGeom>
          <a:ln w="15875">
            <a:solidFill>
              <a:srgbClr val="585254"/>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re to MCP"/>
          <p:cNvCxnSpPr/>
          <p:nvPr/>
        </p:nvCxnSpPr>
        <p:spPr>
          <a:xfrm>
            <a:off x="7498079" y="3474720"/>
            <a:ext cx="548641" cy="0"/>
          </a:xfrm>
          <a:prstGeom prst="line">
            <a:avLst/>
          </a:prstGeom>
          <a:ln w="15875">
            <a:solidFill>
              <a:srgbClr val="585254"/>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8" name="MCP core"/>
          <p:cNvSpPr/>
          <p:nvPr/>
        </p:nvSpPr>
        <p:spPr>
          <a:xfrm>
            <a:off x="8092440" y="1783080"/>
            <a:ext cx="3364992" cy="3310128"/>
          </a:xfrm>
          <a:prstGeom prst="roundRect">
            <a:avLst>
              <a:gd name="adj" fmla="val 4000"/>
            </a:avLst>
          </a:prstGeom>
          <a:solidFill>
            <a:srgbClr val="FFFFFF"/>
          </a:solidFill>
          <a:ln w="12700">
            <a:solidFill>
              <a:srgbClr val="E4E0DD"/>
            </a:solidFill>
          </a:ln>
          <a:effectLst/>
        </p:spPr>
        <p:style>
          <a:lnRef idx="1">
            <a:schemeClr val="accent1"/>
          </a:lnRef>
          <a:fillRef idx="3">
            <a:schemeClr val="accent1"/>
          </a:fillRef>
          <a:effectRef idx="2">
            <a:schemeClr val="accent1"/>
          </a:effectRef>
          <a:fontRef idx="minor">
            <a:schemeClr val="lt1"/>
          </a:fontRef>
        </p:style>
        <p:txBody>
          <a:bodyPr rtlCol="0" anchor="t" lIns="219456" rIns="219456" tIns="182880" bIns="109728" wrap="square">
            <a:noAutofit/>
          </a:bodyPr>
          <a:lstStyle/>
          <a:p>
            <a:pPr algn="l">
              <a:spcAft>
                <a:spcPts val="400"/>
              </a:spcAft>
            </a:pPr>
            <a:r>
              <a:rPr sz="1100" b="1" i="0" spc="100">
                <a:solidFill>
                  <a:srgbClr val="3F7668"/>
                </a:solidFill>
                <a:latin typeface="Arial"/>
              </a:rPr>
              <a:t>CONNECT: YOUR AGENT, VIA MCP</a:t>
            </a:r>
          </a:p>
          <a:p>
            <a:pPr algn="l">
              <a:lnSpc>
                <a:spcPct val="105000"/>
              </a:lnSpc>
              <a:spcAft>
                <a:spcPts val="800"/>
              </a:spcAft>
            </a:pPr>
            <a:r>
              <a:rPr sz="1250" b="0" i="0">
                <a:solidFill>
                  <a:srgbClr val="585254"/>
                </a:solidFill>
                <a:latin typeface="Arial"/>
              </a:rPr>
              <a:t>A standards-based core for MCP hosts. Design: employer-facing writes stop at Tsenta's yes, whichever agent asks.</a:t>
            </a:r>
          </a:p>
          <a:p>
            <a:pPr algn="l">
              <a:spcAft>
                <a:spcPts val="300"/>
              </a:spcAft>
            </a:pPr>
            <a:r>
              <a:rPr sz="1250" b="1" i="0">
                <a:solidFill>
                  <a:srgbClr val="251F21"/>
                </a:solidFill>
                <a:latin typeface="Arial"/>
              </a:rPr>
              <a:t>Wake paths, per host docs</a:t>
            </a:r>
          </a:p>
          <a:p>
            <a:pPr algn="l">
              <a:spcAft>
                <a:spcPts val="200"/>
              </a:spcAft>
            </a:pPr>
            <a:r>
              <a:rPr sz="1150" b="0" i="0">
                <a:solidFill>
                  <a:srgbClr val="585254"/>
                </a:solidFill>
                <a:latin typeface="Arial"/>
              </a:rPr>
              <a:t>ChatGPT: MCP Events, in Work chats and dots only</a:t>
            </a:r>
          </a:p>
          <a:p>
            <a:pPr algn="l">
              <a:spcAft>
                <a:spcPts val="200"/>
              </a:spcAft>
            </a:pPr>
            <a:r>
              <a:rPr sz="1150" b="0" i="0">
                <a:solidFill>
                  <a:srgbClr val="585254"/>
                </a:solidFill>
                <a:latin typeface="Arial"/>
              </a:rPr>
              <a:t>Claude: scheduled tasks; Claude Code routines</a:t>
            </a:r>
          </a:p>
          <a:p>
            <a:pPr algn="l">
              <a:spcAft>
                <a:spcPts val="200"/>
              </a:spcAft>
            </a:pPr>
            <a:r>
              <a:rPr sz="1150" b="0" i="0">
                <a:solidFill>
                  <a:srgbClr val="585254"/>
                </a:solidFill>
                <a:latin typeface="Arial"/>
              </a:rPr>
              <a:t>Gemini: schedules.  Cursor: automations.  Poke: API</a:t>
            </a:r>
          </a:p>
          <a:p>
            <a:pPr algn="l">
              <a:spcAft>
                <a:spcPts val="200"/>
              </a:spcAft>
            </a:pPr>
            <a:r>
              <a:rPr sz="1150" b="0" i="0">
                <a:solidFill>
                  <a:srgbClr val="585254"/>
                </a:solidFill>
                <a:latin typeface="Arial"/>
              </a:rPr>
              <a:t>Muse: background use of outside connectors unknown</a:t>
            </a:r>
          </a:p>
          <a:p>
            <a:pPr algn="l">
              <a:spcAft>
                <a:spcPts val="200"/>
              </a:spcAft>
            </a:pPr>
            <a:r>
              <a:rPr sz="1150" b="0" i="0">
                <a:solidFill>
                  <a:srgbClr val="585254"/>
                </a:solidFill>
                <a:latin typeface="Arial"/>
              </a:rPr>
              <a:t>Instinct: no add-on path published</a:t>
            </a:r>
          </a:p>
          <a:p>
            <a:pPr algn="l"/>
            <a:r>
              <a:rPr sz="1150" b="0" i="0">
                <a:solidFill>
                  <a:srgbClr val="585254"/>
                </a:solidFill>
                <a:latin typeface="Arial"/>
              </a:rPr>
              <a:t>Everyone else: owned-channel fallback</a:t>
            </a:r>
          </a:p>
        </p:txBody>
      </p:sp>
      <p:sp>
        <p:nvSpPr>
          <p:cNvPr id="9" name="Quote bar"/>
          <p:cNvSpPr/>
          <p:nvPr/>
        </p:nvSpPr>
        <p:spPr>
          <a:xfrm>
            <a:off x="731520" y="5285232"/>
            <a:ext cx="64008" cy="548640"/>
          </a:xfrm>
          <a:prstGeom prst="rect">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09728" bIns="109728"/>
          <a:lstStyle/>
          <a:p>
            <a:pPr algn="ctr"/>
          </a:p>
        </p:txBody>
      </p:sp>
      <p:sp>
        <p:nvSpPr>
          <p:cNvPr id="10" name="TextBox 9"/>
          <p:cNvSpPr txBox="1"/>
          <p:nvPr/>
        </p:nvSpPr>
        <p:spPr>
          <a:xfrm>
            <a:off x="960120" y="5257800"/>
            <a:ext cx="10454335" cy="603504"/>
          </a:xfrm>
          <a:prstGeom prst="rect">
            <a:avLst/>
          </a:prstGeom>
          <a:noFill/>
        </p:spPr>
        <p:txBody>
          <a:bodyPr wrap="square" lIns="0" rIns="0" tIns="0" bIns="0" anchor="ctr">
            <a:noAutofit/>
          </a:bodyPr>
          <a:lstStyle/>
          <a:p>
            <a:pPr algn="l">
              <a:lnSpc>
                <a:spcPct val="105000"/>
              </a:lnSpc>
            </a:pPr>
            <a:r>
              <a:rPr sz="1700" b="1" i="0">
                <a:solidFill>
                  <a:srgbClr val="251F21"/>
                </a:solidFill>
                <a:latin typeface="Arial"/>
              </a:rPr>
              <a:t>“Designed to work with MCP-compatible agents; proactive wake where supported, owned-channel fallback elsewhere.”</a:t>
            </a:r>
          </a:p>
        </p:txBody>
      </p:sp>
      <p:sp>
        <p:nvSpPr>
          <p:cNvPr id="11" name="TextBox 10"/>
          <p:cNvSpPr txBox="1"/>
          <p:nvPr/>
        </p:nvSpPr>
        <p:spPr>
          <a:xfrm>
            <a:off x="731520" y="5916168"/>
            <a:ext cx="10728655" cy="274320"/>
          </a:xfrm>
          <a:prstGeom prst="rect">
            <a:avLst/>
          </a:prstGeom>
          <a:noFill/>
        </p:spPr>
        <p:txBody>
          <a:bodyPr wrap="square" lIns="0" rIns="0" tIns="0" bIns="0" anchor="t">
            <a:noAutofit/>
          </a:bodyPr>
          <a:lstStyle/>
          <a:p>
            <a:pPr algn="l"/>
            <a:r>
              <a:rPr sz="1100" b="0" i="0">
                <a:solidFill>
                  <a:srgbClr val="585254"/>
                </a:solidFill>
                <a:latin typeface="Arial"/>
              </a:rPr>
              <a:t>From each host's own documentation, October 13 and 14. Tested on no host. Working with every agent is the goal, not a verified capability.</a:t>
            </a:r>
          </a:p>
        </p:txBody>
      </p:sp>
      <p:cxnSp>
        <p:nvCxnSpPr>
          <p:cNvPr id="12" name="Connector 11"/>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3"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14"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11</a:t>
            </a:r>
          </a:p>
        </p:txBody>
      </p:sp>
      <p:sp>
        <p:nvSpPr>
          <p:cNvPr id="15"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Host docs: OpenAI, Anthropic, Google, Cursor, Poke, Meta, Instinct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A cheap test with existing users.</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PROPOSED  ·  THE PILOT</a:t>
            </a:r>
          </a:p>
        </p:txBody>
      </p:sp>
      <p:sp>
        <p:nvSpPr>
          <p:cNvPr id="4" name="TextBox 3"/>
          <p:cNvSpPr txBox="1"/>
          <p:nvPr/>
        </p:nvSpPr>
        <p:spPr>
          <a:xfrm>
            <a:off x="731520" y="1783080"/>
            <a:ext cx="3566160" cy="274320"/>
          </a:xfrm>
          <a:prstGeom prst="rect">
            <a:avLst/>
          </a:prstGeom>
          <a:noFill/>
        </p:spPr>
        <p:txBody>
          <a:bodyPr wrap="square" lIns="0" rIns="0" tIns="0" bIns="0" anchor="t">
            <a:noAutofit/>
          </a:bodyPr>
          <a:lstStyle/>
          <a:p>
            <a:pPr algn="l"/>
            <a:r>
              <a:rPr sz="1050" b="1" i="0" spc="100">
                <a:solidFill>
                  <a:srgbClr val="3F7668"/>
                </a:solidFill>
                <a:latin typeface="Arial"/>
              </a:rPr>
              <a:t>TEST</a:t>
            </a:r>
          </a:p>
        </p:txBody>
      </p:sp>
      <p:sp>
        <p:nvSpPr>
          <p:cNvPr id="5" name="TextBox 4"/>
          <p:cNvSpPr txBox="1"/>
          <p:nvPr/>
        </p:nvSpPr>
        <p:spPr>
          <a:xfrm>
            <a:off x="4526280" y="1783080"/>
            <a:ext cx="3520440" cy="274320"/>
          </a:xfrm>
          <a:prstGeom prst="rect">
            <a:avLst/>
          </a:prstGeom>
          <a:noFill/>
        </p:spPr>
        <p:txBody>
          <a:bodyPr wrap="square" lIns="0" rIns="0" tIns="0" bIns="0" anchor="t">
            <a:noAutofit/>
          </a:bodyPr>
          <a:lstStyle/>
          <a:p>
            <a:pPr algn="l"/>
            <a:r>
              <a:rPr sz="1050" b="1" i="0" spc="100">
                <a:solidFill>
                  <a:srgbClr val="3F7668"/>
                </a:solidFill>
                <a:latin typeface="Arial"/>
              </a:rPr>
              <a:t>WHAT WE MEASURE</a:t>
            </a:r>
          </a:p>
        </p:txBody>
      </p:sp>
      <p:sp>
        <p:nvSpPr>
          <p:cNvPr id="6" name="TextBox 5"/>
          <p:cNvSpPr txBox="1"/>
          <p:nvPr/>
        </p:nvSpPr>
        <p:spPr>
          <a:xfrm>
            <a:off x="8275320" y="1783080"/>
            <a:ext cx="3184855" cy="274320"/>
          </a:xfrm>
          <a:prstGeom prst="rect">
            <a:avLst/>
          </a:prstGeom>
          <a:noFill/>
        </p:spPr>
        <p:txBody>
          <a:bodyPr wrap="square" lIns="0" rIns="0" tIns="0" bIns="0" anchor="t">
            <a:noAutofit/>
          </a:bodyPr>
          <a:lstStyle/>
          <a:p>
            <a:pPr algn="l"/>
            <a:r>
              <a:rPr sz="1050" b="1" i="0" spc="100">
                <a:solidFill>
                  <a:srgbClr val="3F7668"/>
                </a:solidFill>
                <a:latin typeface="Arial"/>
              </a:rPr>
              <a:t>WHAT IT DECIDES</a:t>
            </a:r>
          </a:p>
        </p:txBody>
      </p:sp>
      <p:cxnSp>
        <p:nvCxnSpPr>
          <p:cNvPr id="7" name="Connector 6"/>
          <p:cNvCxnSpPr/>
          <p:nvPr/>
        </p:nvCxnSpPr>
        <p:spPr>
          <a:xfrm>
            <a:off x="731520" y="2103120"/>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2194560"/>
            <a:ext cx="3566160" cy="640080"/>
          </a:xfrm>
          <a:prstGeom prst="rect">
            <a:avLst/>
          </a:prstGeom>
          <a:noFill/>
        </p:spPr>
        <p:txBody>
          <a:bodyPr wrap="square" lIns="0" rIns="0" tIns="0" bIns="0" anchor="t">
            <a:noAutofit/>
          </a:bodyPr>
          <a:lstStyle/>
          <a:p>
            <a:pPr algn="l">
              <a:spcAft>
                <a:spcPts val="100"/>
              </a:spcAft>
            </a:pPr>
            <a:r>
              <a:rPr sz="1550" b="1" i="0">
                <a:solidFill>
                  <a:srgbClr val="251F21"/>
                </a:solidFill>
                <a:latin typeface="Arial"/>
              </a:rPr>
              <a:t>Proactive notes</a:t>
            </a:r>
          </a:p>
          <a:p>
            <a:pPr algn="l">
              <a:lnSpc>
                <a:spcPct val="105000"/>
              </a:lnSpc>
            </a:pPr>
            <a:r>
              <a:rPr sz="1200" b="0" i="0">
                <a:solidFill>
                  <a:srgbClr val="585254"/>
                </a:solidFill>
                <a:latin typeface="Arial"/>
              </a:rPr>
              <a:t>At most one a week, evidence-backed</a:t>
            </a:r>
          </a:p>
        </p:txBody>
      </p:sp>
      <p:sp>
        <p:nvSpPr>
          <p:cNvPr id="9" name="TextBox 8"/>
          <p:cNvSpPr txBox="1"/>
          <p:nvPr/>
        </p:nvSpPr>
        <p:spPr>
          <a:xfrm>
            <a:off x="4526280" y="2212848"/>
            <a:ext cx="3520440" cy="54864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Acted on vs muted or regretted; unsubscribes</a:t>
            </a:r>
          </a:p>
        </p:txBody>
      </p:sp>
      <p:sp>
        <p:nvSpPr>
          <p:cNvPr id="10" name="TextBox 9"/>
          <p:cNvSpPr txBox="1"/>
          <p:nvPr/>
        </p:nvSpPr>
        <p:spPr>
          <a:xfrm>
            <a:off x="8275320" y="2212848"/>
            <a:ext cx="3184855" cy="548640"/>
          </a:xfrm>
          <a:prstGeom prst="rect">
            <a:avLst/>
          </a:prstGeom>
          <a:noFill/>
        </p:spPr>
        <p:txBody>
          <a:bodyPr wrap="square" lIns="0" rIns="0" tIns="0" bIns="0" anchor="t">
            <a:noAutofit/>
          </a:bodyPr>
          <a:lstStyle/>
          <a:p>
            <a:pPr algn="l">
              <a:lnSpc>
                <a:spcPct val="105000"/>
              </a:lnSpc>
            </a:pPr>
            <a:r>
              <a:rPr sz="1250" b="0" i="0">
                <a:solidFill>
                  <a:srgbClr val="251F21"/>
                </a:solidFill>
                <a:latin typeface="Arial"/>
              </a:rPr>
              <a:t>Is agent-started work wanted, or noise?</a:t>
            </a:r>
          </a:p>
        </p:txBody>
      </p:sp>
      <p:cxnSp>
        <p:nvCxnSpPr>
          <p:cNvPr id="11" name="Connector 10"/>
          <p:cNvCxnSpPr/>
          <p:nvPr/>
        </p:nvCxnSpPr>
        <p:spPr>
          <a:xfrm>
            <a:off x="731520" y="2779776"/>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871216"/>
            <a:ext cx="3566160" cy="640080"/>
          </a:xfrm>
          <a:prstGeom prst="rect">
            <a:avLst/>
          </a:prstGeom>
          <a:noFill/>
        </p:spPr>
        <p:txBody>
          <a:bodyPr wrap="square" lIns="0" rIns="0" tIns="0" bIns="0" anchor="t">
            <a:noAutofit/>
          </a:bodyPr>
          <a:lstStyle/>
          <a:p>
            <a:pPr algn="l">
              <a:spcAft>
                <a:spcPts val="100"/>
              </a:spcAft>
            </a:pPr>
            <a:r>
              <a:rPr sz="1550" b="1" i="0">
                <a:solidFill>
                  <a:srgbClr val="251F21"/>
                </a:solidFill>
                <a:latin typeface="Arial"/>
              </a:rPr>
              <a:t>Interview stage</a:t>
            </a:r>
          </a:p>
          <a:p>
            <a:pPr algn="l">
              <a:lnSpc>
                <a:spcPct val="105000"/>
              </a:lnSpc>
            </a:pPr>
            <a:r>
              <a:rPr sz="1200" b="0" i="0">
                <a:solidFill>
                  <a:srgbClr val="585254"/>
                </a:solidFill>
                <a:latin typeface="Arial"/>
              </a:rPr>
              <a:t>Keep helping users who land an interview</a:t>
            </a:r>
          </a:p>
        </p:txBody>
      </p:sp>
      <p:sp>
        <p:nvSpPr>
          <p:cNvPr id="13" name="TextBox 12"/>
          <p:cNvSpPr txBox="1"/>
          <p:nvPr/>
        </p:nvSpPr>
        <p:spPr>
          <a:xfrm>
            <a:off x="4526280" y="2889504"/>
            <a:ext cx="3520440" cy="54864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Later-stage progress; exit reason recorded as hire or frustration</a:t>
            </a:r>
          </a:p>
        </p:txBody>
      </p:sp>
      <p:sp>
        <p:nvSpPr>
          <p:cNvPr id="14" name="TextBox 13"/>
          <p:cNvSpPr txBox="1"/>
          <p:nvPr/>
        </p:nvSpPr>
        <p:spPr>
          <a:xfrm>
            <a:off x="8275320" y="2889504"/>
            <a:ext cx="3184855" cy="548640"/>
          </a:xfrm>
          <a:prstGeom prst="rect">
            <a:avLst/>
          </a:prstGeom>
          <a:noFill/>
        </p:spPr>
        <p:txBody>
          <a:bodyPr wrap="square" lIns="0" rIns="0" tIns="0" bIns="0" anchor="t">
            <a:noAutofit/>
          </a:bodyPr>
          <a:lstStyle/>
          <a:p>
            <a:pPr algn="l">
              <a:lnSpc>
                <a:spcPct val="105000"/>
              </a:lnSpc>
            </a:pPr>
            <a:r>
              <a:rPr sz="1250" b="0" i="0">
                <a:solidFill>
                  <a:srgbClr val="251F21"/>
                </a:solidFill>
                <a:latin typeface="Arial"/>
              </a:rPr>
              <a:t>Does lifecycle help change why people leave?</a:t>
            </a:r>
          </a:p>
        </p:txBody>
      </p:sp>
      <p:cxnSp>
        <p:nvCxnSpPr>
          <p:cNvPr id="15" name="Connector 14"/>
          <p:cNvCxnSpPr/>
          <p:nvPr/>
        </p:nvCxnSpPr>
        <p:spPr>
          <a:xfrm>
            <a:off x="731520" y="345643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3547872"/>
            <a:ext cx="3566160" cy="640080"/>
          </a:xfrm>
          <a:prstGeom prst="rect">
            <a:avLst/>
          </a:prstGeom>
          <a:noFill/>
        </p:spPr>
        <p:txBody>
          <a:bodyPr wrap="square" lIns="0" rIns="0" tIns="0" bIns="0" anchor="t">
            <a:noAutofit/>
          </a:bodyPr>
          <a:lstStyle/>
          <a:p>
            <a:pPr algn="l">
              <a:spcAft>
                <a:spcPts val="100"/>
              </a:spcAft>
            </a:pPr>
            <a:r>
              <a:rPr sz="1550" b="1" i="0">
                <a:solidFill>
                  <a:srgbClr val="251F21"/>
                </a:solidFill>
                <a:latin typeface="Arial"/>
              </a:rPr>
              <a:t>Re-entry</a:t>
            </a:r>
          </a:p>
          <a:p>
            <a:pPr algn="l">
              <a:lnSpc>
                <a:spcPct val="105000"/>
              </a:lnSpc>
            </a:pPr>
            <a:r>
              <a:rPr sz="1200" b="0" i="0">
                <a:solidFill>
                  <a:srgbClr val="585254"/>
                </a:solidFill>
                <a:latin typeface="Arial"/>
              </a:rPr>
              <a:t>One opt-in check-in after a hire</a:t>
            </a:r>
          </a:p>
        </p:txBody>
      </p:sp>
      <p:sp>
        <p:nvSpPr>
          <p:cNvPr id="17" name="TextBox 16"/>
          <p:cNvSpPr txBox="1"/>
          <p:nvPr/>
        </p:nvSpPr>
        <p:spPr>
          <a:xfrm>
            <a:off x="4526280" y="3566160"/>
            <a:ext cx="3520440" cy="54864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Opt-in rate; return rate at the next search</a:t>
            </a:r>
          </a:p>
        </p:txBody>
      </p:sp>
      <p:sp>
        <p:nvSpPr>
          <p:cNvPr id="18" name="TextBox 17"/>
          <p:cNvSpPr txBox="1"/>
          <p:nvPr/>
        </p:nvSpPr>
        <p:spPr>
          <a:xfrm>
            <a:off x="8275320" y="3566160"/>
            <a:ext cx="3184855" cy="548640"/>
          </a:xfrm>
          <a:prstGeom prst="rect">
            <a:avLst/>
          </a:prstGeom>
          <a:noFill/>
        </p:spPr>
        <p:txBody>
          <a:bodyPr wrap="square" lIns="0" rIns="0" tIns="0" bIns="0" anchor="t">
            <a:noAutofit/>
          </a:bodyPr>
          <a:lstStyle/>
          <a:p>
            <a:pPr algn="l">
              <a:lnSpc>
                <a:spcPct val="105000"/>
              </a:lnSpc>
            </a:pPr>
            <a:r>
              <a:rPr sz="1250" b="0" i="0">
                <a:solidFill>
                  <a:srgbClr val="251F21"/>
                </a:solidFill>
                <a:latin typeface="Arial"/>
              </a:rPr>
              <a:t>Is “come back next time” a real path?</a:t>
            </a:r>
          </a:p>
        </p:txBody>
      </p:sp>
      <p:cxnSp>
        <p:nvCxnSpPr>
          <p:cNvPr id="19" name="Connector 18"/>
          <p:cNvCxnSpPr/>
          <p:nvPr/>
        </p:nvCxnSpPr>
        <p:spPr>
          <a:xfrm>
            <a:off x="731520" y="4133088"/>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4224528"/>
            <a:ext cx="3566160" cy="640080"/>
          </a:xfrm>
          <a:prstGeom prst="rect">
            <a:avLst/>
          </a:prstGeom>
          <a:noFill/>
        </p:spPr>
        <p:txBody>
          <a:bodyPr wrap="square" lIns="0" rIns="0" tIns="0" bIns="0" anchor="t">
            <a:noAutofit/>
          </a:bodyPr>
          <a:lstStyle/>
          <a:p>
            <a:pPr algn="l">
              <a:spcAft>
                <a:spcPts val="100"/>
              </a:spcAft>
            </a:pPr>
            <a:r>
              <a:rPr sz="1550" b="1" i="0">
                <a:solidFill>
                  <a:srgbClr val="251F21"/>
                </a:solidFill>
                <a:latin typeface="Arial"/>
              </a:rPr>
              <a:t>Packaging control</a:t>
            </a:r>
          </a:p>
          <a:p>
            <a:pPr algn="l">
              <a:lnSpc>
                <a:spcPct val="105000"/>
              </a:lnSpc>
            </a:pPr>
            <a:r>
              <a:rPr sz="1200" b="0" i="0">
                <a:solidFill>
                  <a:srgbClr val="585254"/>
                </a:solidFill>
                <a:latin typeface="Arial"/>
              </a:rPr>
              <a:t>A search-window pass or a pause, no agent change</a:t>
            </a:r>
          </a:p>
        </p:txBody>
      </p:sp>
      <p:sp>
        <p:nvSpPr>
          <p:cNvPr id="21" name="TextBox 20"/>
          <p:cNvSpPr txBox="1"/>
          <p:nvPr/>
        </p:nvSpPr>
        <p:spPr>
          <a:xfrm>
            <a:off x="4526280" y="4242816"/>
            <a:ext cx="3520440" cy="54864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Revenue across the search; exit reasons; returns</a:t>
            </a:r>
          </a:p>
        </p:txBody>
      </p:sp>
      <p:sp>
        <p:nvSpPr>
          <p:cNvPr id="22" name="TextBox 21"/>
          <p:cNvSpPr txBox="1"/>
          <p:nvPr/>
        </p:nvSpPr>
        <p:spPr>
          <a:xfrm>
            <a:off x="8275320" y="4242816"/>
            <a:ext cx="3184855" cy="548640"/>
          </a:xfrm>
          <a:prstGeom prst="rect">
            <a:avLst/>
          </a:prstGeom>
          <a:noFill/>
        </p:spPr>
        <p:txBody>
          <a:bodyPr wrap="square" lIns="0" rIns="0" tIns="0" bIns="0" anchor="t">
            <a:noAutofit/>
          </a:bodyPr>
          <a:lstStyle/>
          <a:p>
            <a:pPr algn="l">
              <a:lnSpc>
                <a:spcPct val="105000"/>
              </a:lnSpc>
            </a:pPr>
            <a:r>
              <a:rPr sz="1250" b="0" i="0">
                <a:solidFill>
                  <a:srgbClr val="251F21"/>
                </a:solidFill>
                <a:latin typeface="Arial"/>
              </a:rPr>
              <a:t>Is churn more about pricing than product?</a:t>
            </a:r>
          </a:p>
        </p:txBody>
      </p:sp>
      <p:cxnSp>
        <p:nvCxnSpPr>
          <p:cNvPr id="23" name="Connector 22"/>
          <p:cNvCxnSpPr/>
          <p:nvPr/>
        </p:nvCxnSpPr>
        <p:spPr>
          <a:xfrm>
            <a:off x="731520" y="4809744"/>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1520" y="4901184"/>
            <a:ext cx="3566160" cy="640080"/>
          </a:xfrm>
          <a:prstGeom prst="rect">
            <a:avLst/>
          </a:prstGeom>
          <a:noFill/>
        </p:spPr>
        <p:txBody>
          <a:bodyPr wrap="square" lIns="0" rIns="0" tIns="0" bIns="0" anchor="t">
            <a:noAutofit/>
          </a:bodyPr>
          <a:lstStyle/>
          <a:p>
            <a:pPr algn="l">
              <a:spcAft>
                <a:spcPts val="100"/>
              </a:spcAft>
            </a:pPr>
            <a:r>
              <a:rPr sz="1550" b="1" i="0">
                <a:solidFill>
                  <a:srgbClr val="251F21"/>
                </a:solidFill>
                <a:latin typeface="Arial"/>
              </a:rPr>
              <a:t>Protected control</a:t>
            </a:r>
          </a:p>
          <a:p>
            <a:pPr algn="l">
              <a:lnSpc>
                <a:spcPct val="105000"/>
              </a:lnSpc>
            </a:pPr>
            <a:r>
              <a:rPr sz="1200" b="0" i="0">
                <a:solidFill>
                  <a:srgbClr val="585254"/>
                </a:solidFill>
                <a:latin typeface="Arial"/>
              </a:rPr>
              <a:t>A held-out group stays on today's job agent</a:t>
            </a:r>
          </a:p>
        </p:txBody>
      </p:sp>
      <p:sp>
        <p:nvSpPr>
          <p:cNvPr id="25" name="TextBox 24"/>
          <p:cNvSpPr txBox="1"/>
          <p:nvPr/>
        </p:nvSpPr>
        <p:spPr>
          <a:xfrm>
            <a:off x="4526280" y="4919472"/>
            <a:ext cx="3520440" cy="548640"/>
          </a:xfrm>
          <a:prstGeom prst="rect">
            <a:avLst/>
          </a:prstGeom>
          <a:noFill/>
        </p:spPr>
        <p:txBody>
          <a:bodyPr wrap="square" lIns="0" rIns="0" tIns="0" bIns="0" anchor="t">
            <a:noAutofit/>
          </a:bodyPr>
          <a:lstStyle/>
          <a:p>
            <a:pPr algn="l">
              <a:lnSpc>
                <a:spcPct val="105000"/>
              </a:lnSpc>
            </a:pPr>
            <a:r>
              <a:rPr sz="1250" b="0" i="0">
                <a:solidFill>
                  <a:srgbClr val="585254"/>
                </a:solidFill>
                <a:latin typeface="Arial"/>
              </a:rPr>
              <a:t>Every result is read against this group</a:t>
            </a:r>
          </a:p>
        </p:txBody>
      </p:sp>
      <p:sp>
        <p:nvSpPr>
          <p:cNvPr id="26" name="TextBox 25"/>
          <p:cNvSpPr txBox="1"/>
          <p:nvPr/>
        </p:nvSpPr>
        <p:spPr>
          <a:xfrm>
            <a:off x="8275320" y="4919472"/>
            <a:ext cx="3184855" cy="548640"/>
          </a:xfrm>
          <a:prstGeom prst="rect">
            <a:avLst/>
          </a:prstGeom>
          <a:noFill/>
        </p:spPr>
        <p:txBody>
          <a:bodyPr wrap="square" lIns="0" rIns="0" tIns="0" bIns="0" anchor="t">
            <a:noAutofit/>
          </a:bodyPr>
          <a:lstStyle/>
          <a:p>
            <a:pPr algn="l">
              <a:lnSpc>
                <a:spcPct val="105000"/>
              </a:lnSpc>
            </a:pPr>
            <a:r>
              <a:rPr sz="1250" b="0" i="0">
                <a:solidFill>
                  <a:srgbClr val="251F21"/>
                </a:solidFill>
                <a:latin typeface="Arial"/>
              </a:rPr>
              <a:t>Did the agent change anything at all?</a:t>
            </a:r>
          </a:p>
        </p:txBody>
      </p:sp>
      <p:sp>
        <p:nvSpPr>
          <p:cNvPr id="27" name="Kill rule"/>
          <p:cNvSpPr/>
          <p:nvPr/>
        </p:nvSpPr>
        <p:spPr>
          <a:xfrm>
            <a:off x="731520" y="5541264"/>
            <a:ext cx="10728655" cy="658368"/>
          </a:xfrm>
          <a:prstGeom prst="roundRect">
            <a:avLst>
              <a:gd name="adj" fmla="val 12000"/>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09728" bIns="109728" wrap="square">
            <a:noAutofit/>
          </a:bodyPr>
          <a:lstStyle/>
          <a:p>
            <a:pPr algn="l">
              <a:lnSpc>
                <a:spcPct val="105000"/>
              </a:lnSpc>
            </a:pPr>
            <a:r>
              <a:rPr sz="1250" b="1" i="0">
                <a:solidFill>
                  <a:srgbClr val="251F21"/>
                </a:solidFill>
                <a:latin typeface="Arial"/>
              </a:rPr>
              <a:t>Narrow or stop </a:t>
            </a:r>
            <a:r>
              <a:rPr sz="1250" b="0" i="0">
                <a:solidFill>
                  <a:srgbClr val="251F21"/>
                </a:solidFill>
                <a:latin typeface="Arial"/>
              </a:rPr>
              <a:t>if muted beats acted-on, or if packaging alone moves retention as much as the agent. Each step is reversible: close it and users keep the job agent and their record. A test, not a churn guarantee.</a:t>
            </a:r>
          </a:p>
        </p:txBody>
      </p:sp>
      <p:cxnSp>
        <p:nvCxnSpPr>
          <p:cNvPr id="28" name="Connector 27"/>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9"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30"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1097280"/>
          </a:xfrm>
        </p:spPr>
        <p:txBody>
          <a:bodyPr wrap="square" lIns="0" rIns="0" tIns="0" bIns="0" anchor="t">
            <a:noAutofit/>
          </a:bodyPr>
          <a:lstStyle/>
          <a:p>
            <a:pPr algn="l">
              <a:lnSpc>
                <a:spcPct val="95000"/>
              </a:lnSpc>
            </a:pPr>
            <a:r>
              <a:rPr sz="3800" b="1" i="0">
                <a:solidFill>
                  <a:srgbClr val="251F21"/>
                </a:solidFill>
                <a:latin typeface="Arial"/>
              </a:rPr>
              <a:t>Three decisions, four facts.</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FOR TODAY</a:t>
            </a:r>
          </a:p>
        </p:txBody>
      </p:sp>
      <p:sp>
        <p:nvSpPr>
          <p:cNvPr id="4" name="TextBox 3"/>
          <p:cNvSpPr txBox="1"/>
          <p:nvPr/>
        </p:nvSpPr>
        <p:spPr>
          <a:xfrm>
            <a:off x="731520" y="2194560"/>
            <a:ext cx="640080" cy="731520"/>
          </a:xfrm>
          <a:prstGeom prst="rect">
            <a:avLst/>
          </a:prstGeom>
          <a:noFill/>
        </p:spPr>
        <p:txBody>
          <a:bodyPr wrap="square" lIns="0" rIns="0" tIns="0" bIns="0" anchor="t">
            <a:noAutofit/>
          </a:bodyPr>
          <a:lstStyle/>
          <a:p>
            <a:pPr algn="l"/>
            <a:r>
              <a:rPr sz="4000" b="1" i="0">
                <a:solidFill>
                  <a:srgbClr val="73A89A"/>
                </a:solidFill>
                <a:latin typeface="Arial"/>
              </a:rPr>
              <a:t>1</a:t>
            </a:r>
          </a:p>
        </p:txBody>
      </p:sp>
      <p:sp>
        <p:nvSpPr>
          <p:cNvPr id="5" name="TextBox 4"/>
          <p:cNvSpPr txBox="1"/>
          <p:nvPr/>
        </p:nvSpPr>
        <p:spPr>
          <a:xfrm>
            <a:off x="1417320" y="2240280"/>
            <a:ext cx="5394960" cy="1097280"/>
          </a:xfrm>
          <a:prstGeom prst="rect">
            <a:avLst/>
          </a:prstGeom>
          <a:noFill/>
        </p:spPr>
        <p:txBody>
          <a:bodyPr wrap="square" lIns="0" rIns="0" tIns="0" bIns="0" anchor="t">
            <a:noAutofit/>
          </a:bodyPr>
          <a:lstStyle/>
          <a:p>
            <a:pPr algn="l">
              <a:spcAft>
                <a:spcPts val="400"/>
              </a:spcAft>
            </a:pPr>
            <a:r>
              <a:rPr sz="2100" b="1" i="0">
                <a:solidFill>
                  <a:srgbClr val="251F21"/>
                </a:solidFill>
                <a:latin typeface="Arial"/>
              </a:rPr>
              <a:t>Agree the two paths and the order.</a:t>
            </a:r>
          </a:p>
          <a:p>
            <a:pPr algn="l">
              <a:lnSpc>
                <a:spcPct val="110000"/>
              </a:lnSpc>
            </a:pPr>
            <a:r>
              <a:rPr sz="1450" b="0" i="0">
                <a:solidFill>
                  <a:srgbClr val="585254"/>
                </a:solidFill>
                <a:latin typeface="Arial"/>
              </a:rPr>
              <a:t>Lead with Tsenta inside the agents people already use. Tsenta's own agent stays open to anyone who switches or has none.</a:t>
            </a:r>
          </a:p>
        </p:txBody>
      </p:sp>
      <p:sp>
        <p:nvSpPr>
          <p:cNvPr id="6" name="TextBox 5"/>
          <p:cNvSpPr txBox="1"/>
          <p:nvPr/>
        </p:nvSpPr>
        <p:spPr>
          <a:xfrm>
            <a:off x="731520" y="3383280"/>
            <a:ext cx="640080" cy="731520"/>
          </a:xfrm>
          <a:prstGeom prst="rect">
            <a:avLst/>
          </a:prstGeom>
          <a:noFill/>
        </p:spPr>
        <p:txBody>
          <a:bodyPr wrap="square" lIns="0" rIns="0" tIns="0" bIns="0" anchor="t">
            <a:noAutofit/>
          </a:bodyPr>
          <a:lstStyle/>
          <a:p>
            <a:pPr algn="l"/>
            <a:r>
              <a:rPr sz="4000" b="1" i="0">
                <a:solidFill>
                  <a:srgbClr val="73A89A"/>
                </a:solidFill>
                <a:latin typeface="Arial"/>
              </a:rPr>
              <a:t>2</a:t>
            </a:r>
          </a:p>
        </p:txBody>
      </p:sp>
      <p:sp>
        <p:nvSpPr>
          <p:cNvPr id="7" name="TextBox 6"/>
          <p:cNvSpPr txBox="1"/>
          <p:nvPr/>
        </p:nvSpPr>
        <p:spPr>
          <a:xfrm>
            <a:off x="1417320" y="3429000"/>
            <a:ext cx="5394960" cy="1097280"/>
          </a:xfrm>
          <a:prstGeom prst="rect">
            <a:avLst/>
          </a:prstGeom>
          <a:noFill/>
        </p:spPr>
        <p:txBody>
          <a:bodyPr wrap="square" lIns="0" rIns="0" tIns="0" bIns="0" anchor="t">
            <a:noAutofit/>
          </a:bodyPr>
          <a:lstStyle/>
          <a:p>
            <a:pPr algn="l">
              <a:spcAft>
                <a:spcPts val="400"/>
              </a:spcAft>
            </a:pPr>
            <a:r>
              <a:rPr sz="2100" b="1" i="0">
                <a:solidFill>
                  <a:srgbClr val="251F21"/>
                </a:solidFill>
                <a:latin typeface="Arial"/>
              </a:rPr>
              <a:t>Pick the pilot slice.</a:t>
            </a:r>
          </a:p>
          <a:p>
            <a:pPr algn="l">
              <a:lnSpc>
                <a:spcPct val="110000"/>
              </a:lnSpc>
            </a:pPr>
            <a:r>
              <a:rPr sz="1450" b="0" i="0">
                <a:solidFill>
                  <a:srgbClr val="585254"/>
                </a:solidFill>
                <a:latin typeface="Arial"/>
              </a:rPr>
              <a:t>Which existing users, and the one owned channel to run it on.</a:t>
            </a:r>
          </a:p>
        </p:txBody>
      </p:sp>
      <p:sp>
        <p:nvSpPr>
          <p:cNvPr id="8" name="TextBox 7"/>
          <p:cNvSpPr txBox="1"/>
          <p:nvPr/>
        </p:nvSpPr>
        <p:spPr>
          <a:xfrm>
            <a:off x="731520" y="4572000"/>
            <a:ext cx="640080" cy="731520"/>
          </a:xfrm>
          <a:prstGeom prst="rect">
            <a:avLst/>
          </a:prstGeom>
          <a:noFill/>
        </p:spPr>
        <p:txBody>
          <a:bodyPr wrap="square" lIns="0" rIns="0" tIns="0" bIns="0" anchor="t">
            <a:noAutofit/>
          </a:bodyPr>
          <a:lstStyle/>
          <a:p>
            <a:pPr algn="l"/>
            <a:r>
              <a:rPr sz="4000" b="1" i="0">
                <a:solidFill>
                  <a:srgbClr val="73A89A"/>
                </a:solidFill>
                <a:latin typeface="Arial"/>
              </a:rPr>
              <a:t>3</a:t>
            </a:r>
          </a:p>
        </p:txBody>
      </p:sp>
      <p:sp>
        <p:nvSpPr>
          <p:cNvPr id="9" name="TextBox 8"/>
          <p:cNvSpPr txBox="1"/>
          <p:nvPr/>
        </p:nvSpPr>
        <p:spPr>
          <a:xfrm>
            <a:off x="1417320" y="4617720"/>
            <a:ext cx="5394960" cy="1097280"/>
          </a:xfrm>
          <a:prstGeom prst="rect">
            <a:avLst/>
          </a:prstGeom>
          <a:noFill/>
        </p:spPr>
        <p:txBody>
          <a:bodyPr wrap="square" lIns="0" rIns="0" tIns="0" bIns="0" anchor="t">
            <a:noAutofit/>
          </a:bodyPr>
          <a:lstStyle/>
          <a:p>
            <a:pPr algn="l">
              <a:spcAft>
                <a:spcPts val="400"/>
              </a:spcAft>
            </a:pPr>
            <a:r>
              <a:rPr sz="2100" b="1" i="0">
                <a:solidFill>
                  <a:srgbClr val="251F21"/>
                </a:solidFill>
                <a:latin typeface="Arial"/>
              </a:rPr>
              <a:t>Tsenta holds every employer-facing yes.</a:t>
            </a:r>
          </a:p>
          <a:p>
            <a:pPr algn="l">
              <a:lnSpc>
                <a:spcPct val="110000"/>
              </a:lnSpc>
            </a:pPr>
            <a:r>
              <a:rPr sz="1450" b="0" i="0">
                <a:solidFill>
                  <a:srgbClr val="585254"/>
                </a:solidFill>
                <a:latin typeface="Arial"/>
              </a:rPr>
              <a:t>Collected on a Tsenta surface and bound to the exact action, whichever door it came through.</a:t>
            </a:r>
          </a:p>
        </p:txBody>
      </p:sp>
      <p:sp>
        <p:nvSpPr>
          <p:cNvPr id="10" name="Facts panel"/>
          <p:cNvSpPr/>
          <p:nvPr/>
        </p:nvSpPr>
        <p:spPr>
          <a:xfrm>
            <a:off x="7315200" y="2194560"/>
            <a:ext cx="4142232" cy="3566160"/>
          </a:xfrm>
          <a:prstGeom prst="roundRect">
            <a:avLst>
              <a:gd name="adj" fmla="val 4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109728" wrap="square">
            <a:noAutofit/>
          </a:bodyPr>
          <a:lstStyle/>
          <a:p>
            <a:pPr algn="l">
              <a:spcAft>
                <a:spcPts val="1200"/>
              </a:spcAft>
            </a:pPr>
            <a:r>
              <a:rPr sz="1100" b="1" i="0" spc="100">
                <a:solidFill>
                  <a:srgbClr val="3F7668"/>
                </a:solidFill>
                <a:latin typeface="Arial"/>
              </a:rPr>
              <a:t>FACTS ONLY TSENTA HAS</a:t>
            </a:r>
          </a:p>
          <a:p>
            <a:pPr algn="l">
              <a:lnSpc>
                <a:spcPct val="108000"/>
              </a:lnSpc>
              <a:spcAft>
                <a:spcPts val="1200"/>
              </a:spcAft>
            </a:pPr>
            <a:r>
              <a:rPr sz="1500" b="0" i="0">
                <a:solidFill>
                  <a:srgbClr val="251F21"/>
                </a:solidFill>
                <a:latin typeface="Arial"/>
              </a:rPr>
              <a:t>Does Tsenta text users first today, or only reply?</a:t>
            </a:r>
          </a:p>
          <a:p>
            <a:pPr algn="l">
              <a:lnSpc>
                <a:spcPct val="108000"/>
              </a:lnSpc>
              <a:spcAft>
                <a:spcPts val="1200"/>
              </a:spcAft>
            </a:pPr>
            <a:r>
              <a:rPr sz="1500" b="0" i="0">
                <a:solidFill>
                  <a:srgbClr val="251F21"/>
                </a:solidFill>
                <a:latin typeface="Arial"/>
              </a:rPr>
              <a:t>Which iMessage path does Tsenta use?</a:t>
            </a:r>
          </a:p>
          <a:p>
            <a:pPr algn="l">
              <a:lnSpc>
                <a:spcPct val="108000"/>
              </a:lnSpc>
              <a:spcAft>
                <a:spcPts val="1200"/>
              </a:spcAft>
            </a:pPr>
            <a:r>
              <a:rPr sz="1500" b="0" i="0">
                <a:solidFill>
                  <a:srgbClr val="251F21"/>
                </a:solidFill>
                <a:latin typeface="Arial"/>
              </a:rPr>
              <a:t>How many users connect through MCP, and what do they do there?</a:t>
            </a:r>
          </a:p>
          <a:p>
            <a:pPr algn="l">
              <a:lnSpc>
                <a:spcPct val="108000"/>
              </a:lnSpc>
              <a:spcAft>
                <a:spcPts val="1200"/>
              </a:spcAft>
            </a:pPr>
            <a:r>
              <a:rPr sz="1500" b="0" i="0">
                <a:solidFill>
                  <a:srgbClr val="251F21"/>
                </a:solidFill>
                <a:latin typeface="Arial"/>
              </a:rPr>
              <a:t>What share of users already use an AI assistant?</a:t>
            </a:r>
          </a:p>
        </p:txBody>
      </p:sp>
      <p:cxnSp>
        <p:nvCxnSpPr>
          <p:cNvPr id="11" name="Connector 10"/>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2"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Vision and roadmap. Only the job agent is live today.</a:t>
            </a:r>
            <a:r>
              <a:rPr sz="1000" b="0" i="0">
                <a:solidFill>
                  <a:srgbClr val="585254"/>
                </a:solidFill>
                <a:latin typeface="Arial"/>
              </a:rPr>
              <a:t>   Tsenta  ·  October 14, 2026</a:t>
            </a:r>
          </a:p>
        </p:txBody>
      </p:sp>
      <p:sp>
        <p:nvSpPr>
          <p:cNvPr id="13"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800" b="1" i="0">
                <a:solidFill>
                  <a:srgbClr val="251F21"/>
                </a:solidFill>
                <a:latin typeface="Arial"/>
              </a:rPr>
              <a:t>What has to be true before real users.</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Q1  ·  FOR QUESTIONS  ·  PROPOSED, COMPANY-WIDE</a:t>
            </a:r>
          </a:p>
        </p:txBody>
      </p:sp>
      <p:sp>
        <p:nvSpPr>
          <p:cNvPr id="4" name="TextBox 3"/>
          <p:cNvSpPr txBox="1"/>
          <p:nvPr/>
        </p:nvSpPr>
        <p:spPr>
          <a:xfrm>
            <a:off x="731520" y="1572768"/>
            <a:ext cx="10728655" cy="365760"/>
          </a:xfrm>
          <a:prstGeom prst="rect">
            <a:avLst/>
          </a:prstGeom>
          <a:noFill/>
        </p:spPr>
        <p:txBody>
          <a:bodyPr wrap="square" lIns="0" rIns="0" tIns="0" bIns="0" anchor="t">
            <a:noAutofit/>
          </a:bodyPr>
          <a:lstStyle/>
          <a:p>
            <a:pPr algn="l"/>
            <a:r>
              <a:rPr sz="1500" b="0" i="0">
                <a:solidFill>
                  <a:srgbClr val="585254"/>
                </a:solidFill>
                <a:latin typeface="Arial"/>
              </a:rPr>
              <a:t>Feasible as a phased program. The hard parts are data-use law, consent and approvals, not compute.</a:t>
            </a:r>
          </a:p>
        </p:txBody>
      </p:sp>
      <p:cxnSp>
        <p:nvCxnSpPr>
          <p:cNvPr id="5" name="Phase line"/>
          <p:cNvCxnSpPr/>
          <p:nvPr/>
        </p:nvCxnSpPr>
        <p:spPr>
          <a:xfrm>
            <a:off x="731520" y="2212848"/>
            <a:ext cx="10728655" cy="0"/>
          </a:xfrm>
          <a:prstGeom prst="line">
            <a:avLst/>
          </a:prstGeom>
          <a:ln w="1905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Phase dot 1"/>
          <p:cNvSpPr/>
          <p:nvPr/>
        </p:nvSpPr>
        <p:spPr>
          <a:xfrm>
            <a:off x="731520" y="2130552"/>
            <a:ext cx="164592" cy="164592"/>
          </a:xfrm>
          <a:prstGeom prst="ellipse">
            <a:avLst/>
          </a:prstGeom>
          <a:solidFill>
            <a:srgbClr val="73A8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NOW</a:t>
            </a:r>
          </a:p>
        </p:txBody>
      </p:sp>
      <p:sp>
        <p:nvSpPr>
          <p:cNvPr id="8" name="TextBox 7"/>
          <p:cNvSpPr txBox="1"/>
          <p:nvPr/>
        </p:nvSpPr>
        <p:spPr>
          <a:xfrm>
            <a:off x="731520" y="2688336"/>
            <a:ext cx="2462707" cy="365760"/>
          </a:xfrm>
          <a:prstGeom prst="rect">
            <a:avLst/>
          </a:prstGeom>
          <a:noFill/>
        </p:spPr>
        <p:txBody>
          <a:bodyPr wrap="square" lIns="0" rIns="0" tIns="0" bIns="0" anchor="t">
            <a:noAutofit/>
          </a:bodyPr>
          <a:lstStyle/>
          <a:p>
            <a:pPr algn="l"/>
            <a:r>
              <a:rPr sz="1800" b="1" i="0">
                <a:solidFill>
                  <a:srgbClr val="251F21"/>
                </a:solidFill>
                <a:latin typeface="Arial"/>
              </a:rPr>
              <a:t>Synthetic prototype</a:t>
            </a:r>
          </a:p>
        </p:txBody>
      </p:sp>
      <p:sp>
        <p:nvSpPr>
          <p:cNvPr id="9" name="TextBox 8"/>
          <p:cNvSpPr txBox="1"/>
          <p:nvPr/>
        </p:nvSpPr>
        <p:spPr>
          <a:xfrm>
            <a:off x="731520" y="3054096"/>
            <a:ext cx="2462707" cy="822960"/>
          </a:xfrm>
          <a:prstGeom prst="rect">
            <a:avLst/>
          </a:prstGeom>
          <a:noFill/>
        </p:spPr>
        <p:txBody>
          <a:bodyPr wrap="square" lIns="0" rIns="0" tIns="0" bIns="0" anchor="t">
            <a:noAutofit/>
          </a:bodyPr>
          <a:lstStyle/>
          <a:p>
            <a:pPr algn="l">
              <a:lnSpc>
                <a:spcPct val="105000"/>
              </a:lnSpc>
            </a:pPr>
            <a:r>
              <a:rPr sz="1200" b="0" i="0">
                <a:solidFill>
                  <a:srgbClr val="585254"/>
                </a:solidFill>
                <a:latin typeface="Arial"/>
              </a:rPr>
              <a:t>Only the job agent is live. The prototype runs on made-up data.</a:t>
            </a:r>
          </a:p>
        </p:txBody>
      </p:sp>
      <p:sp>
        <p:nvSpPr>
          <p:cNvPr id="10" name="Phase dot 2"/>
          <p:cNvSpPr/>
          <p:nvPr/>
        </p:nvSpPr>
        <p:spPr>
          <a:xfrm>
            <a:off x="3486835" y="2130552"/>
            <a:ext cx="164592" cy="164592"/>
          </a:xfrm>
          <a:prstGeom prst="ellipse">
            <a:avLst/>
          </a:prstGeom>
          <a:solidFill>
            <a:srgbClr val="FFFFFF"/>
          </a:solidFill>
          <a:ln w="1587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6835"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PILOT</a:t>
            </a:r>
          </a:p>
        </p:txBody>
      </p:sp>
      <p:sp>
        <p:nvSpPr>
          <p:cNvPr id="12" name="TextBox 11"/>
          <p:cNvSpPr txBox="1"/>
          <p:nvPr/>
        </p:nvSpPr>
        <p:spPr>
          <a:xfrm>
            <a:off x="3486835" y="2688336"/>
            <a:ext cx="2462707" cy="365760"/>
          </a:xfrm>
          <a:prstGeom prst="rect">
            <a:avLst/>
          </a:prstGeom>
          <a:noFill/>
        </p:spPr>
        <p:txBody>
          <a:bodyPr wrap="square" lIns="0" rIns="0" tIns="0" bIns="0" anchor="t">
            <a:noAutofit/>
          </a:bodyPr>
          <a:lstStyle/>
          <a:p>
            <a:pPr algn="l"/>
            <a:r>
              <a:rPr sz="1800" b="1" i="0">
                <a:solidFill>
                  <a:srgbClr val="251F21"/>
                </a:solidFill>
                <a:latin typeface="Arial"/>
              </a:rPr>
              <a:t>A consented cohort</a:t>
            </a:r>
          </a:p>
        </p:txBody>
      </p:sp>
      <p:sp>
        <p:nvSpPr>
          <p:cNvPr id="13" name="TextBox 12"/>
          <p:cNvSpPr txBox="1"/>
          <p:nvPr/>
        </p:nvSpPr>
        <p:spPr>
          <a:xfrm>
            <a:off x="3486835" y="3054096"/>
            <a:ext cx="2462707" cy="822960"/>
          </a:xfrm>
          <a:prstGeom prst="rect">
            <a:avLst/>
          </a:prstGeom>
          <a:noFill/>
        </p:spPr>
        <p:txBody>
          <a:bodyPr wrap="square" lIns="0" rIns="0" tIns="0" bIns="0" anchor="t">
            <a:noAutofit/>
          </a:bodyPr>
          <a:lstStyle/>
          <a:p>
            <a:pPr algn="l">
              <a:lnSpc>
                <a:spcPct val="105000"/>
              </a:lnSpc>
            </a:pPr>
            <a:r>
              <a:rPr sz="1200" b="0" i="0">
                <a:solidFill>
                  <a:srgbClr val="585254"/>
                </a:solidFill>
                <a:latin typeface="Arial"/>
              </a:rPr>
              <a:t>Job agent plus the career stage (proposed). No purchases. No agent-derived data in anything employers see.</a:t>
            </a:r>
          </a:p>
        </p:txBody>
      </p:sp>
      <p:sp>
        <p:nvSpPr>
          <p:cNvPr id="14" name="Phase dot 3"/>
          <p:cNvSpPr/>
          <p:nvPr/>
        </p:nvSpPr>
        <p:spPr>
          <a:xfrm>
            <a:off x="6242150" y="2130552"/>
            <a:ext cx="164592" cy="164592"/>
          </a:xfrm>
          <a:prstGeom prst="ellipse">
            <a:avLst/>
          </a:prstGeom>
          <a:solidFill>
            <a:srgbClr val="FFFFFF"/>
          </a:solidFill>
          <a:ln w="1587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42150"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PRODUCTION</a:t>
            </a:r>
          </a:p>
        </p:txBody>
      </p:sp>
      <p:sp>
        <p:nvSpPr>
          <p:cNvPr id="16" name="TextBox 15"/>
          <p:cNvSpPr txBox="1"/>
          <p:nvPr/>
        </p:nvSpPr>
        <p:spPr>
          <a:xfrm>
            <a:off x="6242150" y="2688336"/>
            <a:ext cx="2462707" cy="365760"/>
          </a:xfrm>
          <a:prstGeom prst="rect">
            <a:avLst/>
          </a:prstGeom>
          <a:noFill/>
        </p:spPr>
        <p:txBody>
          <a:bodyPr wrap="square" lIns="0" rIns="0" tIns="0" bIns="0" anchor="t">
            <a:noAutofit/>
          </a:bodyPr>
          <a:lstStyle/>
          <a:p>
            <a:pPr algn="l"/>
            <a:r>
              <a:rPr sz="1800" b="1" i="0">
                <a:solidFill>
                  <a:srgbClr val="251F21"/>
                </a:solidFill>
                <a:latin typeface="Arial"/>
              </a:rPr>
              <a:t>Company-wide</a:t>
            </a:r>
          </a:p>
        </p:txBody>
      </p:sp>
      <p:sp>
        <p:nvSpPr>
          <p:cNvPr id="17" name="TextBox 16"/>
          <p:cNvSpPr txBox="1"/>
          <p:nvPr/>
        </p:nvSpPr>
        <p:spPr>
          <a:xfrm>
            <a:off x="6242150" y="3054096"/>
            <a:ext cx="2462707" cy="822960"/>
          </a:xfrm>
          <a:prstGeom prst="rect">
            <a:avLst/>
          </a:prstGeom>
          <a:noFill/>
        </p:spPr>
        <p:txBody>
          <a:bodyPr wrap="square" lIns="0" rIns="0" tIns="0" bIns="0" anchor="t">
            <a:noAutofit/>
          </a:bodyPr>
          <a:lstStyle/>
          <a:p>
            <a:pPr algn="l">
              <a:lnSpc>
                <a:spcPct val="105000"/>
              </a:lnSpc>
            </a:pPr>
            <a:r>
              <a:rPr sz="1200" b="0" i="0">
                <a:solidFill>
                  <a:srgbClr val="585254"/>
                </a:solidFill>
                <a:latin typeface="Arial"/>
              </a:rPr>
              <a:t>Every production gate met. Proposed gate: SOC 2 Type I before enterprise sales.</a:t>
            </a:r>
          </a:p>
        </p:txBody>
      </p:sp>
      <p:sp>
        <p:nvSpPr>
          <p:cNvPr id="18" name="Phase dot 4"/>
          <p:cNvSpPr/>
          <p:nvPr/>
        </p:nvSpPr>
        <p:spPr>
          <a:xfrm>
            <a:off x="8997465" y="2130552"/>
            <a:ext cx="164592" cy="164592"/>
          </a:xfrm>
          <a:prstGeom prst="ellipse">
            <a:avLst/>
          </a:prstGeom>
          <a:solidFill>
            <a:srgbClr val="FFFFFF"/>
          </a:solidFill>
          <a:ln w="15875">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97465" y="2414016"/>
            <a:ext cx="2462707" cy="274320"/>
          </a:xfrm>
          <a:prstGeom prst="rect">
            <a:avLst/>
          </a:prstGeom>
          <a:noFill/>
        </p:spPr>
        <p:txBody>
          <a:bodyPr wrap="square" lIns="0" rIns="0" tIns="0" bIns="0" anchor="t">
            <a:noAutofit/>
          </a:bodyPr>
          <a:lstStyle/>
          <a:p>
            <a:pPr algn="l"/>
            <a:r>
              <a:rPr sz="1100" b="1" i="0" spc="100">
                <a:solidFill>
                  <a:srgbClr val="3F7668"/>
                </a:solidFill>
                <a:latin typeface="Arial"/>
              </a:rPr>
              <a:t>LATER</a:t>
            </a:r>
          </a:p>
        </p:txBody>
      </p:sp>
      <p:sp>
        <p:nvSpPr>
          <p:cNvPr id="20" name="TextBox 19"/>
          <p:cNvSpPr txBox="1"/>
          <p:nvPr/>
        </p:nvSpPr>
        <p:spPr>
          <a:xfrm>
            <a:off x="8997465" y="2688336"/>
            <a:ext cx="2462707" cy="365760"/>
          </a:xfrm>
          <a:prstGeom prst="rect">
            <a:avLst/>
          </a:prstGeom>
          <a:noFill/>
        </p:spPr>
        <p:txBody>
          <a:bodyPr wrap="square" lIns="0" rIns="0" tIns="0" bIns="0" anchor="t">
            <a:noAutofit/>
          </a:bodyPr>
          <a:lstStyle/>
          <a:p>
            <a:pPr algn="l"/>
            <a:r>
              <a:rPr sz="1800" b="1" i="0">
                <a:solidFill>
                  <a:srgbClr val="251F21"/>
                </a:solidFill>
                <a:latin typeface="Arial"/>
              </a:rPr>
              <a:t>Life stages (vision)</a:t>
            </a:r>
          </a:p>
        </p:txBody>
      </p:sp>
      <p:sp>
        <p:nvSpPr>
          <p:cNvPr id="21" name="TextBox 20"/>
          <p:cNvSpPr txBox="1"/>
          <p:nvPr/>
        </p:nvSpPr>
        <p:spPr>
          <a:xfrm>
            <a:off x="8997465" y="3054096"/>
            <a:ext cx="2462707" cy="822960"/>
          </a:xfrm>
          <a:prstGeom prst="rect">
            <a:avLst/>
          </a:prstGeom>
          <a:noFill/>
        </p:spPr>
        <p:txBody>
          <a:bodyPr wrap="square" lIns="0" rIns="0" tIns="0" bIns="0" anchor="t">
            <a:noAutofit/>
          </a:bodyPr>
          <a:lstStyle/>
          <a:p>
            <a:pPr algn="l">
              <a:lnSpc>
                <a:spcPct val="105000"/>
              </a:lnSpc>
            </a:pPr>
            <a:r>
              <a:rPr sz="1200" b="0" i="0">
                <a:solidFill>
                  <a:srgbClr val="585254"/>
                </a:solidFill>
                <a:latin typeface="Arial"/>
              </a:rPr>
              <a:t>Only after counsel review and the demand tests. Employer-facing use of agent data waits too.</a:t>
            </a:r>
          </a:p>
        </p:txBody>
      </p:sp>
      <p:sp>
        <p:nvSpPr>
          <p:cNvPr id="22" name="Hard parts"/>
          <p:cNvSpPr/>
          <p:nvPr/>
        </p:nvSpPr>
        <p:spPr>
          <a:xfrm>
            <a:off x="731520" y="4041648"/>
            <a:ext cx="5218023" cy="1719072"/>
          </a:xfrm>
          <a:prstGeom prst="roundRect">
            <a:avLst>
              <a:gd name="adj" fmla="val 5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6" bIns="109728" wrap="square">
            <a:noAutofit/>
          </a:bodyPr>
          <a:lstStyle/>
          <a:p>
            <a:pPr algn="l">
              <a:spcAft>
                <a:spcPts val="500"/>
              </a:spcAft>
            </a:pPr>
            <a:r>
              <a:rPr sz="1000" b="1" i="0" spc="80">
                <a:solidFill>
                  <a:srgbClr val="3F7668"/>
                </a:solidFill>
                <a:latin typeface="Arial"/>
              </a:rPr>
              <a:t>THE HARD PARTS</a:t>
            </a:r>
          </a:p>
          <a:p>
            <a:pPr algn="l">
              <a:spcAft>
                <a:spcPts val="300"/>
              </a:spcAft>
            </a:pPr>
            <a:r>
              <a:rPr sz="1250" b="0" i="0">
                <a:solidFill>
                  <a:srgbClr val="251F21"/>
                </a:solidFill>
                <a:latin typeface="Arial"/>
              </a:rPr>
              <a:t>Data-use law: FCRA, CCPA and California's ADMT rules.</a:t>
            </a:r>
          </a:p>
          <a:p>
            <a:pPr algn="l">
              <a:spcAft>
                <a:spcPts val="300"/>
              </a:spcAft>
            </a:pPr>
            <a:r>
              <a:rPr sz="1250" b="0" i="0">
                <a:solidFill>
                  <a:srgbClr val="251F21"/>
                </a:solidFill>
                <a:latin typeface="Arial"/>
              </a:rPr>
              <a:t>Consent per purpose and per channel.</a:t>
            </a:r>
          </a:p>
          <a:p>
            <a:pPr algn="l">
              <a:spcAft>
                <a:spcPts val="300"/>
              </a:spcAft>
            </a:pPr>
            <a:r>
              <a:rPr sz="1250" b="0" i="0">
                <a:solidFill>
                  <a:srgbClr val="251F21"/>
                </a:solidFill>
                <a:latin typeface="Arial"/>
              </a:rPr>
              <a:t>A yes bound to the exact action, collected by Tsenta.</a:t>
            </a:r>
          </a:p>
          <a:p>
            <a:pPr algn="l"/>
            <a:r>
              <a:rPr sz="1250" b="0" i="0">
                <a:solidFill>
                  <a:srgbClr val="251F21"/>
                </a:solidFill>
                <a:latin typeface="Arial"/>
              </a:rPr>
              <a:t>Proposed rule: life data never reaches employers.</a:t>
            </a:r>
          </a:p>
        </p:txBody>
      </p:sp>
      <p:sp>
        <p:nvSpPr>
          <p:cNvPr id="23" name="Counsel question"/>
          <p:cNvSpPr/>
          <p:nvPr/>
        </p:nvSpPr>
        <p:spPr>
          <a:xfrm>
            <a:off x="6242151" y="4041648"/>
            <a:ext cx="5218023" cy="1719072"/>
          </a:xfrm>
          <a:prstGeom prst="roundRect">
            <a:avLst>
              <a:gd name="adj" fmla="val 5000"/>
            </a:avLst>
          </a:prstGeom>
          <a:solidFill>
            <a:srgbClr val="FFFFFF"/>
          </a:solidFill>
          <a:ln w="12700">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6" bIns="109728" wrap="square">
            <a:noAutofit/>
          </a:bodyPr>
          <a:lstStyle/>
          <a:p>
            <a:pPr algn="l">
              <a:spcAft>
                <a:spcPts val="500"/>
              </a:spcAft>
            </a:pPr>
            <a:r>
              <a:rPr sz="1000" b="1" i="0" spc="80">
                <a:solidFill>
                  <a:srgbClr val="3F7668"/>
                </a:solidFill>
                <a:latin typeface="Arial"/>
              </a:rPr>
              <a:t>OPEN QUESTION FOR COUNSEL</a:t>
            </a:r>
          </a:p>
          <a:p>
            <a:pPr algn="l">
              <a:lnSpc>
                <a:spcPct val="105000"/>
              </a:lnSpc>
              <a:spcAft>
                <a:spcPts val="600"/>
              </a:spcAft>
            </a:pPr>
            <a:r>
              <a:rPr sz="1350" b="1" i="0">
                <a:solidFill>
                  <a:srgbClr val="251F21"/>
                </a:solidFill>
                <a:latin typeface="Arial"/>
              </a:rPr>
              <a:t>If agent-derived data ever reaches employers beyond the applications a user submits, do FCRA or CCPA duties apply?</a:t>
            </a:r>
          </a:p>
          <a:p>
            <a:pPr algn="l">
              <a:lnSpc>
                <a:spcPct val="105000"/>
              </a:lnSpc>
            </a:pPr>
            <a:r>
              <a:rPr sz="1100" b="0" i="0">
                <a:solidFill>
                  <a:srgbClr val="585254"/>
                </a:solidFill>
                <a:latin typeface="Arial"/>
              </a:rPr>
              <a:t>FCRA's definition of a consumer report includes information used for employment purposes (15 U.S.C. 1681a). California's ADMT duties for employment decisions apply from January 1, 2027.</a:t>
            </a:r>
          </a:p>
        </p:txBody>
      </p:sp>
      <p:sp>
        <p:nvSpPr>
          <p:cNvPr id="24" name="TextBox 23"/>
          <p:cNvSpPr txBox="1"/>
          <p:nvPr/>
        </p:nvSpPr>
        <p:spPr>
          <a:xfrm>
            <a:off x="731520" y="5824728"/>
            <a:ext cx="10728655" cy="420624"/>
          </a:xfrm>
          <a:prstGeom prst="rect">
            <a:avLst/>
          </a:prstGeom>
          <a:noFill/>
        </p:spPr>
        <p:txBody>
          <a:bodyPr wrap="square" lIns="0" rIns="0" tIns="0" bIns="0" anchor="t">
            <a:noAutofit/>
          </a:bodyPr>
          <a:lstStyle/>
          <a:p>
            <a:pPr algn="l"/>
            <a:r>
              <a:rPr sz="1150" b="1" i="0">
                <a:solidFill>
                  <a:srgbClr val="3F7668"/>
                </a:solidFill>
                <a:latin typeface="Arial"/>
              </a:rPr>
              <a:t>Proposed gates, not claims: this proposal and prototype have not shown SOC 2, an SLA or multi-tenancy; Tsenta's current status is unverified. All 14 requirements: appendix A6.</a:t>
            </a:r>
          </a:p>
        </p:txBody>
      </p:sp>
      <p:cxnSp>
        <p:nvCxnSpPr>
          <p:cNvPr id="25" name="Connector 24"/>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6"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27"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14</a:t>
            </a:r>
          </a:p>
        </p:txBody>
      </p:sp>
      <p:sp>
        <p:nvSpPr>
          <p:cNvPr id="28"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Feasibility review, October 13; 15 U.S.C. 1681a; CPPA; OWASP; AICPA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800" b="1" i="0">
                <a:solidFill>
                  <a:srgbClr val="251F21"/>
                </a:solidFill>
                <a:latin typeface="Arial"/>
              </a:rPr>
              <a:t>Cost follows use, not idle users.</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Q2  ·  FOR QUESTIONS  ·  ILLUSTRATIVE LIST PRICES</a:t>
            </a:r>
          </a:p>
        </p:txBody>
      </p:sp>
      <p:cxnSp>
        <p:nvCxnSpPr>
          <p:cNvPr id="4" name="Connector 3"/>
          <p:cNvCxnSpPr/>
          <p:nvPr/>
        </p:nvCxnSpPr>
        <p:spPr>
          <a:xfrm>
            <a:off x="731520" y="1645920"/>
            <a:ext cx="512064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719072"/>
            <a:ext cx="5120640" cy="868680"/>
          </a:xfrm>
          <a:prstGeom prst="rect">
            <a:avLst/>
          </a:prstGeom>
          <a:noFill/>
        </p:spPr>
        <p:txBody>
          <a:bodyPr wrap="square" lIns="0" rIns="0" tIns="0" bIns="0" anchor="t">
            <a:noAutofit/>
          </a:bodyPr>
          <a:lstStyle/>
          <a:p>
            <a:pPr algn="l">
              <a:spcAft>
                <a:spcPts val="200"/>
              </a:spcAft>
            </a:pPr>
            <a:r>
              <a:rPr sz="1600" b="1" i="0">
                <a:solidFill>
                  <a:srgbClr val="251F21"/>
                </a:solidFill>
                <a:latin typeface="Arial"/>
              </a:rPr>
              <a:t>Tsenta-owned state</a:t>
            </a:r>
          </a:p>
          <a:p>
            <a:pPr algn="l">
              <a:lnSpc>
                <a:spcPct val="105000"/>
              </a:lnSpc>
            </a:pPr>
            <a:r>
              <a:rPr sz="1200" b="0" i="0">
                <a:solidFill>
                  <a:srgbClr val="585254"/>
                </a:solidFill>
                <a:latin typeface="Arial"/>
              </a:rPr>
              <a:t>Postgres event log, documents, audit. A fixed floor, constant whichever runtime runs on top.</a:t>
            </a:r>
          </a:p>
        </p:txBody>
      </p:sp>
      <p:cxnSp>
        <p:nvCxnSpPr>
          <p:cNvPr id="6" name="Connector 5"/>
          <p:cNvCxnSpPr/>
          <p:nvPr/>
        </p:nvCxnSpPr>
        <p:spPr>
          <a:xfrm>
            <a:off x="731520" y="2633472"/>
            <a:ext cx="512064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706624"/>
            <a:ext cx="5120640" cy="868680"/>
          </a:xfrm>
          <a:prstGeom prst="rect">
            <a:avLst/>
          </a:prstGeom>
          <a:noFill/>
        </p:spPr>
        <p:txBody>
          <a:bodyPr wrap="square" lIns="0" rIns="0" tIns="0" bIns="0" anchor="t">
            <a:noAutofit/>
          </a:bodyPr>
          <a:lstStyle/>
          <a:p>
            <a:pPr algn="l">
              <a:spcAft>
                <a:spcPts val="200"/>
              </a:spcAft>
            </a:pPr>
            <a:r>
              <a:rPr sz="1600" b="1" i="0">
                <a:solidFill>
                  <a:srgbClr val="251F21"/>
                </a:solidFill>
                <a:latin typeface="Arial"/>
              </a:rPr>
              <a:t>A runtime that sleeps when idle</a:t>
            </a:r>
          </a:p>
          <a:p>
            <a:pPr algn="l">
              <a:lnSpc>
                <a:spcPct val="105000"/>
              </a:lnSpc>
            </a:pPr>
            <a:r>
              <a:rPr sz="1200" b="0" i="0">
                <a:solidFill>
                  <a:srgbClr val="585254"/>
                </a:solidFill>
                <a:latin typeface="Arial"/>
              </a:rPr>
              <a:t>Woken by events through a queue with jitter. Own code or a vendor runtime.</a:t>
            </a:r>
          </a:p>
        </p:txBody>
      </p:sp>
      <p:cxnSp>
        <p:nvCxnSpPr>
          <p:cNvPr id="8" name="Connector 7"/>
          <p:cNvCxnSpPr/>
          <p:nvPr/>
        </p:nvCxnSpPr>
        <p:spPr>
          <a:xfrm>
            <a:off x="731520" y="3621024"/>
            <a:ext cx="512064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3694176"/>
            <a:ext cx="5120640" cy="868680"/>
          </a:xfrm>
          <a:prstGeom prst="rect">
            <a:avLst/>
          </a:prstGeom>
          <a:noFill/>
        </p:spPr>
        <p:txBody>
          <a:bodyPr wrap="square" lIns="0" rIns="0" tIns="0" bIns="0" anchor="t">
            <a:noAutofit/>
          </a:bodyPr>
          <a:lstStyle/>
          <a:p>
            <a:pPr algn="l">
              <a:spcAft>
                <a:spcPts val="200"/>
              </a:spcAft>
            </a:pPr>
            <a:r>
              <a:rPr sz="1600" b="1" i="0">
                <a:solidFill>
                  <a:srgbClr val="251F21"/>
                </a:solidFill>
                <a:latin typeface="Arial"/>
              </a:rPr>
              <a:t>Usage-priced services</a:t>
            </a:r>
          </a:p>
          <a:p>
            <a:pPr algn="l">
              <a:lnSpc>
                <a:spcPct val="105000"/>
              </a:lnSpc>
            </a:pPr>
            <a:r>
              <a:rPr sz="1200" b="0" i="0">
                <a:solidFill>
                  <a:srgbClr val="585254"/>
                </a:solidFill>
                <a:latin typeface="Arial"/>
              </a:rPr>
              <a:t>Model tokens, hosted browsers, search, messaging. Most of the bill.</a:t>
            </a:r>
          </a:p>
        </p:txBody>
      </p:sp>
      <p:sp>
        <p:nvSpPr>
          <p:cNvPr id="10" name="TextBox 9"/>
          <p:cNvSpPr txBox="1"/>
          <p:nvPr/>
        </p:nvSpPr>
        <p:spPr>
          <a:xfrm>
            <a:off x="731520" y="4654296"/>
            <a:ext cx="5120640" cy="822960"/>
          </a:xfrm>
          <a:prstGeom prst="rect">
            <a:avLst/>
          </a:prstGeom>
          <a:noFill/>
        </p:spPr>
        <p:txBody>
          <a:bodyPr wrap="square" lIns="0" rIns="0" tIns="0" bIns="0" anchor="t">
            <a:noAutofit/>
          </a:bodyPr>
          <a:lstStyle/>
          <a:p>
            <a:pPr algn="l">
              <a:lnSpc>
                <a:spcPct val="105000"/>
              </a:lnSpc>
            </a:pPr>
            <a:r>
              <a:rPr sz="1200" b="0" i="0">
                <a:solidFill>
                  <a:srgbClr val="251F21"/>
                </a:solidFill>
                <a:latin typeface="Arial"/>
              </a:rPr>
              <a:t>One always-on VM per user adds about $7 a month per user for idle capacity. Routing and prompt caching cut the active-search model bill about six-fold.</a:t>
            </a:r>
          </a:p>
        </p:txBody>
      </p:sp>
      <p:sp>
        <p:nvSpPr>
          <p:cNvPr id="11" name="TextBox 10"/>
          <p:cNvSpPr txBox="1"/>
          <p:nvPr/>
        </p:nvSpPr>
        <p:spPr>
          <a:xfrm>
            <a:off x="6263640" y="1645920"/>
            <a:ext cx="5196535" cy="274320"/>
          </a:xfrm>
          <a:prstGeom prst="rect">
            <a:avLst/>
          </a:prstGeom>
          <a:noFill/>
        </p:spPr>
        <p:txBody>
          <a:bodyPr wrap="square" lIns="0" rIns="0" tIns="0" bIns="0" anchor="t">
            <a:noAutofit/>
          </a:bodyPr>
          <a:lstStyle/>
          <a:p>
            <a:pPr algn="l"/>
            <a:r>
              <a:rPr sz="1000" b="1" i="0" spc="80">
                <a:solidFill>
                  <a:srgbClr val="3F7668"/>
                </a:solidFill>
                <a:latin typeface="Arial"/>
              </a:rPr>
              <a:t>PER ACTIVE USER-MONTH, 1,000 USERS, ILLUSTRATIVE</a:t>
            </a:r>
          </a:p>
        </p:txBody>
      </p:sp>
      <p:cxnSp>
        <p:nvCxnSpPr>
          <p:cNvPr id="12" name="Connector 11"/>
          <p:cNvCxnSpPr/>
          <p:nvPr/>
        </p:nvCxnSpPr>
        <p:spPr>
          <a:xfrm>
            <a:off x="6263640" y="2011680"/>
            <a:ext cx="519653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63640" y="2103120"/>
            <a:ext cx="3017520" cy="731520"/>
          </a:xfrm>
          <a:prstGeom prst="rect">
            <a:avLst/>
          </a:prstGeom>
          <a:noFill/>
        </p:spPr>
        <p:txBody>
          <a:bodyPr wrap="square" lIns="0" rIns="0" tIns="0" bIns="0" anchor="t">
            <a:noAutofit/>
          </a:bodyPr>
          <a:lstStyle/>
          <a:p>
            <a:pPr algn="l">
              <a:spcAft>
                <a:spcPts val="200"/>
              </a:spcAft>
            </a:pPr>
            <a:r>
              <a:rPr sz="1000" b="1" i="0" spc="80">
                <a:solidFill>
                  <a:srgbClr val="3F7668"/>
                </a:solidFill>
                <a:latin typeface="Arial"/>
              </a:rPr>
              <a:t>LIGHT</a:t>
            </a:r>
          </a:p>
          <a:p>
            <a:pPr algn="l">
              <a:spcAft>
                <a:spcPts val="200"/>
              </a:spcAft>
            </a:pPr>
            <a:r>
              <a:rPr sz="1500" b="1" i="0">
                <a:solidFill>
                  <a:srgbClr val="251F21"/>
                </a:solidFill>
                <a:latin typeface="Arial"/>
              </a:rPr>
              <a:t>Job wedge</a:t>
            </a:r>
          </a:p>
          <a:p>
            <a:pPr algn="l"/>
            <a:r>
              <a:rPr sz="1050" b="0" i="0">
                <a:solidFill>
                  <a:srgbClr val="585254"/>
                </a:solidFill>
                <a:latin typeface="Arial"/>
              </a:rPr>
              <a:t>30 checks, 20 chats, 10 browser minutes</a:t>
            </a:r>
          </a:p>
        </p:txBody>
      </p:sp>
      <p:sp>
        <p:nvSpPr>
          <p:cNvPr id="14" name="TextBox 13"/>
          <p:cNvSpPr txBox="1"/>
          <p:nvPr/>
        </p:nvSpPr>
        <p:spPr>
          <a:xfrm>
            <a:off x="9448495" y="2121408"/>
            <a:ext cx="2011680" cy="640080"/>
          </a:xfrm>
          <a:prstGeom prst="rect">
            <a:avLst/>
          </a:prstGeom>
          <a:noFill/>
        </p:spPr>
        <p:txBody>
          <a:bodyPr wrap="square" lIns="0" rIns="0" tIns="0" bIns="0" anchor="t">
            <a:noAutofit/>
          </a:bodyPr>
          <a:lstStyle/>
          <a:p>
            <a:pPr algn="r"/>
            <a:r>
              <a:rPr sz="2600" b="1" i="0">
                <a:solidFill>
                  <a:srgbClr val="251F21"/>
                </a:solidFill>
                <a:latin typeface="Arial"/>
              </a:rPr>
              <a:t>about $1.16</a:t>
            </a:r>
          </a:p>
        </p:txBody>
      </p:sp>
      <p:cxnSp>
        <p:nvCxnSpPr>
          <p:cNvPr id="15" name="Connector 14"/>
          <p:cNvCxnSpPr/>
          <p:nvPr/>
        </p:nvCxnSpPr>
        <p:spPr>
          <a:xfrm>
            <a:off x="6263640" y="2926080"/>
            <a:ext cx="519653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263640" y="3017520"/>
            <a:ext cx="3017520" cy="731520"/>
          </a:xfrm>
          <a:prstGeom prst="rect">
            <a:avLst/>
          </a:prstGeom>
          <a:noFill/>
        </p:spPr>
        <p:txBody>
          <a:bodyPr wrap="square" lIns="0" rIns="0" tIns="0" bIns="0" anchor="t">
            <a:noAutofit/>
          </a:bodyPr>
          <a:lstStyle/>
          <a:p>
            <a:pPr algn="l">
              <a:spcAft>
                <a:spcPts val="200"/>
              </a:spcAft>
            </a:pPr>
            <a:r>
              <a:rPr sz="1000" b="1" i="0" spc="80">
                <a:solidFill>
                  <a:srgbClr val="3F7668"/>
                </a:solidFill>
                <a:latin typeface="Arial"/>
              </a:rPr>
              <a:t>NORMAL</a:t>
            </a:r>
          </a:p>
          <a:p>
            <a:pPr algn="l">
              <a:spcAft>
                <a:spcPts val="200"/>
              </a:spcAft>
            </a:pPr>
            <a:r>
              <a:rPr sz="1500" b="1" i="0">
                <a:solidFill>
                  <a:srgbClr val="251F21"/>
                </a:solidFill>
                <a:latin typeface="Arial"/>
              </a:rPr>
              <a:t>Active job search</a:t>
            </a:r>
          </a:p>
          <a:p>
            <a:pPr algn="l"/>
            <a:r>
              <a:rPr sz="1050" b="0" i="0">
                <a:solidFill>
                  <a:srgbClr val="585254"/>
                </a:solidFill>
                <a:latin typeface="Arial"/>
              </a:rPr>
              <a:t>120 checks, 80 chats, 60 browser minutes</a:t>
            </a:r>
          </a:p>
        </p:txBody>
      </p:sp>
      <p:sp>
        <p:nvSpPr>
          <p:cNvPr id="17" name="TextBox 16"/>
          <p:cNvSpPr txBox="1"/>
          <p:nvPr/>
        </p:nvSpPr>
        <p:spPr>
          <a:xfrm>
            <a:off x="9448495" y="3035808"/>
            <a:ext cx="2011680" cy="640080"/>
          </a:xfrm>
          <a:prstGeom prst="rect">
            <a:avLst/>
          </a:prstGeom>
          <a:noFill/>
        </p:spPr>
        <p:txBody>
          <a:bodyPr wrap="square" lIns="0" rIns="0" tIns="0" bIns="0" anchor="t">
            <a:noAutofit/>
          </a:bodyPr>
          <a:lstStyle/>
          <a:p>
            <a:pPr algn="r"/>
            <a:r>
              <a:rPr sz="2600" b="1" i="0">
                <a:solidFill>
                  <a:srgbClr val="251F21"/>
                </a:solidFill>
                <a:latin typeface="Arial"/>
              </a:rPr>
              <a:t>about $4.42</a:t>
            </a:r>
          </a:p>
        </p:txBody>
      </p:sp>
      <p:cxnSp>
        <p:nvCxnSpPr>
          <p:cNvPr id="18" name="Connector 17"/>
          <p:cNvCxnSpPr/>
          <p:nvPr/>
        </p:nvCxnSpPr>
        <p:spPr>
          <a:xfrm>
            <a:off x="6263640" y="3840480"/>
            <a:ext cx="519653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63640" y="3931920"/>
            <a:ext cx="3017520" cy="731520"/>
          </a:xfrm>
          <a:prstGeom prst="rect">
            <a:avLst/>
          </a:prstGeom>
          <a:noFill/>
        </p:spPr>
        <p:txBody>
          <a:bodyPr wrap="square" lIns="0" rIns="0" tIns="0" bIns="0" anchor="t">
            <a:noAutofit/>
          </a:bodyPr>
          <a:lstStyle/>
          <a:p>
            <a:pPr algn="l">
              <a:spcAft>
                <a:spcPts val="200"/>
              </a:spcAft>
            </a:pPr>
            <a:r>
              <a:rPr sz="1000" b="1" i="0" spc="80">
                <a:solidFill>
                  <a:srgbClr val="3F7668"/>
                </a:solidFill>
                <a:latin typeface="Arial"/>
              </a:rPr>
              <a:t>HEAVY</a:t>
            </a:r>
          </a:p>
          <a:p>
            <a:pPr algn="l">
              <a:spcAft>
                <a:spcPts val="200"/>
              </a:spcAft>
            </a:pPr>
            <a:r>
              <a:rPr sz="1500" b="1" i="0">
                <a:solidFill>
                  <a:srgbClr val="251F21"/>
                </a:solidFill>
                <a:latin typeface="Arial"/>
              </a:rPr>
              <a:t>Full-life scenario (vision)</a:t>
            </a:r>
          </a:p>
          <a:p>
            <a:pPr algn="l"/>
            <a:r>
              <a:rPr sz="1050" b="0" i="0">
                <a:solidFill>
                  <a:srgbClr val="585254"/>
                </a:solidFill>
                <a:latin typeface="Arial"/>
              </a:rPr>
              <a:t>720 checks, 300 chats, 300 browser minutes</a:t>
            </a:r>
          </a:p>
        </p:txBody>
      </p:sp>
      <p:sp>
        <p:nvSpPr>
          <p:cNvPr id="20" name="TextBox 19"/>
          <p:cNvSpPr txBox="1"/>
          <p:nvPr/>
        </p:nvSpPr>
        <p:spPr>
          <a:xfrm>
            <a:off x="9448495" y="3950208"/>
            <a:ext cx="2011680" cy="640080"/>
          </a:xfrm>
          <a:prstGeom prst="rect">
            <a:avLst/>
          </a:prstGeom>
          <a:noFill/>
        </p:spPr>
        <p:txBody>
          <a:bodyPr wrap="square" lIns="0" rIns="0" tIns="0" bIns="0" anchor="t">
            <a:noAutofit/>
          </a:bodyPr>
          <a:lstStyle/>
          <a:p>
            <a:pPr algn="r"/>
            <a:r>
              <a:rPr sz="2600" b="1" i="0">
                <a:solidFill>
                  <a:srgbClr val="251F21"/>
                </a:solidFill>
                <a:latin typeface="Arial"/>
              </a:rPr>
              <a:t>about $19.03</a:t>
            </a:r>
          </a:p>
        </p:txBody>
      </p:sp>
      <p:sp>
        <p:nvSpPr>
          <p:cNvPr id="21" name="TextBox 20"/>
          <p:cNvSpPr txBox="1"/>
          <p:nvPr/>
        </p:nvSpPr>
        <p:spPr>
          <a:xfrm>
            <a:off x="6263640" y="4791456"/>
            <a:ext cx="5196535" cy="457200"/>
          </a:xfrm>
          <a:prstGeom prst="rect">
            <a:avLst/>
          </a:prstGeom>
          <a:noFill/>
        </p:spPr>
        <p:txBody>
          <a:bodyPr wrap="square" lIns="0" rIns="0" tIns="0" bIns="0" anchor="t">
            <a:noAutofit/>
          </a:bodyPr>
          <a:lstStyle/>
          <a:p>
            <a:pPr algn="l"/>
            <a:r>
              <a:rPr sz="1150" b="0" i="0">
                <a:solidFill>
                  <a:srgbClr val="585254"/>
                </a:solidFill>
                <a:latin typeface="Arial"/>
              </a:rPr>
              <a:t>Heavy, across own-core runtimes and 100 to 10,000 users: $18.88 to $21.43.</a:t>
            </a:r>
          </a:p>
        </p:txBody>
      </p:sp>
      <p:sp>
        <p:nvSpPr>
          <p:cNvPr id="22" name="TextBox 21"/>
          <p:cNvSpPr txBox="1"/>
          <p:nvPr/>
        </p:nvSpPr>
        <p:spPr>
          <a:xfrm>
            <a:off x="731520" y="5577840"/>
            <a:ext cx="10728655" cy="640080"/>
          </a:xfrm>
          <a:prstGeom prst="rect">
            <a:avLst/>
          </a:prstGeom>
          <a:noFill/>
        </p:spPr>
        <p:txBody>
          <a:bodyPr wrap="square" lIns="0" rIns="0" tIns="0" bIns="0" anchor="t">
            <a:noAutofit/>
          </a:bodyPr>
          <a:lstStyle/>
          <a:p>
            <a:pPr algn="l">
              <a:lnSpc>
                <a:spcPct val="105000"/>
              </a:lnSpc>
            </a:pPr>
            <a:r>
              <a:rPr sz="1200" b="1" i="0">
                <a:solidFill>
                  <a:srgbClr val="3F7668"/>
                </a:solidFill>
                <a:latin typeface="Arial"/>
              </a:rPr>
              <a:t>Illustrative, at list prices on assumed usage: not Tsenta measurements, quotes, a price or a margin. Excludes engineering, fork maintenance, security assessments, compliance audits, enterprise support and custom tiers.</a:t>
            </a:r>
          </a:p>
        </p:txBody>
      </p:sp>
      <p:cxnSp>
        <p:nvCxnSpPr>
          <p:cNvPr id="23" name="Connector 22"/>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4"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25"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15</a:t>
            </a:r>
          </a:p>
        </p:txBody>
      </p:sp>
      <p:sp>
        <p:nvSpPr>
          <p:cNvPr id="26"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Scale-cost model; vendor list prices, October 13,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Wedges that grew stayed adjacent.</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A0  ·  PRECEDENTS, MECHANISM NOT PROOF</a:t>
            </a:r>
          </a:p>
        </p:txBody>
      </p:sp>
      <p:sp>
        <p:nvSpPr>
          <p:cNvPr id="4" name="TextBox 3"/>
          <p:cNvSpPr txBox="1"/>
          <p:nvPr/>
        </p:nvSpPr>
        <p:spPr>
          <a:xfrm>
            <a:off x="731520" y="1691640"/>
            <a:ext cx="5090007" cy="274320"/>
          </a:xfrm>
          <a:prstGeom prst="rect">
            <a:avLst/>
          </a:prstGeom>
          <a:noFill/>
        </p:spPr>
        <p:txBody>
          <a:bodyPr wrap="square" lIns="0" rIns="0" tIns="0" bIns="0" anchor="t">
            <a:noAutofit/>
          </a:bodyPr>
          <a:lstStyle/>
          <a:p>
            <a:pPr algn="l"/>
            <a:r>
              <a:rPr sz="1100" b="1" i="0" spc="100">
                <a:solidFill>
                  <a:srgbClr val="3F7668"/>
                </a:solidFill>
                <a:latin typeface="Arial"/>
              </a:rPr>
              <a:t>GREW FROM ONE TRUSTED ASSET</a:t>
            </a:r>
          </a:p>
        </p:txBody>
      </p:sp>
      <p:cxnSp>
        <p:nvCxnSpPr>
          <p:cNvPr id="5" name="Connector 4"/>
          <p:cNvCxnSpPr/>
          <p:nvPr/>
        </p:nvCxnSpPr>
        <p:spPr>
          <a:xfrm>
            <a:off x="731520" y="2039112"/>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30552"/>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Uber  </a:t>
            </a:r>
            <a:r>
              <a:rPr sz="1350" b="0" i="0">
                <a:solidFill>
                  <a:srgbClr val="585254"/>
                </a:solidFill>
                <a:latin typeface="Arial"/>
              </a:rPr>
              <a:t>Rides, then Eats and Uber One. Cross-platform users have retention rates over 35% higher and over 3x the gross bookings of single-business users (Q2 2025).</a:t>
            </a:r>
          </a:p>
        </p:txBody>
      </p:sp>
      <p:cxnSp>
        <p:nvCxnSpPr>
          <p:cNvPr id="7" name="Connector 6"/>
          <p:cNvCxnSpPr/>
          <p:nvPr/>
        </p:nvCxnSpPr>
        <p:spPr>
          <a:xfrm>
            <a:off x="731520" y="2807208"/>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2898648"/>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Grab  </a:t>
            </a:r>
            <a:r>
              <a:rPr sz="1350" b="0" i="0">
                <a:solidFill>
                  <a:srgbClr val="585254"/>
                </a:solidFill>
                <a:latin typeface="Arial"/>
              </a:rPr>
              <a:t>Rides, then payments, then lending. Financial services revenue up 37% to $347M in 2025.</a:t>
            </a:r>
          </a:p>
        </p:txBody>
      </p:sp>
      <p:cxnSp>
        <p:nvCxnSpPr>
          <p:cNvPr id="9" name="Connector 8"/>
          <p:cNvCxnSpPr/>
          <p:nvPr/>
        </p:nvCxnSpPr>
        <p:spPr>
          <a:xfrm>
            <a:off x="731520" y="3575304"/>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666744"/>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Duolingo  </a:t>
            </a:r>
            <a:r>
              <a:rPr sz="1350" b="0" i="0">
                <a:solidFill>
                  <a:srgbClr val="585254"/>
                </a:solidFill>
                <a:latin typeface="Arial"/>
              </a:rPr>
              <a:t>Language, then math, music and chess, in the same app. Chess became its fastest-growing subject (Q3 2025).</a:t>
            </a:r>
          </a:p>
        </p:txBody>
      </p:sp>
      <p:cxnSp>
        <p:nvCxnSpPr>
          <p:cNvPr id="11" name="Connector 10"/>
          <p:cNvCxnSpPr/>
          <p:nvPr/>
        </p:nvCxnSpPr>
        <p:spPr>
          <a:xfrm>
            <a:off x="731520" y="4343400"/>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4434840"/>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LinkedIn  </a:t>
            </a:r>
            <a:r>
              <a:rPr sz="1350" b="0" i="0">
                <a:solidFill>
                  <a:srgbClr val="585254"/>
                </a:solidFill>
                <a:latin typeface="Arial"/>
              </a:rPr>
              <a:t>Jobs and network, then learning: bought Lynda.com for $1.5B (2015).</a:t>
            </a:r>
          </a:p>
        </p:txBody>
      </p:sp>
      <p:sp>
        <p:nvSpPr>
          <p:cNvPr id="13" name="TextBox 12"/>
          <p:cNvSpPr txBox="1"/>
          <p:nvPr/>
        </p:nvSpPr>
        <p:spPr>
          <a:xfrm>
            <a:off x="6370167" y="1691640"/>
            <a:ext cx="5090007" cy="274320"/>
          </a:xfrm>
          <a:prstGeom prst="rect">
            <a:avLst/>
          </a:prstGeom>
          <a:noFill/>
        </p:spPr>
        <p:txBody>
          <a:bodyPr wrap="square" lIns="0" rIns="0" tIns="0" bIns="0" anchor="t">
            <a:noAutofit/>
          </a:bodyPr>
          <a:lstStyle/>
          <a:p>
            <a:pPr algn="l"/>
            <a:r>
              <a:rPr sz="1100" b="1" i="0" spc="100">
                <a:solidFill>
                  <a:srgbClr val="3F7668"/>
                </a:solidFill>
                <a:latin typeface="Arial"/>
              </a:rPr>
              <a:t>STARTED BROAD, THEN NARROWED OR CLOSED</a:t>
            </a:r>
          </a:p>
        </p:txBody>
      </p:sp>
      <p:cxnSp>
        <p:nvCxnSpPr>
          <p:cNvPr id="14" name="Connector 13"/>
          <p:cNvCxnSpPr/>
          <p:nvPr/>
        </p:nvCxnSpPr>
        <p:spPr>
          <a:xfrm>
            <a:off x="6370167" y="2039112"/>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70167" y="2130552"/>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Facebook M  </a:t>
            </a:r>
            <a:r>
              <a:rPr sz="1350" b="0" i="0">
                <a:solidFill>
                  <a:srgbClr val="585254"/>
                </a:solidFill>
                <a:latin typeface="Arial"/>
              </a:rPr>
              <a:t>An assistant for any request; shut down in January 2018. It relied on humans for the hardest queries.</a:t>
            </a:r>
          </a:p>
        </p:txBody>
      </p:sp>
      <p:cxnSp>
        <p:nvCxnSpPr>
          <p:cNvPr id="16" name="Connector 15"/>
          <p:cNvCxnSpPr/>
          <p:nvPr/>
        </p:nvCxnSpPr>
        <p:spPr>
          <a:xfrm>
            <a:off x="6370167" y="2807208"/>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70167" y="2898648"/>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Fin  </a:t>
            </a:r>
            <a:r>
              <a:rPr sz="1350" b="0" i="0">
                <a:solidFill>
                  <a:srgbClr val="585254"/>
                </a:solidFill>
                <a:latin typeface="Arial"/>
              </a:rPr>
              <a:t>Offload any chore by text or voice; moved to workplace analytics.</a:t>
            </a:r>
          </a:p>
        </p:txBody>
      </p:sp>
      <p:cxnSp>
        <p:nvCxnSpPr>
          <p:cNvPr id="18" name="Connector 17"/>
          <p:cNvCxnSpPr/>
          <p:nvPr/>
        </p:nvCxnSpPr>
        <p:spPr>
          <a:xfrm>
            <a:off x="6370167" y="3575304"/>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70167" y="3666744"/>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GoButler  </a:t>
            </a:r>
            <a:r>
              <a:rPr sz="1350" b="0" i="0">
                <a:solidFill>
                  <a:srgbClr val="585254"/>
                </a:solidFill>
                <a:latin typeface="Arial"/>
              </a:rPr>
              <a:t>Text for anything; rebooted as automated flight search (2016).</a:t>
            </a:r>
          </a:p>
        </p:txBody>
      </p:sp>
      <p:cxnSp>
        <p:nvCxnSpPr>
          <p:cNvPr id="20" name="Connector 19"/>
          <p:cNvCxnSpPr/>
          <p:nvPr/>
        </p:nvCxnSpPr>
        <p:spPr>
          <a:xfrm>
            <a:off x="6370167" y="4343400"/>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70167" y="4434840"/>
            <a:ext cx="5090007" cy="713232"/>
          </a:xfrm>
          <a:prstGeom prst="rect">
            <a:avLst/>
          </a:prstGeom>
          <a:noFill/>
        </p:spPr>
        <p:txBody>
          <a:bodyPr wrap="square" lIns="0" rIns="0" tIns="0" bIns="0" anchor="t">
            <a:noAutofit/>
          </a:bodyPr>
          <a:lstStyle/>
          <a:p>
            <a:pPr algn="l">
              <a:lnSpc>
                <a:spcPct val="106000"/>
              </a:lnSpc>
            </a:pPr>
            <a:r>
              <a:rPr sz="1350" b="1" i="0">
                <a:solidFill>
                  <a:srgbClr val="251F21"/>
                </a:solidFill>
                <a:latin typeface="Arial"/>
              </a:rPr>
              <a:t>Mezi  </a:t>
            </a:r>
            <a:r>
              <a:rPr sz="1350" b="0" i="0">
                <a:solidFill>
                  <a:srgbClr val="585254"/>
                </a:solidFill>
                <a:latin typeface="Arial"/>
              </a:rPr>
              <a:t>Narrowed to flights, hotels and restaurants, then sold to American Express (2018).</a:t>
            </a:r>
          </a:p>
        </p:txBody>
      </p:sp>
      <p:sp>
        <p:nvSpPr>
          <p:cNvPr id="22" name="TextBox 21"/>
          <p:cNvSpPr txBox="1"/>
          <p:nvPr/>
        </p:nvSpPr>
        <p:spPr>
          <a:xfrm>
            <a:off x="731520" y="5623560"/>
            <a:ext cx="10728655" cy="548640"/>
          </a:xfrm>
          <a:prstGeom prst="rect">
            <a:avLst/>
          </a:prstGeom>
          <a:noFill/>
        </p:spPr>
        <p:txBody>
          <a:bodyPr wrap="square" lIns="0" rIns="0" tIns="0" bIns="0" anchor="t">
            <a:noAutofit/>
          </a:bodyPr>
          <a:lstStyle/>
          <a:p>
            <a:pPr algn="l">
              <a:lnSpc>
                <a:spcPct val="105000"/>
              </a:lnSpc>
            </a:pPr>
            <a:r>
              <a:rPr sz="1350" b="1" i="0">
                <a:solidFill>
                  <a:srgbClr val="3F7668"/>
                </a:solidFill>
                <a:latin typeface="Arial"/>
              </a:rPr>
              <a:t>Mechanism, not proof: none of these is a job agent. The pattern is one trusted relationship, extended to the next most frequent need.</a:t>
            </a:r>
          </a:p>
        </p:txBody>
      </p:sp>
      <p:cxnSp>
        <p:nvCxnSpPr>
          <p:cNvPr id="23" name="Connector 22"/>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4"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Vision and roadmap. Only the job agent is live today.</a:t>
            </a:r>
            <a:r>
              <a:rPr sz="1000" b="0" i="0">
                <a:solidFill>
                  <a:srgbClr val="585254"/>
                </a:solidFill>
                <a:latin typeface="Arial"/>
              </a:rPr>
              <a:t>   Tsenta  ·  October 14, 2026</a:t>
            </a:r>
          </a:p>
        </p:txBody>
      </p:sp>
      <p:sp>
        <p:nvSpPr>
          <p:cNvPr id="25"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16</a:t>
            </a:r>
          </a:p>
        </p:txBody>
      </p:sp>
      <p:sp>
        <p:nvSpPr>
          <p:cNvPr id="26"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Uber, Grab, Duolingo filings; TechCrunch; Fortune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Today, proposed, proven.</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A1</a:t>
            </a:r>
          </a:p>
        </p:txBody>
      </p:sp>
      <p:graphicFrame>
        <p:nvGraphicFramePr>
          <p:cNvPr id="4" name="Table"/>
          <p:cNvGraphicFramePr>
            <a:graphicFrameLocks noGrp="1"/>
          </p:cNvGraphicFramePr>
          <p:nvPr/>
        </p:nvGraphicFramePr>
        <p:xfrm>
          <a:off x="731520" y="1645920"/>
          <a:ext cx="10728655" cy="4160520"/>
        </p:xfrm>
        <a:graphic>
          <a:graphicData uri="http://schemas.openxmlformats.org/drawingml/2006/table">
            <a:tbl>
              <a:tblPr firstRow="0" bandRow="0">
                <a:tableStyleId>{5C22544A-7EE6-4342-B048-85BDC9FD1C3A}</a:tableStyleId>
              </a:tblPr>
              <a:tblGrid>
                <a:gridCol w="4572000"/>
                <a:gridCol w="1920240"/>
                <a:gridCol w="4236415"/>
              </a:tblGrid>
              <a:tr h="320040">
                <a:tc>
                  <a:txBody>
                    <a:bodyPr wrap="square"/>
                    <a:lstStyle/>
                    <a:p>
                      <a:r>
                        <a:rPr sz="1000" b="1" i="0">
                          <a:solidFill>
                            <a:srgbClr val="3F7668"/>
                          </a:solidFill>
                          <a:latin typeface="Arial"/>
                        </a:rPr>
                        <a:t>ITEM</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1000" b="1" i="0">
                          <a:solidFill>
                            <a:srgbClr val="3F7668"/>
                          </a:solidFill>
                          <a:latin typeface="Arial"/>
                        </a:rPr>
                        <a:t>STATUS</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1000" b="1" i="0">
                          <a:solidFill>
                            <a:srgbClr val="3F7668"/>
                          </a:solidFill>
                          <a:latin typeface="Arial"/>
                        </a:rPr>
                        <a:t>BASIS</a:t>
                      </a:r>
                    </a:p>
                  </a:txBody>
                  <a:tcPr marL="73152" marR="73152" marT="36576" marB="36576">
                    <a:lnL w="0">
                      <a:noFill/>
                    </a:lnL>
                    <a:lnR w="0">
                      <a:noFill/>
                    </a:lnR>
                    <a:lnT w="0">
                      <a:noFill/>
                    </a:lnT>
                    <a:lnB w="9525">
                      <a:solidFill>
                        <a:srgbClr val="E4E0DD"/>
                      </a:solidFill>
                    </a:lnB>
                    <a:solidFill>
                      <a:srgbClr val="F6F4F2"/>
                    </a:solidFill>
                  </a:tcPr>
                </a:tc>
              </a:tr>
              <a:tr h="320040">
                <a:tc>
                  <a:txBody>
                    <a:bodyPr wrap="square"/>
                    <a:lstStyle/>
                    <a:p>
                      <a:r>
                        <a:rPr sz="1150" b="1" i="0">
                          <a:solidFill>
                            <a:srgbClr val="251F21"/>
                          </a:solidFill>
                          <a:latin typeface="Arial"/>
                        </a:rPr>
                        <a:t>Text doors: iMessage and WhatsApp</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LIVE TODAY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tsenta.com; tsenta.com/messaging</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MCP server for Claude, Cursor, Codex</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LIVE TODAY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tsenta.com/mcp</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Matches by text; reply yes to apply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LIVE TODAY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tsenta.com</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One shared record behind every door</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PROPOSED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This proposal; not implemented. Internal status unknown</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Approval collected by Tsenta, bound to the exact action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PROPOSED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Design; MCP route not shipped. Today approval “depends on your client”</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Switch: bring career facts and a resume, you review</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PROPOSED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Roadmap, not built. No chat-history or memory import</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Agent-started notes beyond new matches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PROPOSED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This proposal; not implemented. Internal status unknown</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Career-adjacent help: interviews, offers, grad school, next move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PROPOSED, THEN VISION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No job-search product found for the first 90 days; standalone coaches exist; demand not shown</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Life coverage beyond career</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VISION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Demand not shown. Opt-in, opened on evidence</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Wake adapters per host</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PROPOSED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Server-started runs: ChatGPT MCP Events only (docs); tested on no host</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Effect on churn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NOT PROVEN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The pilot tests it</a:t>
                      </a:r>
                    </a:p>
                  </a:txBody>
                  <a:tcPr marL="73152" marR="73152" marT="36576" marB="36576">
                    <a:lnL w="0">
                      <a:noFill/>
                    </a:lnL>
                    <a:lnR w="0">
                      <a:noFill/>
                    </a:lnR>
                    <a:lnT w="0">
                      <a:noFill/>
                    </a:lnT>
                    <a:lnB w="9525">
                      <a:solidFill>
                        <a:srgbClr val="E4E0DD"/>
                      </a:solidFill>
                    </a:lnB>
                    <a:solidFill>
                      <a:srgbClr val="FFFFFF"/>
                    </a:solidFill>
                  </a:tcPr>
                </a:tc>
              </a:tr>
              <a:tr h="320040">
                <a:tc>
                  <a:txBody>
                    <a:bodyPr wrap="square"/>
                    <a:lstStyle/>
                    <a:p>
                      <a:r>
                        <a:rPr sz="1150" b="1" i="0">
                          <a:solidFill>
                            <a:srgbClr val="251F21"/>
                          </a:solidFill>
                          <a:latin typeface="Arial"/>
                        </a:rPr>
                        <a:t>Unknown states, bound yes, you-send drafts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1" i="0">
                          <a:solidFill>
                            <a:srgbClr val="3F7668"/>
                          </a:solidFill>
                          <a:latin typeface="Arial"/>
                        </a:rPr>
                        <a:t>SYNTHETIC DEMO</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150" b="0" i="0">
                          <a:solidFill>
                            <a:srgbClr val="585254"/>
                          </a:solidFill>
                          <a:latin typeface="Arial"/>
                        </a:rPr>
                        <a:t>Prototype on made-up data; not Tsenta</a:t>
                      </a:r>
                    </a:p>
                  </a:txBody>
                  <a:tcPr marL="73152" marR="73152" marT="36576" marB="36576">
                    <a:lnL w="0">
                      <a:noFill/>
                    </a:lnL>
                    <a:lnR w="0">
                      <a:noFill/>
                    </a:lnR>
                    <a:lnT w="0">
                      <a:noFill/>
                    </a:lnT>
                    <a:lnB w="9525">
                      <a:solidFill>
                        <a:srgbClr val="E4E0DD"/>
                      </a:solidFill>
                    </a:lnB>
                    <a:solidFill>
                      <a:srgbClr val="FFFFFF"/>
                    </a:solidFill>
                  </a:tcPr>
                </a:tc>
              </a:tr>
            </a:tbl>
          </a:graphicData>
        </a:graphic>
      </p:graphicFrame>
      <p:cxnSp>
        <p:nvCxnSpPr>
          <p:cNvPr id="5" name="Connector 4"/>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7"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Host matrix: what each host documents. Tested on none.</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A2</a:t>
            </a:r>
          </a:p>
        </p:txBody>
      </p:sp>
      <p:graphicFrame>
        <p:nvGraphicFramePr>
          <p:cNvPr id="4" name="Table"/>
          <p:cNvGraphicFramePr>
            <a:graphicFrameLocks noGrp="1"/>
          </p:cNvGraphicFramePr>
          <p:nvPr/>
        </p:nvGraphicFramePr>
        <p:xfrm>
          <a:off x="731520" y="1645920"/>
          <a:ext cx="10728656" cy="3931920"/>
        </p:xfrm>
        <a:graphic>
          <a:graphicData uri="http://schemas.openxmlformats.org/drawingml/2006/table">
            <a:tbl>
              <a:tblPr firstRow="0" bandRow="0">
                <a:tableStyleId>{5C22544A-7EE6-4342-B048-85BDC9FD1C3A}</a:tableStyleId>
              </a:tblPr>
              <a:tblGrid>
                <a:gridCol w="1737360"/>
                <a:gridCol w="2651760"/>
                <a:gridCol w="3566160"/>
                <a:gridCol w="2773376"/>
              </a:tblGrid>
              <a:tr h="393192">
                <a:tc>
                  <a:txBody>
                    <a:bodyPr wrap="square"/>
                    <a:lstStyle/>
                    <a:p>
                      <a:r>
                        <a:rPr sz="1000" b="1" i="0">
                          <a:solidFill>
                            <a:srgbClr val="3F7668"/>
                          </a:solidFill>
                          <a:latin typeface="Arial"/>
                        </a:rPr>
                        <a:t>HOST</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1000" b="1" i="0">
                          <a:solidFill>
                            <a:srgbClr val="3F7668"/>
                          </a:solidFill>
                          <a:latin typeface="Arial"/>
                        </a:rPr>
                        <a:t>STANDARD MCP (DOCS)</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1000" b="1" i="0">
                          <a:solidFill>
                            <a:srgbClr val="3F7668"/>
                          </a:solidFill>
                          <a:latin typeface="Arial"/>
                        </a:rPr>
                        <a:t>PROACTIVE PATH (DOCS)</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1000" b="1" i="0">
                          <a:solidFill>
                            <a:srgbClr val="3F7668"/>
                          </a:solidFill>
                          <a:latin typeface="Arial"/>
                        </a:rPr>
                        <a:t>UNATTENDED WRITES (DOCS)</a:t>
                      </a:r>
                    </a:p>
                  </a:txBody>
                  <a:tcPr marL="73152" marR="73152" marT="36576" marB="36576">
                    <a:lnL w="0">
                      <a:noFill/>
                    </a:lnL>
                    <a:lnR w="0">
                      <a:noFill/>
                    </a:lnR>
                    <a:lnT w="0">
                      <a:noFill/>
                    </a:lnT>
                    <a:lnB w="9525">
                      <a:solidFill>
                        <a:srgbClr val="E4E0DD"/>
                      </a:solidFill>
                    </a:lnB>
                    <a:solidFill>
                      <a:srgbClr val="F6F4F2"/>
                    </a:solidFill>
                  </a:tcPr>
                </a:tc>
              </a:tr>
              <a:tr h="393192">
                <a:tc>
                  <a:txBody>
                    <a:bodyPr wrap="square"/>
                    <a:lstStyle/>
                    <a:p>
                      <a:r>
                        <a:rPr sz="1050" b="1" i="0">
                          <a:solidFill>
                            <a:srgbClr val="251F21"/>
                          </a:solidFill>
                          <a:latin typeface="Arial"/>
                        </a:rPr>
                        <a:t>ChatGPT (Chat, Work)</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Full MCP: Business, Enterprise, Edu (beta, admin, web); Pro read-only; published-plugin reach by plan unknown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MCP Events into Work chats and dots; eligible plans not documented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Unattended plugin writes not documented</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ChatGPT dots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Installed plugins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Its own decision, a set time or a supported event; MCP Events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Research read-only; assigned recurring tasks can include actions you authorized (automatic review)</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Claude (web, Desktop)</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Remote MCP; documented up to 2025-11-25</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Scheduled tasks with connectors (paid plans); no server-triggered run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Research mode calls connector tools without further approval</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Claude Code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HTTP, SSE, stdio; 2026-07-28 on the v2 runtime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Routines (1 hour minimum); channels in research preview, not on 2026-07-28</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Routines: no permission prompts</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Gemini app</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Custom app by MCP URL</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Schedules and monitors (AI Pro, Ultra); no server trigger</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Manual confirmation for any write</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Cursor</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stdio, SSE, HTTP</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Automations on a schedule or webhook</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No approval step described</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Poke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Remote MCP by URL</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Inbound API (vendor API, not MCP)</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Not documented</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Meta Muse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Meta-reviewed connector; user custom connectors exist, MCP form unknown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Background use of third-party connectors unknown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Ask on first use; sensitive writes ask every time</a:t>
                      </a:r>
                    </a:p>
                  </a:txBody>
                  <a:tcPr marL="73152" marR="73152" marT="36576" marB="36576">
                    <a:lnL w="0">
                      <a:noFill/>
                    </a:lnL>
                    <a:lnR w="0">
                      <a:noFill/>
                    </a:lnR>
                    <a:lnT w="0">
                      <a:noFill/>
                    </a:lnT>
                    <a:lnB w="9525">
                      <a:solidFill>
                        <a:srgbClr val="E4E0DD"/>
                      </a:solidFill>
                    </a:lnB>
                    <a:solidFill>
                      <a:srgbClr val="FFFFFF"/>
                    </a:solidFill>
                  </a:tcPr>
                </a:tc>
              </a:tr>
              <a:tr h="393192">
                <a:tc>
                  <a:txBody>
                    <a:bodyPr wrap="square"/>
                    <a:lstStyle/>
                    <a:p>
                      <a:r>
                        <a:rPr sz="1050" b="1" i="0">
                          <a:solidFill>
                            <a:srgbClr val="251F21"/>
                          </a:solidFill>
                          <a:latin typeface="Arial"/>
                        </a:rPr>
                        <a:t>Instinct</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No MCP, plugin or API route published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Text or call only (public site)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050" b="0" i="0">
                          <a:solidFill>
                            <a:srgbClr val="585254"/>
                          </a:solidFill>
                          <a:latin typeface="Arial"/>
                        </a:rPr>
                        <a:t>Not published</a:t>
                      </a:r>
                    </a:p>
                  </a:txBody>
                  <a:tcPr marL="73152" marR="73152" marT="36576" marB="36576">
                    <a:lnL w="0">
                      <a:noFill/>
                    </a:lnL>
                    <a:lnR w="0">
                      <a:noFill/>
                    </a:lnR>
                    <a:lnT w="0">
                      <a:noFill/>
                    </a:lnT>
                    <a:lnB w="9525">
                      <a:solidFill>
                        <a:srgbClr val="E4E0DD"/>
                      </a:solidFill>
                    </a:lnB>
                    <a:solidFill>
                      <a:srgbClr val="FFFFFF"/>
                    </a:solidFill>
                  </a:tcPr>
                </a:tc>
              </a:tr>
            </a:tbl>
          </a:graphicData>
        </a:graphic>
      </p:graphicFrame>
      <p:sp>
        <p:nvSpPr>
          <p:cNvPr id="5" name="TextBox 4"/>
          <p:cNvSpPr txBox="1"/>
          <p:nvPr/>
        </p:nvSpPr>
        <p:spPr>
          <a:xfrm>
            <a:off x="731520" y="5971032"/>
            <a:ext cx="10728655" cy="274320"/>
          </a:xfrm>
          <a:prstGeom prst="rect">
            <a:avLst/>
          </a:prstGeom>
          <a:noFill/>
        </p:spPr>
        <p:txBody>
          <a:bodyPr wrap="square" lIns="0" rIns="0" tIns="0" bIns="0" anchor="t">
            <a:noAutofit/>
          </a:bodyPr>
          <a:lstStyle/>
          <a:p>
            <a:pPr algn="l"/>
            <a:r>
              <a:rPr sz="1050" b="0" i="0">
                <a:solidFill>
                  <a:srgbClr val="585254"/>
                </a:solidFill>
                <a:latin typeface="Arial"/>
              </a:rPr>
              <a:t>Cells condensed from each host's documentation, read October 13; ChatGPT, Muse and Instinct re-read October 14. Nothing here is tested.</a:t>
            </a:r>
          </a:p>
        </p:txBody>
      </p:sp>
      <p:cxnSp>
        <p:nvCxnSpPr>
          <p:cNvPr id="6" name="Connector 5"/>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7"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8"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18</a:t>
            </a:r>
          </a:p>
        </p:txBody>
      </p:sp>
      <p:sp>
        <p:nvSpPr>
          <p:cNvPr id="9"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OpenAI, Anthropic, Google, Cursor, Poke, Meta docs; instinct.com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What MCP can and cannot do today.</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A3</a:t>
            </a:r>
          </a:p>
        </p:txBody>
      </p:sp>
      <p:cxnSp>
        <p:nvCxnSpPr>
          <p:cNvPr id="4" name="Connector 3"/>
          <p:cNvCxnSpPr/>
          <p:nvPr/>
        </p:nvCxnSpPr>
        <p:spPr>
          <a:xfrm>
            <a:off x="731520" y="1691640"/>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792224"/>
            <a:ext cx="5760720" cy="566928"/>
          </a:xfrm>
          <a:prstGeom prst="rect">
            <a:avLst/>
          </a:prstGeom>
          <a:noFill/>
        </p:spPr>
        <p:txBody>
          <a:bodyPr wrap="square" lIns="0" rIns="0" tIns="0" bIns="0" anchor="t">
            <a:noAutofit/>
          </a:bodyPr>
          <a:lstStyle/>
          <a:p>
            <a:pPr algn="l">
              <a:lnSpc>
                <a:spcPct val="105000"/>
              </a:lnSpc>
            </a:pPr>
            <a:r>
              <a:rPr sz="1400" b="0" i="0">
                <a:solidFill>
                  <a:srgbClr val="251F21"/>
                </a:solidFill>
                <a:latin typeface="Arial"/>
              </a:rPr>
              <a:t>The current MCP revision is 2026-07-28.</a:t>
            </a:r>
          </a:p>
        </p:txBody>
      </p:sp>
      <p:sp>
        <p:nvSpPr>
          <p:cNvPr id="6" name="TextBox 5"/>
          <p:cNvSpPr txBox="1"/>
          <p:nvPr/>
        </p:nvSpPr>
        <p:spPr>
          <a:xfrm>
            <a:off x="6720840" y="1810512"/>
            <a:ext cx="4739335" cy="566928"/>
          </a:xfrm>
          <a:prstGeom prst="rect">
            <a:avLst/>
          </a:prstGeom>
          <a:noFill/>
        </p:spPr>
        <p:txBody>
          <a:bodyPr wrap="square" lIns="0" rIns="0" tIns="0" bIns="0" anchor="t">
            <a:noAutofit/>
          </a:bodyPr>
          <a:lstStyle/>
          <a:p>
            <a:pPr algn="l">
              <a:lnSpc>
                <a:spcPct val="105000"/>
              </a:lnSpc>
            </a:pPr>
            <a:r>
              <a:rPr sz="900" b="0" i="0">
                <a:solidFill>
                  <a:srgbClr val="585254"/>
                </a:solidFill>
                <a:latin typeface="Arial"/>
              </a:rPr>
              <a:t>modelcontextprotocol.io/specification/versioning</a:t>
            </a:r>
          </a:p>
        </p:txBody>
      </p:sp>
      <p:cxnSp>
        <p:nvCxnSpPr>
          <p:cNvPr id="7" name="Connector 6"/>
          <p:cNvCxnSpPr/>
          <p:nvPr/>
        </p:nvCxnSpPr>
        <p:spPr>
          <a:xfrm>
            <a:off x="731520" y="231343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2414016"/>
            <a:ext cx="5760720" cy="566928"/>
          </a:xfrm>
          <a:prstGeom prst="rect">
            <a:avLst/>
          </a:prstGeom>
          <a:noFill/>
        </p:spPr>
        <p:txBody>
          <a:bodyPr wrap="square" lIns="0" rIns="0" tIns="0" bIns="0" anchor="t">
            <a:noAutofit/>
          </a:bodyPr>
          <a:lstStyle/>
          <a:p>
            <a:pPr algn="l">
              <a:lnSpc>
                <a:spcPct val="105000"/>
              </a:lnSpc>
            </a:pPr>
            <a:r>
              <a:rPr sz="1400" b="0" i="0">
                <a:solidFill>
                  <a:srgbClr val="251F21"/>
                </a:solidFill>
                <a:latin typeface="Arial"/>
              </a:rPr>
              <a:t>“Every interaction begins with the client.” Servers must not initiate requests.</a:t>
            </a:r>
          </a:p>
        </p:txBody>
      </p:sp>
      <p:sp>
        <p:nvSpPr>
          <p:cNvPr id="9" name="TextBox 8"/>
          <p:cNvSpPr txBox="1"/>
          <p:nvPr/>
        </p:nvSpPr>
        <p:spPr>
          <a:xfrm>
            <a:off x="6720840" y="2432304"/>
            <a:ext cx="4739335" cy="566928"/>
          </a:xfrm>
          <a:prstGeom prst="rect">
            <a:avLst/>
          </a:prstGeom>
          <a:noFill/>
        </p:spPr>
        <p:txBody>
          <a:bodyPr wrap="square" lIns="0" rIns="0" tIns="0" bIns="0" anchor="t">
            <a:noAutofit/>
          </a:bodyPr>
          <a:lstStyle/>
          <a:p>
            <a:pPr algn="l">
              <a:lnSpc>
                <a:spcPct val="105000"/>
              </a:lnSpc>
            </a:pPr>
            <a:r>
              <a:rPr sz="900" b="0" i="0">
                <a:solidFill>
                  <a:srgbClr val="585254"/>
                </a:solidFill>
                <a:latin typeface="Arial"/>
              </a:rPr>
              <a:t>modelcontextprotocol.io/specification/2026-07-28/basic/patterns</a:t>
            </a:r>
          </a:p>
        </p:txBody>
      </p:sp>
      <p:cxnSp>
        <p:nvCxnSpPr>
          <p:cNvPr id="10" name="Connector 9"/>
          <p:cNvCxnSpPr/>
          <p:nvPr/>
        </p:nvCxnSpPr>
        <p:spPr>
          <a:xfrm>
            <a:off x="731520" y="2935224"/>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035808"/>
            <a:ext cx="5760720" cy="566928"/>
          </a:xfrm>
          <a:prstGeom prst="rect">
            <a:avLst/>
          </a:prstGeom>
          <a:noFill/>
        </p:spPr>
        <p:txBody>
          <a:bodyPr wrap="square" lIns="0" rIns="0" tIns="0" bIns="0" anchor="t">
            <a:noAutofit/>
          </a:bodyPr>
          <a:lstStyle/>
          <a:p>
            <a:pPr algn="l">
              <a:lnSpc>
                <a:spcPct val="105000"/>
              </a:lnSpc>
            </a:pPr>
            <a:r>
              <a:rPr sz="1400" b="0" i="0">
                <a:solidFill>
                  <a:srgbClr val="251F21"/>
                </a:solidFill>
                <a:latin typeface="Arial"/>
              </a:rPr>
              <a:t>Push is a client-opened stream of change notices (subscriptions/listen).</a:t>
            </a:r>
          </a:p>
        </p:txBody>
      </p:sp>
      <p:sp>
        <p:nvSpPr>
          <p:cNvPr id="12" name="TextBox 11"/>
          <p:cNvSpPr txBox="1"/>
          <p:nvPr/>
        </p:nvSpPr>
        <p:spPr>
          <a:xfrm>
            <a:off x="6720840" y="3054096"/>
            <a:ext cx="4739335" cy="566928"/>
          </a:xfrm>
          <a:prstGeom prst="rect">
            <a:avLst/>
          </a:prstGeom>
          <a:noFill/>
        </p:spPr>
        <p:txBody>
          <a:bodyPr wrap="square" lIns="0" rIns="0" tIns="0" bIns="0" anchor="t">
            <a:noAutofit/>
          </a:bodyPr>
          <a:lstStyle/>
          <a:p>
            <a:pPr algn="l">
              <a:lnSpc>
                <a:spcPct val="105000"/>
              </a:lnSpc>
            </a:pPr>
            <a:r>
              <a:rPr sz="900" b="0" i="0">
                <a:solidFill>
                  <a:srgbClr val="585254"/>
                </a:solidFill>
                <a:latin typeface="Arial"/>
              </a:rPr>
              <a:t>modelcontextprotocol.io/specification/2026-07-28/basic/patterns/subscriptions</a:t>
            </a:r>
          </a:p>
        </p:txBody>
      </p:sp>
      <p:cxnSp>
        <p:nvCxnSpPr>
          <p:cNvPr id="13" name="Connector 12"/>
          <p:cNvCxnSpPr/>
          <p:nvPr/>
        </p:nvCxnSpPr>
        <p:spPr>
          <a:xfrm>
            <a:off x="731520" y="3557016"/>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657600"/>
            <a:ext cx="5760720" cy="566928"/>
          </a:xfrm>
          <a:prstGeom prst="rect">
            <a:avLst/>
          </a:prstGeom>
          <a:noFill/>
        </p:spPr>
        <p:txBody>
          <a:bodyPr wrap="square" lIns="0" rIns="0" tIns="0" bIns="0" anchor="t">
            <a:noAutofit/>
          </a:bodyPr>
          <a:lstStyle/>
          <a:p>
            <a:pPr algn="l">
              <a:lnSpc>
                <a:spcPct val="105000"/>
              </a:lnSpc>
            </a:pPr>
            <a:r>
              <a:rPr sz="1400" b="0" i="0">
                <a:solidFill>
                  <a:srgbClr val="251F21"/>
                </a:solidFill>
                <a:latin typeface="Arial"/>
              </a:rPr>
              <a:t>Server-initiated events are on the roadmap. The Events extension (SEP-3415) is a draft.</a:t>
            </a:r>
          </a:p>
        </p:txBody>
      </p:sp>
      <p:sp>
        <p:nvSpPr>
          <p:cNvPr id="15" name="TextBox 14"/>
          <p:cNvSpPr txBox="1"/>
          <p:nvPr/>
        </p:nvSpPr>
        <p:spPr>
          <a:xfrm>
            <a:off x="6720840" y="3675888"/>
            <a:ext cx="4739335" cy="566928"/>
          </a:xfrm>
          <a:prstGeom prst="rect">
            <a:avLst/>
          </a:prstGeom>
          <a:noFill/>
        </p:spPr>
        <p:txBody>
          <a:bodyPr wrap="square" lIns="0" rIns="0" tIns="0" bIns="0" anchor="t">
            <a:noAutofit/>
          </a:bodyPr>
          <a:lstStyle/>
          <a:p>
            <a:pPr algn="l">
              <a:lnSpc>
                <a:spcPct val="105000"/>
              </a:lnSpc>
            </a:pPr>
            <a:r>
              <a:rPr sz="900" b="0" i="0">
                <a:solidFill>
                  <a:srgbClr val="585254"/>
                </a:solidFill>
                <a:latin typeface="Arial"/>
              </a:rPr>
              <a:t>modelcontextprotocol.io/development/roadmap and github.com/modelcontextprotocol/modelcontextprotocol/pull/3415</a:t>
            </a:r>
          </a:p>
        </p:txBody>
      </p:sp>
      <p:cxnSp>
        <p:nvCxnSpPr>
          <p:cNvPr id="16" name="Connector 15"/>
          <p:cNvCxnSpPr/>
          <p:nvPr/>
        </p:nvCxnSpPr>
        <p:spPr>
          <a:xfrm>
            <a:off x="731520" y="4178808"/>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4279392"/>
            <a:ext cx="5760720" cy="566928"/>
          </a:xfrm>
          <a:prstGeom prst="rect">
            <a:avLst/>
          </a:prstGeom>
          <a:noFill/>
        </p:spPr>
        <p:txBody>
          <a:bodyPr wrap="square" lIns="0" rIns="0" tIns="0" bIns="0" anchor="t">
            <a:noAutofit/>
          </a:bodyPr>
          <a:lstStyle/>
          <a:p>
            <a:pPr algn="l">
              <a:lnSpc>
                <a:spcPct val="105000"/>
              </a:lnSpc>
            </a:pPr>
            <a:r>
              <a:rPr sz="1400" b="0" i="0">
                <a:solidFill>
                  <a:srgbClr val="251F21"/>
                </a:solidFill>
                <a:latin typeface="Arial"/>
              </a:rPr>
              <a:t>Sampling is deprecated, so an agent behind MCP pays for its own model calls.</a:t>
            </a:r>
          </a:p>
        </p:txBody>
      </p:sp>
      <p:sp>
        <p:nvSpPr>
          <p:cNvPr id="18" name="TextBox 17"/>
          <p:cNvSpPr txBox="1"/>
          <p:nvPr/>
        </p:nvSpPr>
        <p:spPr>
          <a:xfrm>
            <a:off x="6720840" y="4297680"/>
            <a:ext cx="4739335" cy="566928"/>
          </a:xfrm>
          <a:prstGeom prst="rect">
            <a:avLst/>
          </a:prstGeom>
          <a:noFill/>
        </p:spPr>
        <p:txBody>
          <a:bodyPr wrap="square" lIns="0" rIns="0" tIns="0" bIns="0" anchor="t">
            <a:noAutofit/>
          </a:bodyPr>
          <a:lstStyle/>
          <a:p>
            <a:pPr algn="l">
              <a:lnSpc>
                <a:spcPct val="105000"/>
              </a:lnSpc>
            </a:pPr>
            <a:r>
              <a:rPr sz="900" b="0" i="0">
                <a:solidFill>
                  <a:srgbClr val="585254"/>
                </a:solidFill>
                <a:latin typeface="Arial"/>
              </a:rPr>
              <a:t>modelcontextprotocol.io/specification/2026-07-28/deprecated</a:t>
            </a:r>
          </a:p>
        </p:txBody>
      </p:sp>
      <p:cxnSp>
        <p:nvCxnSpPr>
          <p:cNvPr id="19" name="Connector 18"/>
          <p:cNvCxnSpPr/>
          <p:nvPr/>
        </p:nvCxnSpPr>
        <p:spPr>
          <a:xfrm>
            <a:off x="731520" y="4800600"/>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4901184"/>
            <a:ext cx="5760720" cy="566928"/>
          </a:xfrm>
          <a:prstGeom prst="rect">
            <a:avLst/>
          </a:prstGeom>
          <a:noFill/>
        </p:spPr>
        <p:txBody>
          <a:bodyPr wrap="square" lIns="0" rIns="0" tIns="0" bIns="0" anchor="t">
            <a:noAutofit/>
          </a:bodyPr>
          <a:lstStyle/>
          <a:p>
            <a:pPr algn="l">
              <a:lnSpc>
                <a:spcPct val="105000"/>
              </a:lnSpc>
            </a:pPr>
            <a:r>
              <a:rPr sz="1400" b="0" i="0">
                <a:solidFill>
                  <a:srgbClr val="251F21"/>
                </a:solidFill>
                <a:latin typeface="Arial"/>
              </a:rPr>
              <a:t>ChatGPT MCP Events lets a subscribed server wake ChatGPT in Work chats and dots. ChatGPT decides what the user sees.</a:t>
            </a:r>
          </a:p>
        </p:txBody>
      </p:sp>
      <p:sp>
        <p:nvSpPr>
          <p:cNvPr id="21" name="TextBox 20"/>
          <p:cNvSpPr txBox="1"/>
          <p:nvPr/>
        </p:nvSpPr>
        <p:spPr>
          <a:xfrm>
            <a:off x="6720840" y="4919472"/>
            <a:ext cx="4739335" cy="566928"/>
          </a:xfrm>
          <a:prstGeom prst="rect">
            <a:avLst/>
          </a:prstGeom>
          <a:noFill/>
        </p:spPr>
        <p:txBody>
          <a:bodyPr wrap="square" lIns="0" rIns="0" tIns="0" bIns="0" anchor="t">
            <a:noAutofit/>
          </a:bodyPr>
          <a:lstStyle/>
          <a:p>
            <a:pPr algn="l">
              <a:lnSpc>
                <a:spcPct val="105000"/>
              </a:lnSpc>
            </a:pPr>
            <a:r>
              <a:rPr sz="900" b="0" i="0">
                <a:solidFill>
                  <a:srgbClr val="585254"/>
                </a:solidFill>
                <a:latin typeface="Arial"/>
              </a:rPr>
              <a:t>developers.openai.com/plugins/build/mcp-events</a:t>
            </a:r>
          </a:p>
        </p:txBody>
      </p:sp>
      <p:sp>
        <p:nvSpPr>
          <p:cNvPr id="22" name="TextBox 21"/>
          <p:cNvSpPr txBox="1"/>
          <p:nvPr/>
        </p:nvSpPr>
        <p:spPr>
          <a:xfrm>
            <a:off x="731520" y="5605272"/>
            <a:ext cx="10728655" cy="548640"/>
          </a:xfrm>
          <a:prstGeom prst="rect">
            <a:avLst/>
          </a:prstGeom>
          <a:noFill/>
        </p:spPr>
        <p:txBody>
          <a:bodyPr wrap="square" lIns="0" rIns="0" tIns="0" bIns="0" anchor="t">
            <a:noAutofit/>
          </a:bodyPr>
          <a:lstStyle/>
          <a:p>
            <a:pPr algn="l">
              <a:lnSpc>
                <a:spcPct val="105000"/>
              </a:lnSpc>
            </a:pPr>
            <a:r>
              <a:rPr sz="1500" b="1" i="0">
                <a:solidFill>
                  <a:srgbClr val="3F7668"/>
                </a:solidFill>
                <a:latin typeface="Arial"/>
              </a:rPr>
              <a:t>So: standard MCP alone does not let Tsenta reach a user first today, and some hosts now add a wake path. Build for both.</a:t>
            </a:r>
          </a:p>
        </p:txBody>
      </p:sp>
      <p:cxnSp>
        <p:nvCxnSpPr>
          <p:cNvPr id="23" name="Connector 22"/>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4"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25"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General agents race; career inside them is mostly search.</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A4</a:t>
            </a:r>
          </a:p>
        </p:txBody>
      </p:sp>
      <p:sp>
        <p:nvSpPr>
          <p:cNvPr id="4" name="TextBox 3"/>
          <p:cNvSpPr txBox="1"/>
          <p:nvPr/>
        </p:nvSpPr>
        <p:spPr>
          <a:xfrm>
            <a:off x="731520" y="1691640"/>
            <a:ext cx="5090007" cy="274320"/>
          </a:xfrm>
          <a:prstGeom prst="rect">
            <a:avLst/>
          </a:prstGeom>
          <a:noFill/>
        </p:spPr>
        <p:txBody>
          <a:bodyPr wrap="square" lIns="0" rIns="0" tIns="0" bIns="0" anchor="t">
            <a:noAutofit/>
          </a:bodyPr>
          <a:lstStyle/>
          <a:p>
            <a:pPr algn="l"/>
            <a:r>
              <a:rPr sz="1100" b="1" i="0" spc="100">
                <a:solidFill>
                  <a:srgbClr val="3F7668"/>
                </a:solidFill>
                <a:latin typeface="Arial"/>
              </a:rPr>
              <a:t>GENERAL AGENTS</a:t>
            </a:r>
          </a:p>
        </p:txBody>
      </p:sp>
      <p:cxnSp>
        <p:nvCxnSpPr>
          <p:cNvPr id="5" name="Connector 4"/>
          <p:cNvCxnSpPr/>
          <p:nvPr/>
        </p:nvCxnSpPr>
        <p:spPr>
          <a:xfrm>
            <a:off x="731520" y="2011680"/>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2103120"/>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OpenAI dots  </a:t>
            </a:r>
            <a:r>
              <a:rPr sz="1300" b="0" i="0">
                <a:solidFill>
                  <a:srgbClr val="585254"/>
                </a:solidFill>
                <a:latin typeface="Arial"/>
              </a:rPr>
              <a:t>Background research over connected apps, read-only; Pro, Business Premium, Enterprise.</a:t>
            </a:r>
          </a:p>
        </p:txBody>
      </p:sp>
      <p:cxnSp>
        <p:nvCxnSpPr>
          <p:cNvPr id="7" name="Connector 6"/>
          <p:cNvCxnSpPr/>
          <p:nvPr/>
        </p:nvCxnSpPr>
        <p:spPr>
          <a:xfrm>
            <a:off x="731520" y="2688336"/>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2779776"/>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Meta Muse  </a:t>
            </a:r>
            <a:r>
              <a:rPr sz="1300" b="0" i="0">
                <a:solidFill>
                  <a:srgbClr val="585254"/>
                </a:solidFill>
                <a:latin typeface="Arial"/>
              </a:rPr>
              <a:t>Free tier; in its own app and directly in WhatsApp; reviewed connector platform.</a:t>
            </a:r>
          </a:p>
        </p:txBody>
      </p:sp>
      <p:cxnSp>
        <p:nvCxnSpPr>
          <p:cNvPr id="9" name="Connector 8"/>
          <p:cNvCxnSpPr/>
          <p:nvPr/>
        </p:nvCxnSpPr>
        <p:spPr>
          <a:xfrm>
            <a:off x="731520" y="3364992"/>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456432"/>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Gemini Task (formerly Spark)  </a:t>
            </a:r>
            <a:r>
              <a:rPr sz="1300" b="0" i="0">
                <a:solidFill>
                  <a:srgbClr val="585254"/>
                </a:solidFill>
                <a:latin typeface="Arial"/>
              </a:rPr>
              <a:t>Runs 24/7 in Google AI Pro and Ultra.</a:t>
            </a:r>
          </a:p>
        </p:txBody>
      </p:sp>
      <p:cxnSp>
        <p:nvCxnSpPr>
          <p:cNvPr id="11" name="Connector 10"/>
          <p:cNvCxnSpPr/>
          <p:nvPr/>
        </p:nvCxnSpPr>
        <p:spPr>
          <a:xfrm>
            <a:off x="731520" y="4041648"/>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4133088"/>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Instinct  </a:t>
            </a:r>
            <a:r>
              <a:rPr sz="1300" b="0" i="0">
                <a:solidFill>
                  <a:srgbClr val="585254"/>
                </a:solidFill>
                <a:latin typeface="Arial"/>
              </a:rPr>
              <a:t>Raised $1B at a $10B valuation (September 28).</a:t>
            </a:r>
          </a:p>
        </p:txBody>
      </p:sp>
      <p:cxnSp>
        <p:nvCxnSpPr>
          <p:cNvPr id="13" name="Connector 12"/>
          <p:cNvCxnSpPr/>
          <p:nvPr/>
        </p:nvCxnSpPr>
        <p:spPr>
          <a:xfrm>
            <a:off x="731520" y="4718304"/>
            <a:ext cx="5090007"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4809744"/>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Poke  </a:t>
            </a:r>
            <a:r>
              <a:rPr sz="1300" b="0" i="0">
                <a:solidFill>
                  <a:srgbClr val="585254"/>
                </a:solidFill>
                <a:latin typeface="Arial"/>
              </a:rPr>
              <a:t>Texts first; the first AI agent approved on Apple Messages for Business (TechCrunch, June).</a:t>
            </a:r>
          </a:p>
        </p:txBody>
      </p:sp>
      <p:sp>
        <p:nvSpPr>
          <p:cNvPr id="15" name="TextBox 14"/>
          <p:cNvSpPr txBox="1"/>
          <p:nvPr/>
        </p:nvSpPr>
        <p:spPr>
          <a:xfrm>
            <a:off x="6370167" y="1691640"/>
            <a:ext cx="5090007" cy="274320"/>
          </a:xfrm>
          <a:prstGeom prst="rect">
            <a:avLst/>
          </a:prstGeom>
          <a:noFill/>
        </p:spPr>
        <p:txBody>
          <a:bodyPr wrap="square" lIns="0" rIns="0" tIns="0" bIns="0" anchor="t">
            <a:noAutofit/>
          </a:bodyPr>
          <a:lstStyle/>
          <a:p>
            <a:pPr algn="l"/>
            <a:r>
              <a:rPr sz="1100" b="1" i="0" spc="100">
                <a:solidFill>
                  <a:srgbClr val="3F7668"/>
                </a:solidFill>
                <a:latin typeface="Arial"/>
              </a:rPr>
              <a:t>CAREER AGENTS</a:t>
            </a:r>
          </a:p>
        </p:txBody>
      </p:sp>
      <p:cxnSp>
        <p:nvCxnSpPr>
          <p:cNvPr id="16" name="Connector 15"/>
          <p:cNvCxnSpPr/>
          <p:nvPr/>
        </p:nvCxnSpPr>
        <p:spPr>
          <a:xfrm>
            <a:off x="6370167" y="2011680"/>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70167" y="2103120"/>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Fonzi  </a:t>
            </a:r>
            <a:r>
              <a:rPr sz="1300" b="0" i="0">
                <a:solidFill>
                  <a:srgbClr val="585254"/>
                </a:solidFill>
                <a:latin typeface="Arial"/>
              </a:rPr>
              <a:t>A text channel plus an MCP (“what's next for me?”).</a:t>
            </a:r>
          </a:p>
        </p:txBody>
      </p:sp>
      <p:cxnSp>
        <p:nvCxnSpPr>
          <p:cNvPr id="18" name="Connector 17"/>
          <p:cNvCxnSpPr/>
          <p:nvPr/>
        </p:nvCxnSpPr>
        <p:spPr>
          <a:xfrm>
            <a:off x="6370167" y="2688336"/>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70167" y="2779776"/>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AI Applyd  </a:t>
            </a:r>
            <a:r>
              <a:rPr sz="1300" b="0" i="0">
                <a:solidFill>
                  <a:srgbClr val="585254"/>
                </a:solidFill>
                <a:latin typeface="Arial"/>
              </a:rPr>
              <a:t>An MCP whose tools can file a real application.</a:t>
            </a:r>
          </a:p>
        </p:txBody>
      </p:sp>
      <p:cxnSp>
        <p:nvCxnSpPr>
          <p:cNvPr id="20" name="Connector 19"/>
          <p:cNvCxnSpPr/>
          <p:nvPr/>
        </p:nvCxnSpPr>
        <p:spPr>
          <a:xfrm>
            <a:off x="6370167" y="3364992"/>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70167" y="3456432"/>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Simplify  </a:t>
            </a:r>
            <a:r>
              <a:rPr sz="1300" b="0" i="0">
                <a:solidFill>
                  <a:srgbClr val="585254"/>
                </a:solidFill>
                <a:latin typeface="Arial"/>
              </a:rPr>
              <a:t>Autopilot submits, in private early access; AI email through the offer stage.</a:t>
            </a:r>
          </a:p>
        </p:txBody>
      </p:sp>
      <p:cxnSp>
        <p:nvCxnSpPr>
          <p:cNvPr id="22" name="Connector 21"/>
          <p:cNvCxnSpPr/>
          <p:nvPr/>
        </p:nvCxnSpPr>
        <p:spPr>
          <a:xfrm>
            <a:off x="6370167" y="4041648"/>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70167" y="4133088"/>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Indeed, ZipRecruiter, Dice  </a:t>
            </a:r>
            <a:r>
              <a:rPr sz="1300" b="0" i="0">
                <a:solidFill>
                  <a:srgbClr val="585254"/>
                </a:solidFill>
                <a:latin typeface="Arial"/>
              </a:rPr>
              <a:t>Read-only job search connectors in Claude that hand off to apply.</a:t>
            </a:r>
          </a:p>
        </p:txBody>
      </p:sp>
      <p:cxnSp>
        <p:nvCxnSpPr>
          <p:cNvPr id="24" name="Connector 23"/>
          <p:cNvCxnSpPr/>
          <p:nvPr/>
        </p:nvCxnSpPr>
        <p:spPr>
          <a:xfrm>
            <a:off x="6370167" y="4718304"/>
            <a:ext cx="5090008"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70167" y="4809744"/>
            <a:ext cx="5090007" cy="640080"/>
          </a:xfrm>
          <a:prstGeom prst="rect">
            <a:avLst/>
          </a:prstGeom>
          <a:noFill/>
        </p:spPr>
        <p:txBody>
          <a:bodyPr wrap="square" lIns="0" rIns="0" tIns="0" bIns="0" anchor="t">
            <a:noAutofit/>
          </a:bodyPr>
          <a:lstStyle/>
          <a:p>
            <a:pPr algn="l">
              <a:lnSpc>
                <a:spcPct val="105000"/>
              </a:lnSpc>
            </a:pPr>
            <a:r>
              <a:rPr sz="1300" b="1" i="0">
                <a:solidFill>
                  <a:srgbClr val="251F21"/>
                </a:solidFill>
                <a:latin typeface="Arial"/>
              </a:rPr>
              <a:t>Sprout, Sorce  </a:t>
            </a:r>
            <a:r>
              <a:rPr sz="1300" b="0" i="0">
                <a:solidFill>
                  <a:srgbClr val="585254"/>
                </a:solidFill>
                <a:latin typeface="Arial"/>
              </a:rPr>
              <a:t>Swipe-to-apply on iOS: 4.60 from 71,723 ratings; 4.70 from 35,637.</a:t>
            </a:r>
          </a:p>
        </p:txBody>
      </p:sp>
      <p:sp>
        <p:nvSpPr>
          <p:cNvPr id="26" name="TextBox 25"/>
          <p:cNvSpPr txBox="1"/>
          <p:nvPr/>
        </p:nvSpPr>
        <p:spPr>
          <a:xfrm>
            <a:off x="731520" y="5532120"/>
            <a:ext cx="10728655" cy="548640"/>
          </a:xfrm>
          <a:prstGeom prst="rect">
            <a:avLst/>
          </a:prstGeom>
          <a:noFill/>
        </p:spPr>
        <p:txBody>
          <a:bodyPr wrap="square" lIns="0" rIns="0" tIns="0" bIns="0" anchor="t">
            <a:noAutofit/>
          </a:bodyPr>
          <a:lstStyle/>
          <a:p>
            <a:pPr algn="l">
              <a:lnSpc>
                <a:spcPct val="105000"/>
              </a:lnSpc>
            </a:pPr>
            <a:r>
              <a:rPr sz="1400" b="1" i="0">
                <a:solidFill>
                  <a:srgbClr val="3F7668"/>
                </a:solidFill>
                <a:latin typeface="Arial"/>
              </a:rPr>
              <a:t>Open space, among job-search products only: none found that covers onboarding and the first 90 days. Standalone coaches exist; demand is not shown.</a:t>
            </a:r>
          </a:p>
        </p:txBody>
      </p:sp>
      <p:cxnSp>
        <p:nvCxnSpPr>
          <p:cNvPr id="27" name="Connector 26"/>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28"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29"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20</a:t>
            </a:r>
          </a:p>
        </p:txBody>
      </p:sp>
      <p:sp>
        <p:nvSpPr>
          <p:cNvPr id="30"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Vendor pages and press, October 13 (sources appendix)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Risks, and what we would do about them.</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A5</a:t>
            </a:r>
          </a:p>
        </p:txBody>
      </p:sp>
      <p:graphicFrame>
        <p:nvGraphicFramePr>
          <p:cNvPr id="4" name="Table"/>
          <p:cNvGraphicFramePr>
            <a:graphicFrameLocks noGrp="1"/>
          </p:cNvGraphicFramePr>
          <p:nvPr/>
        </p:nvGraphicFramePr>
        <p:xfrm>
          <a:off x="731520" y="1645920"/>
          <a:ext cx="10728655" cy="4096512"/>
        </p:xfrm>
        <a:graphic>
          <a:graphicData uri="http://schemas.openxmlformats.org/drawingml/2006/table">
            <a:tbl>
              <a:tblPr firstRow="0" bandRow="0">
                <a:tableStyleId>{5C22544A-7EE6-4342-B048-85BDC9FD1C3A}</a:tableStyleId>
              </a:tblPr>
              <a:tblGrid>
                <a:gridCol w="6035040"/>
                <a:gridCol w="4693615"/>
              </a:tblGrid>
              <a:tr h="512064">
                <a:tc>
                  <a:txBody>
                    <a:bodyPr wrap="square"/>
                    <a:lstStyle/>
                    <a:p>
                      <a:r>
                        <a:rPr sz="1000" b="1" i="0">
                          <a:solidFill>
                            <a:srgbClr val="3F7668"/>
                          </a:solidFill>
                          <a:latin typeface="Arial"/>
                        </a:rPr>
                        <a:t>RISK</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1000" b="1" i="0">
                          <a:solidFill>
                            <a:srgbClr val="3F7668"/>
                          </a:solidFill>
                          <a:latin typeface="Arial"/>
                        </a:rPr>
                        <a:t>WHAT WE WOULD DO</a:t>
                      </a:r>
                    </a:p>
                  </a:txBody>
                  <a:tcPr marL="73152" marR="73152" marT="36576" marB="36576">
                    <a:lnL w="0">
                      <a:noFill/>
                    </a:lnL>
                    <a:lnR w="0">
                      <a:noFill/>
                    </a:lnR>
                    <a:lnT w="0">
                      <a:noFill/>
                    </a:lnT>
                    <a:lnB w="9525">
                      <a:solidFill>
                        <a:srgbClr val="E4E0DD"/>
                      </a:solidFill>
                    </a:lnB>
                    <a:solidFill>
                      <a:srgbClr val="F6F4F2"/>
                    </a:solidFill>
                  </a:tcPr>
                </a:tc>
              </a:tr>
              <a:tr h="512064">
                <a:tc>
                  <a:txBody>
                    <a:bodyPr wrap="square"/>
                    <a:lstStyle/>
                    <a:p>
                      <a:r>
                        <a:rPr sz="1200" b="1" i="0">
                          <a:solidFill>
                            <a:srgbClr val="251F21"/>
                          </a:solidFill>
                          <a:latin typeface="Arial"/>
                        </a:rPr>
                        <a:t>Job searches end. Context: median duration of unemployment, 11.5 weeks, September 2026 (BLS).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200" b="0" i="0">
                          <a:solidFill>
                            <a:srgbClr val="585254"/>
                          </a:solidFill>
                          <a:latin typeface="Arial"/>
                        </a:rPr>
                        <a:t>Count a hire as success. Test re-entry and packaging next to the agent.</a:t>
                      </a:r>
                    </a:p>
                  </a:txBody>
                  <a:tcPr marL="73152" marR="73152" marT="36576" marB="36576">
                    <a:lnL w="0">
                      <a:noFill/>
                    </a:lnL>
                    <a:lnR w="0">
                      <a:noFill/>
                    </a:lnR>
                    <a:lnT w="0">
                      <a:noFill/>
                    </a:lnT>
                    <a:lnB w="9525">
                      <a:solidFill>
                        <a:srgbClr val="E4E0DD"/>
                      </a:solidFill>
                    </a:lnB>
                    <a:solidFill>
                      <a:srgbClr val="FFFFFF"/>
                    </a:solidFill>
                  </a:tcPr>
                </a:tc>
              </a:tr>
              <a:tr h="512064">
                <a:tc>
                  <a:txBody>
                    <a:bodyPr wrap="square"/>
                    <a:lstStyle/>
                    <a:p>
                      <a:r>
                        <a:rPr sz="1200" b="1" i="0">
                          <a:solidFill>
                            <a:srgbClr val="251F21"/>
                          </a:solidFill>
                          <a:latin typeface="Arial"/>
                        </a:rPr>
                        <a:t>An agent on top of weak matching inherits the complaints.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200" b="0" i="0">
                          <a:solidFill>
                            <a:srgbClr val="585254"/>
                          </a:solidFill>
                          <a:latin typeface="Arial"/>
                        </a:rPr>
                        <a:t>Don't pitch the agent as a matching fix. Watch muted vs acted-on.</a:t>
                      </a:r>
                    </a:p>
                  </a:txBody>
                  <a:tcPr marL="73152" marR="73152" marT="36576" marB="36576">
                    <a:lnL w="0">
                      <a:noFill/>
                    </a:lnL>
                    <a:lnR w="0">
                      <a:noFill/>
                    </a:lnR>
                    <a:lnT w="0">
                      <a:noFill/>
                    </a:lnT>
                    <a:lnB w="9525">
                      <a:solidFill>
                        <a:srgbClr val="E4E0DD"/>
                      </a:solidFill>
                    </a:lnB>
                    <a:solidFill>
                      <a:srgbClr val="FFFFFF"/>
                    </a:solidFill>
                  </a:tcPr>
                </a:tc>
              </a:tr>
              <a:tr h="512064">
                <a:tc>
                  <a:txBody>
                    <a:bodyPr wrap="square"/>
                    <a:lstStyle/>
                    <a:p>
                      <a:r>
                        <a:rPr sz="1200" b="1" i="0">
                          <a:solidFill>
                            <a:srgbClr val="251F21"/>
                          </a:solidFill>
                          <a:latin typeface="Arial"/>
                        </a:rPr>
                        <a:t>Owned channels have rules: WhatsApp free-form only within 24 hours of the user's last message; Apple Messages for Business requires live agents.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200" b="0" i="0">
                          <a:solidFill>
                            <a:srgbClr val="585254"/>
                          </a:solidFill>
                          <a:latin typeface="Arial"/>
                        </a:rPr>
                        <a:t>Treat Tsenta's channel as a consented, per-channel notice router.</a:t>
                      </a:r>
                    </a:p>
                  </a:txBody>
                  <a:tcPr marL="73152" marR="73152" marT="36576" marB="36576">
                    <a:lnL w="0">
                      <a:noFill/>
                    </a:lnL>
                    <a:lnR w="0">
                      <a:noFill/>
                    </a:lnR>
                    <a:lnT w="0">
                      <a:noFill/>
                    </a:lnT>
                    <a:lnB w="9525">
                      <a:solidFill>
                        <a:srgbClr val="E4E0DD"/>
                      </a:solidFill>
                    </a:lnB>
                    <a:solidFill>
                      <a:srgbClr val="FFFFFF"/>
                    </a:solidFill>
                  </a:tcPr>
                </a:tc>
              </a:tr>
              <a:tr h="512064">
                <a:tc>
                  <a:txBody>
                    <a:bodyPr wrap="square"/>
                    <a:lstStyle/>
                    <a:p>
                      <a:r>
                        <a:rPr sz="1200" b="1" i="0">
                          <a:solidFill>
                            <a:srgbClr val="251F21"/>
                          </a:solidFill>
                          <a:latin typeface="Arial"/>
                        </a:rPr>
                        <a:t>Per-action prompts are a weak gate: Claude Code users approve 97% of permission prompts.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200" b="0" i="0">
                          <a:solidFill>
                            <a:srgbClr val="585254"/>
                          </a:solidFill>
                          <a:latin typeface="Arial"/>
                        </a:rPr>
                        <a:t>One preview bound to the exact payload, collected by Tsenta.</a:t>
                      </a:r>
                    </a:p>
                  </a:txBody>
                  <a:tcPr marL="73152" marR="73152" marT="36576" marB="36576">
                    <a:lnL w="0">
                      <a:noFill/>
                    </a:lnL>
                    <a:lnR w="0">
                      <a:noFill/>
                    </a:lnR>
                    <a:lnT w="0">
                      <a:noFill/>
                    </a:lnT>
                    <a:lnB w="9525">
                      <a:solidFill>
                        <a:srgbClr val="E4E0DD"/>
                      </a:solidFill>
                    </a:lnB>
                    <a:solidFill>
                      <a:srgbClr val="FFFFFF"/>
                    </a:solidFill>
                  </a:tcPr>
                </a:tc>
              </a:tr>
              <a:tr h="512064">
                <a:tc>
                  <a:txBody>
                    <a:bodyPr wrap="square"/>
                    <a:lstStyle/>
                    <a:p>
                      <a:r>
                        <a:rPr sz="1200" b="1" i="0">
                          <a:solidFill>
                            <a:srgbClr val="251F21"/>
                          </a:solidFill>
                          <a:latin typeface="Arial"/>
                        </a:rPr>
                        <a:t>Hosts are becoming proactive on their own.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200" b="0" i="0">
                          <a:solidFill>
                            <a:srgbClr val="585254"/>
                          </a:solidFill>
                          <a:latin typeface="Arial"/>
                        </a:rPr>
                        <a:t>Be the connector they call. Keep the record and the yes in Tsenta.</a:t>
                      </a:r>
                    </a:p>
                  </a:txBody>
                  <a:tcPr marL="73152" marR="73152" marT="36576" marB="36576">
                    <a:lnL w="0">
                      <a:noFill/>
                    </a:lnL>
                    <a:lnR w="0">
                      <a:noFill/>
                    </a:lnR>
                    <a:lnT w="0">
                      <a:noFill/>
                    </a:lnT>
                    <a:lnB w="9525">
                      <a:solidFill>
                        <a:srgbClr val="E4E0DD"/>
                      </a:solidFill>
                    </a:lnB>
                    <a:solidFill>
                      <a:srgbClr val="FFFFFF"/>
                    </a:solidFill>
                  </a:tcPr>
                </a:tc>
              </a:tr>
              <a:tr h="512064">
                <a:tc>
                  <a:txBody>
                    <a:bodyPr wrap="square"/>
                    <a:lstStyle/>
                    <a:p>
                      <a:r>
                        <a:rPr sz="1200" b="1" i="0">
                          <a:solidFill>
                            <a:srgbClr val="251F21"/>
                          </a:solidFill>
                          <a:latin typeface="Arial"/>
                        </a:rPr>
                        <a:t>Vision: life raises consent stakes. A new purpose likely needs new consent (our CTIA reading); WhatsApp's general-purpose AI clause.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200" b="0" i="0">
                          <a:solidFill>
                            <a:srgbClr val="585254"/>
                          </a:solidFill>
                          <a:latin typeface="Arial"/>
                        </a:rPr>
                        <a:t>Open each ring only on evidence and a fresh opt-in.</a:t>
                      </a:r>
                    </a:p>
                  </a:txBody>
                  <a:tcPr marL="73152" marR="73152" marT="36576" marB="36576">
                    <a:lnL w="0">
                      <a:noFill/>
                    </a:lnL>
                    <a:lnR w="0">
                      <a:noFill/>
                    </a:lnR>
                    <a:lnT w="0">
                      <a:noFill/>
                    </a:lnT>
                    <a:lnB w="9525">
                      <a:solidFill>
                        <a:srgbClr val="E4E0DD"/>
                      </a:solidFill>
                    </a:lnB>
                    <a:solidFill>
                      <a:srgbClr val="FFFFFF"/>
                    </a:solidFill>
                  </a:tcPr>
                </a:tc>
              </a:tr>
              <a:tr h="512064">
                <a:tc>
                  <a:txBody>
                    <a:bodyPr wrap="square"/>
                    <a:lstStyle/>
                    <a:p>
                      <a:r>
                        <a:rPr sz="1200" b="1" i="0">
                          <a:solidFill>
                            <a:srgbClr val="251F21"/>
                          </a:solidFill>
                          <a:latin typeface="Arial"/>
                        </a:rPr>
                        <a:t>Public copy says no other job agent offers MCP. Fonzi, AI Applyd and LoopCV now do.</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1200" b="0" i="0">
                          <a:solidFill>
                            <a:srgbClr val="585254"/>
                          </a:solidFill>
                          <a:latin typeface="Arial"/>
                        </a:rPr>
                        <a:t>Update it before any MCP-led message.</a:t>
                      </a:r>
                    </a:p>
                  </a:txBody>
                  <a:tcPr marL="73152" marR="73152" marT="36576" marB="36576">
                    <a:lnL w="0">
                      <a:noFill/>
                    </a:lnL>
                    <a:lnR w="0">
                      <a:noFill/>
                    </a:lnR>
                    <a:lnT w="0">
                      <a:noFill/>
                    </a:lnT>
                    <a:lnB w="9525">
                      <a:solidFill>
                        <a:srgbClr val="E4E0DD"/>
                      </a:solidFill>
                    </a:lnB>
                    <a:solidFill>
                      <a:srgbClr val="FFFFFF"/>
                    </a:solidFill>
                  </a:tcPr>
                </a:tc>
              </a:tr>
            </a:tbl>
          </a:graphicData>
        </a:graphic>
      </p:graphicFrame>
      <p:cxnSp>
        <p:nvCxnSpPr>
          <p:cNvPr id="5" name="Connector 4"/>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7"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Fourteen gates, pilot then production.</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A6  ·  PROPOSED REQUIREMENTS, NOT CLAIMS</a:t>
            </a:r>
          </a:p>
        </p:txBody>
      </p:sp>
      <p:graphicFrame>
        <p:nvGraphicFramePr>
          <p:cNvPr id="4" name="Table"/>
          <p:cNvGraphicFramePr>
            <a:graphicFrameLocks noGrp="1"/>
          </p:cNvGraphicFramePr>
          <p:nvPr/>
        </p:nvGraphicFramePr>
        <p:xfrm>
          <a:off x="731520" y="1463040"/>
          <a:ext cx="10728655" cy="4114800"/>
        </p:xfrm>
        <a:graphic>
          <a:graphicData uri="http://schemas.openxmlformats.org/drawingml/2006/table">
            <a:tbl>
              <a:tblPr firstRow="0" bandRow="0">
                <a:tableStyleId>{5C22544A-7EE6-4342-B048-85BDC9FD1C3A}</a:tableStyleId>
              </a:tblPr>
              <a:tblGrid>
                <a:gridCol w="2331720"/>
                <a:gridCol w="4297680"/>
                <a:gridCol w="4099255"/>
              </a:tblGrid>
              <a:tr h="274320">
                <a:tc>
                  <a:txBody>
                    <a:bodyPr wrap="square"/>
                    <a:lstStyle/>
                    <a:p>
                      <a:r>
                        <a:rPr sz="900" b="1" i="0">
                          <a:solidFill>
                            <a:srgbClr val="3F7668"/>
                          </a:solidFill>
                          <a:latin typeface="Arial"/>
                        </a:rPr>
                        <a:t>REQUIREMENT</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900" b="1" i="0">
                          <a:solidFill>
                            <a:srgbClr val="3F7668"/>
                          </a:solidFill>
                          <a:latin typeface="Arial"/>
                        </a:rPr>
                        <a:t>PILOT GATE (SMALL CONSENTED COHORT)</a:t>
                      </a:r>
                    </a:p>
                  </a:txBody>
                  <a:tcPr marL="73152" marR="73152" marT="36576" marB="36576">
                    <a:lnL w="0">
                      <a:noFill/>
                    </a:lnL>
                    <a:lnR w="0">
                      <a:noFill/>
                    </a:lnR>
                    <a:lnT w="0">
                      <a:noFill/>
                    </a:lnT>
                    <a:lnB w="9525">
                      <a:solidFill>
                        <a:srgbClr val="E4E0DD"/>
                      </a:solidFill>
                    </a:lnB>
                    <a:solidFill>
                      <a:srgbClr val="F6F4F2"/>
                    </a:solidFill>
                  </a:tcPr>
                </a:tc>
                <a:tc>
                  <a:txBody>
                    <a:bodyPr wrap="square"/>
                    <a:lstStyle/>
                    <a:p>
                      <a:r>
                        <a:rPr sz="900" b="1" i="0">
                          <a:solidFill>
                            <a:srgbClr val="3F7668"/>
                          </a:solidFill>
                          <a:latin typeface="Arial"/>
                        </a:rPr>
                        <a:t>PRODUCTION GATE (COMPANY-WIDE)</a:t>
                      </a:r>
                    </a:p>
                  </a:txBody>
                  <a:tcPr marL="73152" marR="73152" marT="36576" marB="36576">
                    <a:lnL w="0">
                      <a:noFill/>
                    </a:lnL>
                    <a:lnR w="0">
                      <a:noFill/>
                    </a:lnR>
                    <a:lnT w="0">
                      <a:noFill/>
                    </a:lnT>
                    <a:lnB w="9525">
                      <a:solidFill>
                        <a:srgbClr val="E4E0DD"/>
                      </a:solidFill>
                    </a:lnB>
                    <a:solidFill>
                      <a:srgbClr val="F6F4F2"/>
                    </a:solidFill>
                  </a:tcPr>
                </a:tc>
              </a:tr>
              <a:tr h="274320">
                <a:tc>
                  <a:txBody>
                    <a:bodyPr wrap="square"/>
                    <a:lstStyle/>
                    <a:p>
                      <a:r>
                        <a:rPr sz="950" b="1" i="0">
                          <a:solidFill>
                            <a:srgbClr val="251F21"/>
                          </a:solidFill>
                          <a:latin typeface="Arial"/>
                        </a:rPr>
                        <a:t>R1  Isolation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Per-user isolated execution; a cross-user access test exists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Isolation model tested in CI; pen test covers cross-user access</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R2  Consent per purpose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Consent per purpose and channel; the life ring needs its own opt-in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Revocation reaches every channel and adapter in a stated time</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R3  Approval bound to the action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Employer-facing writes need a yes on a Tsenta surface, bound to the payload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Signed, replay-protected, auditable approval records</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R4  Export, delete, retention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Export and delete cover derived stores; retention set per data class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Deletion verified end to end, backups included</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R5  Cross-user privacy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No email-derived outcome data leaves the user's own features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Data-use map per source and purpose; legal sign-off</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R6  Threat model (OWASP)</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Egress allow-list; no purchases; untrusted content carries no authority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Threat model mapped to OWASP; red-team on injection and exfiltration</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R7  Audit and RBAC</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Append-only log of agent actions, approvals and staff access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Admin console with role-based access; audit export</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R8  SOC 2 readiness, not a claim</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Controls mapped to SOC 2 Security; evidence collection on</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Type I, then Type II, by a licensed CPA firm</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R9  Privacy and AI law</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Counsel memo on FCRA, CCPA and ADMT before agent data reaches employers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ADMT notices and opt-outs where they apply; a DPA with each model vendor</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R10  SLOs and idempotency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One idempotency key per submission; internal SLOs measured, not promised</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Published SLOs; an SLA only after measured history</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R11  Quotas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Per-user token and action quotas; a kill switch per ring</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Per-user budgets with alerts; unit cost per active user tracked</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R12  License audit</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If an open runtime is used: scanner on the exact build, no GPL extras</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Counsel review; notices shipped</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R13  Ownership and release</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A named owner per core, adapter and channel; a flag per ring</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Staged rollout with rollback; runbooks; on-call</a:t>
                      </a:r>
                    </a:p>
                  </a:txBody>
                  <a:tcPr marL="73152" marR="73152" marT="36576" marB="36576">
                    <a:lnL w="0">
                      <a:noFill/>
                    </a:lnL>
                    <a:lnR w="0">
                      <a:noFill/>
                    </a:lnR>
                    <a:lnT w="0">
                      <a:noFill/>
                    </a:lnT>
                    <a:lnB w="9525">
                      <a:solidFill>
                        <a:srgbClr val="E4E0DD"/>
                      </a:solidFill>
                    </a:lnB>
                    <a:solidFill>
                      <a:srgbClr val="FFFFFF"/>
                    </a:solidFill>
                  </a:tcPr>
                </a:tc>
              </a:tr>
              <a:tr h="274320">
                <a:tc>
                  <a:txBody>
                    <a:bodyPr wrap="square"/>
                    <a:lstStyle/>
                    <a:p>
                      <a:r>
                        <a:rPr sz="950" b="1" i="0">
                          <a:solidFill>
                            <a:srgbClr val="251F21"/>
                          </a:solidFill>
                          <a:latin typeface="Arial"/>
                        </a:rPr>
                        <a:t>R14  Life data stays out</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Domain tags on every event; employer-facing exports career-only</a:t>
                      </a:r>
                    </a:p>
                  </a:txBody>
                  <a:tcPr marL="73152" marR="73152" marT="36576" marB="36576">
                    <a:lnL w="0">
                      <a:noFill/>
                    </a:lnL>
                    <a:lnR w="0">
                      <a:noFill/>
                    </a:lnR>
                    <a:lnT w="0">
                      <a:noFill/>
                    </a:lnT>
                    <a:lnB w="9525">
                      <a:solidFill>
                        <a:srgbClr val="E4E0DD"/>
                      </a:solidFill>
                    </a:lnB>
                    <a:solidFill>
                      <a:srgbClr val="FFFFFF"/>
                    </a:solidFill>
                  </a:tcPr>
                </a:tc>
                <a:tc>
                  <a:txBody>
                    <a:bodyPr wrap="square"/>
                    <a:lstStyle/>
                    <a:p>
                      <a:r>
                        <a:rPr sz="950" b="0" i="0">
                          <a:solidFill>
                            <a:srgbClr val="585254"/>
                          </a:solidFill>
                          <a:latin typeface="Arial"/>
                        </a:rPr>
                        <a:t>Automated test: no life field can enter an employer-facing payload</a:t>
                      </a:r>
                    </a:p>
                  </a:txBody>
                  <a:tcPr marL="73152" marR="73152" marT="36576" marB="36576">
                    <a:lnL w="0">
                      <a:noFill/>
                    </a:lnL>
                    <a:lnR w="0">
                      <a:noFill/>
                    </a:lnR>
                    <a:lnT w="0">
                      <a:noFill/>
                    </a:lnT>
                    <a:lnB w="9525">
                      <a:solidFill>
                        <a:srgbClr val="E4E0DD"/>
                      </a:solidFill>
                    </a:lnB>
                    <a:solidFill>
                      <a:srgbClr val="FFFFFF"/>
                    </a:solidFill>
                  </a:tcPr>
                </a:tc>
              </a:tr>
            </a:tbl>
          </a:graphicData>
        </a:graphic>
      </p:graphicFrame>
      <p:cxnSp>
        <p:nvCxnSpPr>
          <p:cNvPr id="5" name="Connector 4"/>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6"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7"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Build path: OpenClaw on trial, an SDK as baseline.</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A7  ·  CONDITIONAL TRIAL, PRODUCTION NOT SELECTED</a:t>
            </a:r>
          </a:p>
        </p:txBody>
      </p:sp>
      <p:cxnSp>
        <p:nvCxnSpPr>
          <p:cNvPr id="4" name="Connector 3"/>
          <p:cNvCxnSpPr/>
          <p:nvPr/>
        </p:nvCxnSpPr>
        <p:spPr>
          <a:xfrm>
            <a:off x="731520" y="1645920"/>
            <a:ext cx="630936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700784"/>
            <a:ext cx="6309360" cy="896112"/>
          </a:xfrm>
          <a:prstGeom prst="rect">
            <a:avLst/>
          </a:prstGeom>
          <a:noFill/>
        </p:spPr>
        <p:txBody>
          <a:bodyPr wrap="square" lIns="0" rIns="0" tIns="0" bIns="0" anchor="t">
            <a:noAutofit/>
          </a:bodyPr>
          <a:lstStyle/>
          <a:p>
            <a:pPr algn="l">
              <a:spcAft>
                <a:spcPts val="100"/>
              </a:spcAft>
            </a:pPr>
            <a:r>
              <a:rPr sz="950" b="1" i="0" spc="80">
                <a:solidFill>
                  <a:srgbClr val="3F7668"/>
                </a:solidFill>
                <a:latin typeface="Arial"/>
              </a:rPr>
              <a:t>CONDITIONAL TRIAL</a:t>
            </a:r>
          </a:p>
          <a:p>
            <a:pPr algn="l">
              <a:spcAft>
                <a:spcPts val="200"/>
              </a:spcAft>
            </a:pPr>
            <a:r>
              <a:rPr sz="1500" b="1" i="0">
                <a:solidFill>
                  <a:srgbClr val="251F21"/>
                </a:solidFill>
                <a:latin typeface="Arial"/>
              </a:rPr>
              <a:t>OpenClaw as an isolated per-user worker</a:t>
            </a:r>
          </a:p>
          <a:p>
            <a:pPr algn="l">
              <a:lnSpc>
                <a:spcPct val="103000"/>
              </a:lnSpc>
            </a:pPr>
            <a:r>
              <a:rPr sz="1100" b="0" i="0">
                <a:solidFill>
                  <a:srgbClr val="585254"/>
                </a:solidFill>
                <a:latin typeface="Arial"/>
              </a:rPr>
              <a:t>One container or OS user per user, sleeping when idle; stripped at packaging, with a small patch queue on a pinned stable tag.</a:t>
            </a:r>
          </a:p>
        </p:txBody>
      </p:sp>
      <p:cxnSp>
        <p:nvCxnSpPr>
          <p:cNvPr id="6" name="Connector 5"/>
          <p:cNvCxnSpPr/>
          <p:nvPr/>
        </p:nvCxnSpPr>
        <p:spPr>
          <a:xfrm>
            <a:off x="731520" y="2596896"/>
            <a:ext cx="630936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31520" y="2651760"/>
            <a:ext cx="6309360" cy="896112"/>
          </a:xfrm>
          <a:prstGeom prst="rect">
            <a:avLst/>
          </a:prstGeom>
          <a:noFill/>
        </p:spPr>
        <p:txBody>
          <a:bodyPr wrap="square" lIns="0" rIns="0" tIns="0" bIns="0" anchor="t">
            <a:noAutofit/>
          </a:bodyPr>
          <a:lstStyle/>
          <a:p>
            <a:pPr algn="l">
              <a:spcAft>
                <a:spcPts val="100"/>
              </a:spcAft>
            </a:pPr>
            <a:r>
              <a:rPr sz="950" b="1" i="0" spc="80">
                <a:solidFill>
                  <a:srgbClr val="3F7668"/>
                </a:solidFill>
                <a:latin typeface="Arial"/>
              </a:rPr>
              <a:t>BASELINE AND FALLBACK</a:t>
            </a:r>
          </a:p>
          <a:p>
            <a:pPr algn="l">
              <a:spcAft>
                <a:spcPts val="200"/>
              </a:spcAft>
            </a:pPr>
            <a:r>
              <a:rPr sz="1500" b="1" i="0">
                <a:solidFill>
                  <a:srgbClr val="251F21"/>
                </a:solidFill>
                <a:latin typeface="Arial"/>
              </a:rPr>
              <a:t>Tsenta's own core on a thin SDK</a:t>
            </a:r>
          </a:p>
          <a:p>
            <a:pPr algn="l">
              <a:lnSpc>
                <a:spcPct val="103000"/>
              </a:lnSpc>
            </a:pPr>
            <a:r>
              <a:rPr sz="1100" b="0" i="0">
                <a:solidFill>
                  <a:srgbClr val="585254"/>
                </a:solidFill>
                <a:latin typeface="Arial"/>
              </a:rPr>
              <a:t>Model-agnostic, e.g. Pydantic AI with DBOS on Postgres. The runtime if OpenClaw misses a gate; orchestration is then built step by step.</a:t>
            </a:r>
          </a:p>
        </p:txBody>
      </p:sp>
      <p:cxnSp>
        <p:nvCxnSpPr>
          <p:cNvPr id="8" name="Connector 7"/>
          <p:cNvCxnSpPr/>
          <p:nvPr/>
        </p:nvCxnSpPr>
        <p:spPr>
          <a:xfrm>
            <a:off x="731520" y="3547872"/>
            <a:ext cx="630936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3602736"/>
            <a:ext cx="6309360" cy="896112"/>
          </a:xfrm>
          <a:prstGeom prst="rect">
            <a:avLst/>
          </a:prstGeom>
          <a:noFill/>
        </p:spPr>
        <p:txBody>
          <a:bodyPr wrap="square" lIns="0" rIns="0" tIns="0" bIns="0" anchor="t">
            <a:noAutofit/>
          </a:bodyPr>
          <a:lstStyle/>
          <a:p>
            <a:pPr algn="l">
              <a:spcAft>
                <a:spcPts val="100"/>
              </a:spcAft>
            </a:pPr>
            <a:r>
              <a:rPr sz="950" b="1" i="0" spc="80">
                <a:solidFill>
                  <a:srgbClr val="3F7668"/>
                </a:solidFill>
                <a:latin typeface="Arial"/>
              </a:rPr>
              <a:t>OPTIONAL CHALLENGER</a:t>
            </a:r>
          </a:p>
          <a:p>
            <a:pPr algn="l">
              <a:spcAft>
                <a:spcPts val="200"/>
              </a:spcAft>
            </a:pPr>
            <a:r>
              <a:rPr sz="1500" b="1" i="0">
                <a:solidFill>
                  <a:srgbClr val="251F21"/>
                </a:solidFill>
                <a:latin typeface="Arial"/>
              </a:rPr>
              <a:t>Hermes Agent</a:t>
            </a:r>
          </a:p>
          <a:p>
            <a:pPr algn="l">
              <a:lnSpc>
                <a:spcPct val="103000"/>
              </a:lnSpc>
            </a:pPr>
            <a:r>
              <a:rPr sz="1100" b="0" i="0">
                <a:solidFill>
                  <a:srgbClr val="585254"/>
                </a:solidFill>
                <a:latin typeface="Arial"/>
              </a:rPr>
              <a:t>Third choice, single-tenant by its own policy; can be benchmarked behind the same core.</a:t>
            </a:r>
          </a:p>
        </p:txBody>
      </p:sp>
      <p:cxnSp>
        <p:nvCxnSpPr>
          <p:cNvPr id="10" name="Connector 9"/>
          <p:cNvCxnSpPr/>
          <p:nvPr/>
        </p:nvCxnSpPr>
        <p:spPr>
          <a:xfrm>
            <a:off x="731520" y="4498848"/>
            <a:ext cx="6309360"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4553712"/>
            <a:ext cx="6309360" cy="896112"/>
          </a:xfrm>
          <a:prstGeom prst="rect">
            <a:avLst/>
          </a:prstGeom>
          <a:noFill/>
        </p:spPr>
        <p:txBody>
          <a:bodyPr wrap="square" lIns="0" rIns="0" tIns="0" bIns="0" anchor="t">
            <a:noAutofit/>
          </a:bodyPr>
          <a:lstStyle/>
          <a:p>
            <a:pPr algn="l">
              <a:spcAft>
                <a:spcPts val="100"/>
              </a:spcAft>
            </a:pPr>
            <a:r>
              <a:rPr sz="950" b="1" i="0" spc="80">
                <a:solidFill>
                  <a:srgbClr val="3F7668"/>
                </a:solidFill>
                <a:latin typeface="Arial"/>
              </a:rPr>
              <a:t>LATER, NOT FIRST</a:t>
            </a:r>
          </a:p>
          <a:p>
            <a:pPr algn="l">
              <a:spcAft>
                <a:spcPts val="200"/>
              </a:spcAft>
            </a:pPr>
            <a:r>
              <a:rPr sz="1500" b="1" i="0">
                <a:solidFill>
                  <a:srgbClr val="251F21"/>
                </a:solidFill>
                <a:latin typeface="Arial"/>
              </a:rPr>
              <a:t>Deep source deletion</a:t>
            </a:r>
          </a:p>
          <a:p>
            <a:pPr algn="l">
              <a:lnSpc>
                <a:spcPct val="103000"/>
              </a:lnSpc>
            </a:pPr>
            <a:r>
              <a:rPr sz="1100" b="0" i="0">
                <a:solidFill>
                  <a:srgbClr val="585254"/>
                </a:solidFill>
                <a:latin typeface="Arial"/>
              </a:rPr>
              <a:t>Possible later. Not every upstream change conflicts, but Tsenta would own manual review of security fixes and refactors that reach deleted code.</a:t>
            </a:r>
          </a:p>
        </p:txBody>
      </p:sp>
      <p:sp>
        <p:nvSpPr>
          <p:cNvPr id="12" name="Status panel"/>
          <p:cNvSpPr/>
          <p:nvPr/>
        </p:nvSpPr>
        <p:spPr>
          <a:xfrm>
            <a:off x="7315200" y="1645920"/>
            <a:ext cx="4142232" cy="3749039"/>
          </a:xfrm>
          <a:prstGeom prst="roundRect">
            <a:avLst>
              <a:gd name="adj" fmla="val 4000"/>
            </a:avLst>
          </a:prstGeom>
          <a:solidFill>
            <a:srgbClr val="F6F4F2"/>
          </a:solidFill>
          <a:ln>
            <a:noFill/>
          </a:ln>
          <a:effectLst/>
        </p:spPr>
        <p:style>
          <a:lnRef idx="1">
            <a:schemeClr val="accent1"/>
          </a:lnRef>
          <a:fillRef idx="3">
            <a:schemeClr val="accent1"/>
          </a:fillRef>
          <a:effectRef idx="2">
            <a:schemeClr val="accent1"/>
          </a:effectRef>
          <a:fontRef idx="minor">
            <a:schemeClr val="lt1"/>
          </a:fontRef>
        </p:style>
        <p:txBody>
          <a:bodyPr rtlCol="0" anchor="t" lIns="237744" rIns="237744" tIns="201168" bIns="109728" wrap="square">
            <a:noAutofit/>
          </a:bodyPr>
          <a:lstStyle/>
          <a:p>
            <a:pPr algn="l">
              <a:spcAft>
                <a:spcPts val="600"/>
              </a:spcAft>
            </a:pPr>
            <a:r>
              <a:rPr sz="1100" b="1" i="0" spc="100">
                <a:solidFill>
                  <a:srgbClr val="3F7668"/>
                </a:solidFill>
                <a:latin typeface="Arial"/>
              </a:rPr>
              <a:t>PRODUCTION: NOT SELECTED, NOT BUILT</a:t>
            </a:r>
          </a:p>
          <a:p>
            <a:pPr algn="l">
              <a:lnSpc>
                <a:spcPct val="105000"/>
              </a:lnSpc>
              <a:spcAft>
                <a:spcPts val="600"/>
              </a:spcAft>
            </a:pPr>
            <a:r>
              <a:rPr sz="1500" b="1" i="0">
                <a:solidFill>
                  <a:srgbClr val="251F21"/>
                </a:solidFill>
                <a:latin typeface="Arial"/>
              </a:rPr>
              <a:t>A conditional trial for Tsenta to decide.</a:t>
            </a:r>
          </a:p>
          <a:p>
            <a:pPr algn="l">
              <a:lnSpc>
                <a:spcPct val="105000"/>
              </a:lnSpc>
              <a:spcAft>
                <a:spcPts val="1000"/>
              </a:spcAft>
            </a:pPr>
            <a:r>
              <a:rPr sz="1200" b="0" i="0">
                <a:solidFill>
                  <a:srgbClr val="585254"/>
                </a:solidFill>
                <a:latin typeface="Arial"/>
              </a:rPr>
              <a:t>The core is Tsenta's on every path: identity, credential vault, signed approvals, the record, scheduler, audit, egress and quotas.</a:t>
            </a:r>
          </a:p>
          <a:p>
            <a:pPr algn="l">
              <a:spcAft>
                <a:spcPts val="400"/>
              </a:spcAft>
            </a:pPr>
            <a:r>
              <a:rPr sz="1100" b="1" i="0" spc="100">
                <a:solidFill>
                  <a:srgbClr val="3F7668"/>
                </a:solidFill>
                <a:latin typeface="Arial"/>
              </a:rPr>
              <a:t>PITCH VS COMPANY BUILD</a:t>
            </a:r>
          </a:p>
          <a:p>
            <a:pPr algn="l">
              <a:lnSpc>
                <a:spcPct val="105000"/>
              </a:lnSpc>
            </a:pPr>
            <a:r>
              <a:rPr sz="1200" b="0" i="0">
                <a:solidFill>
                  <a:srgbClr val="585254"/>
                </a:solidFill>
                <a:latin typeface="Arial"/>
              </a:rPr>
              <a:t>The demo agent is a real OpenClaw worker on dummy records: its final run passed all 24 machine checks with no false record fact, a qualified pass. Production is not selected.</a:t>
            </a:r>
          </a:p>
        </p:txBody>
      </p:sp>
      <p:sp>
        <p:nvSpPr>
          <p:cNvPr id="13" name="TextBox 12"/>
          <p:cNvSpPr txBox="1"/>
          <p:nvPr/>
        </p:nvSpPr>
        <p:spPr>
          <a:xfrm>
            <a:off x="731520" y="5504688"/>
            <a:ext cx="10728655" cy="685800"/>
          </a:xfrm>
          <a:prstGeom prst="rect">
            <a:avLst/>
          </a:prstGeom>
          <a:noFill/>
        </p:spPr>
        <p:txBody>
          <a:bodyPr wrap="square" lIns="0" rIns="0" tIns="0" bIns="0" anchor="t">
            <a:noAutofit/>
          </a:bodyPr>
          <a:lstStyle/>
          <a:p>
            <a:pPr algn="l">
              <a:lnSpc>
                <a:spcPct val="106000"/>
              </a:lnSpc>
            </a:pPr>
            <a:r>
              <a:rPr sz="1300" b="1" i="0">
                <a:solidFill>
                  <a:srgbClr val="3F7668"/>
                </a:solidFill>
                <a:latin typeface="Arial"/>
              </a:rPr>
              <a:t>OpenClaw's policy calls for one host or OS-user boundary per user, so each user gets an isolated worker; Tsenta's core keeps tenancy, the record and every approval.</a:t>
            </a:r>
          </a:p>
        </p:txBody>
      </p:sp>
      <p:cxnSp>
        <p:nvCxnSpPr>
          <p:cNvPr id="14" name="Connector 13"/>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5"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16"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23</a:t>
            </a:r>
          </a:p>
        </p:txBody>
      </p:sp>
      <p:sp>
        <p:nvSpPr>
          <p:cNvPr id="17"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SECURITY.md files; OpenClaw docs index; Pydantic AI docs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Core above, swappable workers below.</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A8  ·  PROPOSED GATES, NOTHING BUILT</a:t>
            </a:r>
          </a:p>
        </p:txBody>
      </p:sp>
      <p:sp>
        <p:nvSpPr>
          <p:cNvPr id="4" name="Tsenta core"/>
          <p:cNvSpPr/>
          <p:nvPr/>
        </p:nvSpPr>
        <p:spPr>
          <a:xfrm>
            <a:off x="731520" y="1645920"/>
            <a:ext cx="5120640" cy="1783080"/>
          </a:xfrm>
          <a:prstGeom prst="roundRect">
            <a:avLst>
              <a:gd name="adj" fmla="val 5000"/>
            </a:avLst>
          </a:prstGeom>
          <a:solidFill>
            <a:srgbClr val="E6F0ED"/>
          </a:solidFill>
          <a:ln w="12700">
            <a:solidFill>
              <a:srgbClr val="73A89A"/>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146304" bIns="109728" wrap="square">
            <a:noAutofit/>
          </a:bodyPr>
          <a:lstStyle/>
          <a:p>
            <a:pPr algn="l">
              <a:spcAft>
                <a:spcPts val="600"/>
              </a:spcAft>
            </a:pPr>
            <a:r>
              <a:rPr sz="1050" b="1" i="0" spc="80">
                <a:solidFill>
                  <a:srgbClr val="3F7668"/>
                </a:solidFill>
                <a:latin typeface="Arial"/>
              </a:rPr>
              <a:t>TSENTA CORE  ·  OWNED, PORTABLE</a:t>
            </a:r>
          </a:p>
          <a:p>
            <a:pPr algn="l">
              <a:spcAft>
                <a:spcPts val="300"/>
              </a:spcAft>
            </a:pPr>
            <a:r>
              <a:rPr sz="1350" b="0" i="0">
                <a:solidFill>
                  <a:srgbClr val="251F21"/>
                </a:solidFill>
                <a:latin typeface="Arial"/>
              </a:rPr>
              <a:t>The record and its state</a:t>
            </a:r>
          </a:p>
          <a:p>
            <a:pPr algn="l">
              <a:spcAft>
                <a:spcPts val="300"/>
              </a:spcAft>
            </a:pPr>
            <a:r>
              <a:rPr sz="1350" b="0" i="0">
                <a:solidFill>
                  <a:srgbClr val="251F21"/>
                </a:solidFill>
                <a:latin typeface="Arial"/>
              </a:rPr>
              <a:t>Signed approvals, bound to the payload</a:t>
            </a:r>
          </a:p>
          <a:p>
            <a:pPr algn="l">
              <a:spcAft>
                <a:spcPts val="300"/>
              </a:spcAft>
            </a:pPr>
            <a:r>
              <a:rPr sz="1350" b="0" i="0">
                <a:solidFill>
                  <a:srgbClr val="251F21"/>
                </a:solidFill>
                <a:latin typeface="Arial"/>
              </a:rPr>
              <a:t>Scheduler, tenancy and identity</a:t>
            </a:r>
          </a:p>
          <a:p>
            <a:pPr algn="l"/>
            <a:r>
              <a:rPr sz="1350" b="0" i="0">
                <a:solidFill>
                  <a:srgbClr val="251F21"/>
                </a:solidFill>
                <a:latin typeface="Arial"/>
              </a:rPr>
              <a:t>Credential vault, egress and quotas</a:t>
            </a:r>
          </a:p>
        </p:txBody>
      </p:sp>
      <p:cxnSp>
        <p:nvCxnSpPr>
          <p:cNvPr id="5" name="Adapter arrow"/>
          <p:cNvCxnSpPr/>
          <p:nvPr/>
        </p:nvCxnSpPr>
        <p:spPr>
          <a:xfrm>
            <a:off x="3291840" y="3456432"/>
            <a:ext cx="0" cy="429768"/>
          </a:xfrm>
          <a:prstGeom prst="line">
            <a:avLst/>
          </a:prstGeom>
          <a:ln w="19050">
            <a:solidFill>
              <a:srgbClr val="5852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401568" y="3529584"/>
            <a:ext cx="2377440" cy="274320"/>
          </a:xfrm>
          <a:prstGeom prst="rect">
            <a:avLst/>
          </a:prstGeom>
          <a:noFill/>
        </p:spPr>
        <p:txBody>
          <a:bodyPr wrap="square" lIns="0" rIns="0" tIns="0" bIns="0" anchor="t">
            <a:noAutofit/>
          </a:bodyPr>
          <a:lstStyle/>
          <a:p>
            <a:pPr algn="l"/>
            <a:r>
              <a:rPr sz="1100" b="0" i="0">
                <a:solidFill>
                  <a:srgbClr val="585254"/>
                </a:solidFill>
                <a:latin typeface="Arial"/>
              </a:rPr>
              <a:t>one adapter, same tasks</a:t>
            </a:r>
          </a:p>
        </p:txBody>
      </p:sp>
      <p:sp>
        <p:nvSpPr>
          <p:cNvPr id="7" name="Worker 1"/>
          <p:cNvSpPr/>
          <p:nvPr/>
        </p:nvSpPr>
        <p:spPr>
          <a:xfrm>
            <a:off x="731520" y="3931920"/>
            <a:ext cx="2446020" cy="1188720"/>
          </a:xfrm>
          <a:prstGeom prst="roundRect">
            <a:avLst>
              <a:gd name="adj" fmla="val 6000"/>
            </a:avLst>
          </a:prstGeom>
          <a:solidFill>
            <a:srgbClr val="FFFFFF"/>
          </a:solidFill>
          <a:ln w="12700">
            <a:solidFill>
              <a:srgbClr val="585254"/>
            </a:solidFill>
            <a:prstDash val="dash"/>
          </a:ln>
          <a:effectLst/>
        </p:spPr>
        <p:style>
          <a:lnRef idx="1">
            <a:schemeClr val="accent1"/>
          </a:lnRef>
          <a:fillRef idx="3">
            <a:schemeClr val="accent1"/>
          </a:fillRef>
          <a:effectRef idx="2">
            <a:schemeClr val="accent1"/>
          </a:effectRef>
          <a:fontRef idx="minor">
            <a:schemeClr val="lt1"/>
          </a:fontRef>
        </p:style>
        <p:txBody>
          <a:bodyPr rtlCol="0" anchor="t" lIns="146304" rIns="146304" tIns="109728" bIns="109728" wrap="square">
            <a:noAutofit/>
          </a:bodyPr>
          <a:lstStyle/>
          <a:p>
            <a:pPr algn="l">
              <a:spcAft>
                <a:spcPts val="300"/>
              </a:spcAft>
            </a:pPr>
            <a:r>
              <a:rPr sz="1400" b="1" i="0">
                <a:solidFill>
                  <a:srgbClr val="251F21"/>
                </a:solidFill>
                <a:latin typeface="Arial"/>
              </a:rPr>
              <a:t>OpenClaw worker</a:t>
            </a:r>
          </a:p>
          <a:p>
            <a:pPr algn="l">
              <a:lnSpc>
                <a:spcPct val="104000"/>
              </a:lnSpc>
            </a:pPr>
            <a:r>
              <a:rPr sz="1150" b="0" i="0">
                <a:solidFill>
                  <a:srgbClr val="585254"/>
                </a:solidFill>
                <a:latin typeface="Arial"/>
              </a:rPr>
              <a:t>Candidate. One per user, isolated, sleeps when idle.</a:t>
            </a:r>
          </a:p>
        </p:txBody>
      </p:sp>
      <p:sp>
        <p:nvSpPr>
          <p:cNvPr id="8" name="Worker 2"/>
          <p:cNvSpPr/>
          <p:nvPr/>
        </p:nvSpPr>
        <p:spPr>
          <a:xfrm>
            <a:off x="3406140" y="3931920"/>
            <a:ext cx="2446020" cy="1188720"/>
          </a:xfrm>
          <a:prstGeom prst="roundRect">
            <a:avLst>
              <a:gd name="adj" fmla="val 6000"/>
            </a:avLst>
          </a:prstGeom>
          <a:solidFill>
            <a:srgbClr val="FFFFFF"/>
          </a:solidFill>
          <a:ln w="12700">
            <a:solidFill>
              <a:srgbClr val="585254"/>
            </a:solidFill>
          </a:ln>
          <a:effectLst/>
        </p:spPr>
        <p:style>
          <a:lnRef idx="1">
            <a:schemeClr val="accent1"/>
          </a:lnRef>
          <a:fillRef idx="3">
            <a:schemeClr val="accent1"/>
          </a:fillRef>
          <a:effectRef idx="2">
            <a:schemeClr val="accent1"/>
          </a:effectRef>
          <a:fontRef idx="minor">
            <a:schemeClr val="lt1"/>
          </a:fontRef>
        </p:style>
        <p:txBody>
          <a:bodyPr rtlCol="0" anchor="t" lIns="146304" rIns="146304" tIns="109728" bIns="109728" wrap="square">
            <a:noAutofit/>
          </a:bodyPr>
          <a:lstStyle/>
          <a:p>
            <a:pPr algn="l">
              <a:spcAft>
                <a:spcPts val="300"/>
              </a:spcAft>
            </a:pPr>
            <a:r>
              <a:rPr sz="1400" b="1" i="0">
                <a:solidFill>
                  <a:srgbClr val="251F21"/>
                </a:solidFill>
                <a:latin typeface="Arial"/>
              </a:rPr>
              <a:t>Thin SDK</a:t>
            </a:r>
          </a:p>
          <a:p>
            <a:pPr algn="l">
              <a:lnSpc>
                <a:spcPct val="104000"/>
              </a:lnSpc>
            </a:pPr>
            <a:r>
              <a:rPr sz="1150" b="0" i="0">
                <a:solidFill>
                  <a:srgbClr val="585254"/>
                </a:solidFill>
                <a:latin typeface="Arial"/>
              </a:rPr>
              <a:t>Baseline and fallback. Stateless workers in the core's service.</a:t>
            </a:r>
          </a:p>
        </p:txBody>
      </p:sp>
      <p:sp>
        <p:nvSpPr>
          <p:cNvPr id="9" name="TextBox 8"/>
          <p:cNvSpPr txBox="1"/>
          <p:nvPr/>
        </p:nvSpPr>
        <p:spPr>
          <a:xfrm>
            <a:off x="731520" y="5212080"/>
            <a:ext cx="5120640" cy="320040"/>
          </a:xfrm>
          <a:prstGeom prst="rect">
            <a:avLst/>
          </a:prstGeom>
          <a:noFill/>
        </p:spPr>
        <p:txBody>
          <a:bodyPr wrap="square" lIns="0" rIns="0" tIns="0" bIns="0" anchor="t">
            <a:noAutofit/>
          </a:bodyPr>
          <a:lstStyle/>
          <a:p>
            <a:pPr algn="l"/>
            <a:r>
              <a:rPr sz="1150" b="0" i="0">
                <a:solidFill>
                  <a:srgbClr val="585254"/>
                </a:solidFill>
                <a:latin typeface="Arial"/>
              </a:rPr>
              <a:t>Hermes Agent: optional challenger behind the same adapter.</a:t>
            </a:r>
          </a:p>
        </p:txBody>
      </p:sp>
      <p:sp>
        <p:nvSpPr>
          <p:cNvPr id="10" name="TextBox 9"/>
          <p:cNvSpPr txBox="1"/>
          <p:nvPr/>
        </p:nvSpPr>
        <p:spPr>
          <a:xfrm>
            <a:off x="6263640" y="1645920"/>
            <a:ext cx="5196535" cy="3931920"/>
          </a:xfrm>
          <a:prstGeom prst="rect">
            <a:avLst/>
          </a:prstGeom>
          <a:noFill/>
        </p:spPr>
        <p:txBody>
          <a:bodyPr wrap="square" lIns="0" rIns="0" tIns="0" bIns="0" anchor="t">
            <a:noAutofit/>
          </a:bodyPr>
          <a:lstStyle/>
          <a:p>
            <a:pPr algn="l">
              <a:spcAft>
                <a:spcPts val="600"/>
              </a:spcAft>
            </a:pPr>
            <a:r>
              <a:rPr sz="1050" b="1" i="0" spc="80">
                <a:solidFill>
                  <a:srgbClr val="3F7668"/>
                </a:solidFill>
                <a:latin typeface="Arial"/>
              </a:rPr>
              <a:t>CORE GATES 1 TO 7  ·  ENTERPRISE GATES 8 TO 15 IN A9</a:t>
            </a:r>
          </a:p>
          <a:p>
            <a:pPr algn="l">
              <a:lnSpc>
                <a:spcPct val="104000"/>
              </a:lnSpc>
              <a:spcAft>
                <a:spcPts val="500"/>
              </a:spcAft>
            </a:pPr>
            <a:r>
              <a:rPr sz="1200" b="1" i="0">
                <a:solidFill>
                  <a:srgbClr val="251F21"/>
                </a:solidFill>
                <a:latin typeface="Arial"/>
              </a:rPr>
              <a:t>1  Isolation: </a:t>
            </a:r>
            <a:r>
              <a:rPr sz="1200" b="0" i="0">
                <a:solidFill>
                  <a:srgbClr val="585254"/>
                </a:solidFill>
                <a:latin typeface="Arial"/>
              </a:rPr>
              <a:t>one container or OS user per user; cross-user canary at 0</a:t>
            </a:r>
          </a:p>
          <a:p>
            <a:pPr algn="l">
              <a:lnSpc>
                <a:spcPct val="104000"/>
              </a:lnSpc>
              <a:spcAft>
                <a:spcPts val="500"/>
              </a:spcAft>
            </a:pPr>
            <a:r>
              <a:rPr sz="1200" b="1" i="0">
                <a:solidFill>
                  <a:srgbClr val="251F21"/>
                </a:solidFill>
                <a:latin typeface="Arial"/>
              </a:rPr>
              <a:t>2  Packaging strip: </a:t>
            </a:r>
            <a:r>
              <a:rPr sz="1200" b="0" i="0">
                <a:solidFill>
                  <a:srgbClr val="585254"/>
                </a:solidFill>
                <a:latin typeface="Arial"/>
              </a:rPr>
              <a:t>needed extensions only; no marketplace installs</a:t>
            </a:r>
          </a:p>
          <a:p>
            <a:pPr algn="l">
              <a:lnSpc>
                <a:spcPct val="104000"/>
              </a:lnSpc>
              <a:spcAft>
                <a:spcPts val="500"/>
              </a:spcAft>
            </a:pPr>
            <a:r>
              <a:rPr sz="1200" b="1" i="0">
                <a:solidFill>
                  <a:srgbClr val="251F21"/>
                </a:solidFill>
                <a:latin typeface="Arial"/>
              </a:rPr>
              <a:t>3  Credentials: </a:t>
            </a:r>
            <a:r>
              <a:rPr sz="1200" b="0" i="0">
                <a:solidFill>
                  <a:srgbClr val="585254"/>
                </a:solidFill>
                <a:latin typeface="Arial"/>
              </a:rPr>
              <a:t>short-lived tokens from the core vault; egress allow-list</a:t>
            </a:r>
          </a:p>
          <a:p>
            <a:pPr algn="l">
              <a:lnSpc>
                <a:spcPct val="104000"/>
              </a:lnSpc>
              <a:spcAft>
                <a:spcPts val="500"/>
              </a:spcAft>
            </a:pPr>
            <a:r>
              <a:rPr sz="1200" b="1" i="0">
                <a:solidFill>
                  <a:srgbClr val="251F21"/>
                </a:solidFill>
                <a:latin typeface="Arial"/>
              </a:rPr>
              <a:t>4  Memory: </a:t>
            </a:r>
            <a:r>
              <a:rPr sz="1200" b="0" i="0">
                <a:solidFill>
                  <a:srgbClr val="585254"/>
                </a:solidFill>
                <a:latin typeface="Arial"/>
              </a:rPr>
              <a:t>OpenClaw memory is a cache; the Tsenta record is the source</a:t>
            </a:r>
          </a:p>
          <a:p>
            <a:pPr algn="l">
              <a:lnSpc>
                <a:spcPct val="104000"/>
              </a:lnSpc>
              <a:spcAft>
                <a:spcPts val="500"/>
              </a:spcAft>
            </a:pPr>
            <a:r>
              <a:rPr sz="1200" b="1" i="0">
                <a:solidFill>
                  <a:srgbClr val="251F21"/>
                </a:solidFill>
                <a:latin typeface="Arial"/>
              </a:rPr>
              <a:t>5  Side effects: </a:t>
            </a:r>
            <a:r>
              <a:rPr sz="1200" b="0" i="0">
                <a:solidFill>
                  <a:srgbClr val="585254"/>
                </a:solidFill>
                <a:latin typeface="Arial"/>
              </a:rPr>
              <a:t>only through signed approvals bound to the payload</a:t>
            </a:r>
          </a:p>
          <a:p>
            <a:pPr algn="l">
              <a:lnSpc>
                <a:spcPct val="104000"/>
              </a:lnSpc>
              <a:spcAft>
                <a:spcPts val="500"/>
              </a:spcAft>
            </a:pPr>
            <a:r>
              <a:rPr sz="1200" b="1" i="0">
                <a:solidFill>
                  <a:srgbClr val="251F21"/>
                </a:solidFill>
                <a:latin typeface="Arial"/>
              </a:rPr>
              <a:t>6  Exposure: </a:t>
            </a:r>
            <a:r>
              <a:rPr sz="1200" b="0" i="0">
                <a:solidFill>
                  <a:srgbClr val="585254"/>
                </a:solidFill>
                <a:latin typeface="Arial"/>
              </a:rPr>
              <a:t>pinned release with no known unpatched high or critical advisory</a:t>
            </a:r>
          </a:p>
          <a:p>
            <a:pPr algn="l">
              <a:lnSpc>
                <a:spcPct val="104000"/>
              </a:lnSpc>
              <a:spcAft>
                <a:spcPts val="500"/>
              </a:spcAft>
            </a:pPr>
            <a:r>
              <a:rPr sz="1200" b="1" i="0">
                <a:solidFill>
                  <a:srgbClr val="251F21"/>
                </a:solidFill>
                <a:latin typeface="Arial"/>
              </a:rPr>
              <a:t>7  Bake-off: </a:t>
            </a:r>
            <a:r>
              <a:rPr sz="1200" b="0" i="0">
                <a:solidFill>
                  <a:srgbClr val="585254"/>
                </a:solidFill>
                <a:latin typeface="Arial"/>
              </a:rPr>
              <a:t>approval-gated submit, scheduled delivery, compaction, crash and resume, a Claude Code or Codex handoff, a one-version upgrade</a:t>
            </a:r>
          </a:p>
        </p:txBody>
      </p:sp>
      <p:sp>
        <p:nvSpPr>
          <p:cNvPr id="11" name="TextBox 10"/>
          <p:cNvSpPr txBox="1"/>
          <p:nvPr/>
        </p:nvSpPr>
        <p:spPr>
          <a:xfrm>
            <a:off x="731520" y="5669280"/>
            <a:ext cx="10728655" cy="548640"/>
          </a:xfrm>
          <a:prstGeom prst="rect">
            <a:avLst/>
          </a:prstGeom>
          <a:noFill/>
        </p:spPr>
        <p:txBody>
          <a:bodyPr wrap="square" lIns="0" rIns="0" tIns="0" bIns="0" anchor="t">
            <a:noAutofit/>
          </a:bodyPr>
          <a:lstStyle/>
          <a:p>
            <a:pPr algn="l">
              <a:lnSpc>
                <a:spcPct val="105000"/>
              </a:lnSpc>
            </a:pPr>
            <a:r>
              <a:rPr sz="1250" b="1" i="0">
                <a:solidFill>
                  <a:srgbClr val="3F7668"/>
                </a:solidFill>
                <a:latin typeface="Arial"/>
              </a:rPr>
              <a:t>OpenClaw becomes the runtime only if it passes gates 1 to 6 and 8 to 15 and matches or beats the baseline on 7 at an acceptable per-user cost. Otherwise the SDK baseline runs.</a:t>
            </a:r>
          </a:p>
        </p:txBody>
      </p:sp>
      <p:cxnSp>
        <p:nvCxnSpPr>
          <p:cNvPr id="12" name="Connector 11"/>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13"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14"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24</a:t>
            </a:r>
          </a:p>
        </p:txBody>
      </p:sp>
      <p:sp>
        <p:nvSpPr>
          <p:cNvPr id="15"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Runtime review build verdict, October 13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Enterprise gates 8 to 15.</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A9  ·  PROPOSED GATES, NOTHING BUILT</a:t>
            </a:r>
          </a:p>
        </p:txBody>
      </p:sp>
      <p:cxnSp>
        <p:nvCxnSpPr>
          <p:cNvPr id="4" name="Gate rule 8"/>
          <p:cNvCxnSpPr/>
          <p:nvPr/>
        </p:nvCxnSpPr>
        <p:spPr>
          <a:xfrm>
            <a:off x="731520" y="1645920"/>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719072"/>
            <a:ext cx="3108960" cy="365760"/>
          </a:xfrm>
          <a:prstGeom prst="rect">
            <a:avLst/>
          </a:prstGeom>
          <a:noFill/>
        </p:spPr>
        <p:txBody>
          <a:bodyPr wrap="square" lIns="0" rIns="0" tIns="0" bIns="0" anchor="t">
            <a:noAutofit/>
          </a:bodyPr>
          <a:lstStyle/>
          <a:p>
            <a:pPr algn="l"/>
            <a:r>
              <a:rPr sz="1450" b="1" i="0">
                <a:solidFill>
                  <a:srgbClr val="3F7668"/>
                </a:solidFill>
                <a:latin typeface="Arial"/>
              </a:rPr>
              <a:t>8  </a:t>
            </a:r>
            <a:r>
              <a:rPr sz="1450" b="1" i="0">
                <a:solidFill>
                  <a:srgbClr val="251F21"/>
                </a:solidFill>
                <a:latin typeface="Arial"/>
              </a:rPr>
              <a:t>Lifecycle reach</a:t>
            </a:r>
          </a:p>
        </p:txBody>
      </p:sp>
      <p:sp>
        <p:nvSpPr>
          <p:cNvPr id="6" name="TextBox 5"/>
          <p:cNvSpPr txBox="1"/>
          <p:nvPr/>
        </p:nvSpPr>
        <p:spPr>
          <a:xfrm>
            <a:off x="3931920" y="1719072"/>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Export and delete reach the worker's workspace, transcripts, caches, telemetry and log copies, and backups.</a:t>
            </a:r>
          </a:p>
        </p:txBody>
      </p:sp>
      <p:cxnSp>
        <p:nvCxnSpPr>
          <p:cNvPr id="7" name="Gate rule 9"/>
          <p:cNvCxnSpPr/>
          <p:nvPr/>
        </p:nvCxnSpPr>
        <p:spPr>
          <a:xfrm>
            <a:off x="731520" y="2157984"/>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2231136"/>
            <a:ext cx="3108960" cy="365760"/>
          </a:xfrm>
          <a:prstGeom prst="rect">
            <a:avLst/>
          </a:prstGeom>
          <a:noFill/>
        </p:spPr>
        <p:txBody>
          <a:bodyPr wrap="square" lIns="0" rIns="0" tIns="0" bIns="0" anchor="t">
            <a:noAutofit/>
          </a:bodyPr>
          <a:lstStyle/>
          <a:p>
            <a:pPr algn="l"/>
            <a:r>
              <a:rPr sz="1450" b="1" i="0">
                <a:solidFill>
                  <a:srgbClr val="3F7668"/>
                </a:solidFill>
                <a:latin typeface="Arial"/>
              </a:rPr>
              <a:t>9  </a:t>
            </a:r>
            <a:r>
              <a:rPr sz="1450" b="1" i="0">
                <a:solidFill>
                  <a:srgbClr val="251F21"/>
                </a:solidFill>
                <a:latin typeface="Arial"/>
              </a:rPr>
              <a:t>Consent and domain</a:t>
            </a:r>
          </a:p>
        </p:txBody>
      </p:sp>
      <p:sp>
        <p:nvSpPr>
          <p:cNvPr id="9" name="TextBox 8"/>
          <p:cNvSpPr txBox="1"/>
          <p:nvPr/>
        </p:nvSpPr>
        <p:spPr>
          <a:xfrm>
            <a:off x="3931920" y="2231136"/>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The context engine filters by consent and domain; a canary life fact never reaches an employer-facing payload.</a:t>
            </a:r>
          </a:p>
        </p:txBody>
      </p:sp>
      <p:cxnSp>
        <p:nvCxnSpPr>
          <p:cNvPr id="10" name="Gate rule 10"/>
          <p:cNvCxnSpPr/>
          <p:nvPr/>
        </p:nvCxnSpPr>
        <p:spPr>
          <a:xfrm>
            <a:off x="731520" y="2670048"/>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2743200"/>
            <a:ext cx="3108960" cy="365760"/>
          </a:xfrm>
          <a:prstGeom prst="rect">
            <a:avLst/>
          </a:prstGeom>
          <a:noFill/>
        </p:spPr>
        <p:txBody>
          <a:bodyPr wrap="square" lIns="0" rIns="0" tIns="0" bIns="0" anchor="t">
            <a:noAutofit/>
          </a:bodyPr>
          <a:lstStyle/>
          <a:p>
            <a:pPr algn="l"/>
            <a:r>
              <a:rPr sz="1450" b="1" i="0">
                <a:solidFill>
                  <a:srgbClr val="3F7668"/>
                </a:solidFill>
                <a:latin typeface="Arial"/>
              </a:rPr>
              <a:t>10  </a:t>
            </a:r>
            <a:r>
              <a:rPr sz="1450" b="1" i="0">
                <a:solidFill>
                  <a:srgbClr val="251F21"/>
                </a:solidFill>
                <a:latin typeface="Arial"/>
              </a:rPr>
              <a:t>Audit</a:t>
            </a:r>
          </a:p>
        </p:txBody>
      </p:sp>
      <p:sp>
        <p:nvSpPr>
          <p:cNvPr id="12" name="TextBox 11"/>
          <p:cNvSpPr txBox="1"/>
          <p:nvPr/>
        </p:nvSpPr>
        <p:spPr>
          <a:xfrm>
            <a:off x="3931920" y="2743200"/>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Every worker tool call and approval relay lands in the core audit log with execution identity.</a:t>
            </a:r>
          </a:p>
        </p:txBody>
      </p:sp>
      <p:cxnSp>
        <p:nvCxnSpPr>
          <p:cNvPr id="13" name="Gate rule 11"/>
          <p:cNvCxnSpPr/>
          <p:nvPr/>
        </p:nvCxnSpPr>
        <p:spPr>
          <a:xfrm>
            <a:off x="731520" y="3182112"/>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3255264"/>
            <a:ext cx="3108960" cy="365760"/>
          </a:xfrm>
          <a:prstGeom prst="rect">
            <a:avLst/>
          </a:prstGeom>
          <a:noFill/>
        </p:spPr>
        <p:txBody>
          <a:bodyPr wrap="square" lIns="0" rIns="0" tIns="0" bIns="0" anchor="t">
            <a:noAutofit/>
          </a:bodyPr>
          <a:lstStyle/>
          <a:p>
            <a:pPr algn="l"/>
            <a:r>
              <a:rPr sz="1450" b="1" i="0">
                <a:solidFill>
                  <a:srgbClr val="3F7668"/>
                </a:solidFill>
                <a:latin typeface="Arial"/>
              </a:rPr>
              <a:t>11  </a:t>
            </a:r>
            <a:r>
              <a:rPr sz="1450" b="1" i="0">
                <a:solidFill>
                  <a:srgbClr val="251F21"/>
                </a:solidFill>
                <a:latin typeface="Arial"/>
              </a:rPr>
              <a:t>Delegated coding agents</a:t>
            </a:r>
          </a:p>
        </p:txBody>
      </p:sp>
      <p:sp>
        <p:nvSpPr>
          <p:cNvPr id="15" name="TextBox 14"/>
          <p:cNvSpPr txBox="1"/>
          <p:nvPr/>
        </p:nvSpPr>
        <p:spPr>
          <a:xfrm>
            <a:off x="3931920" y="3255264"/>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Claude Code and Codex sessions are sandboxed, with no Tsenta credentials and no side-effect tools.</a:t>
            </a:r>
          </a:p>
        </p:txBody>
      </p:sp>
      <p:cxnSp>
        <p:nvCxnSpPr>
          <p:cNvPr id="16" name="Gate rule 12"/>
          <p:cNvCxnSpPr/>
          <p:nvPr/>
        </p:nvCxnSpPr>
        <p:spPr>
          <a:xfrm>
            <a:off x="731520" y="3694176"/>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3767328"/>
            <a:ext cx="3108960" cy="365760"/>
          </a:xfrm>
          <a:prstGeom prst="rect">
            <a:avLst/>
          </a:prstGeom>
          <a:noFill/>
        </p:spPr>
        <p:txBody>
          <a:bodyPr wrap="square" lIns="0" rIns="0" tIns="0" bIns="0" anchor="t">
            <a:noAutofit/>
          </a:bodyPr>
          <a:lstStyle/>
          <a:p>
            <a:pPr algn="l"/>
            <a:r>
              <a:rPr sz="1450" b="1" i="0">
                <a:solidFill>
                  <a:srgbClr val="3F7668"/>
                </a:solidFill>
                <a:latin typeface="Arial"/>
              </a:rPr>
              <a:t>12  </a:t>
            </a:r>
            <a:r>
              <a:rPr sz="1450" b="1" i="0">
                <a:solidFill>
                  <a:srgbClr val="251F21"/>
                </a:solidFill>
                <a:latin typeface="Arial"/>
              </a:rPr>
              <a:t>Red team</a:t>
            </a:r>
          </a:p>
        </p:txBody>
      </p:sp>
      <p:sp>
        <p:nvSpPr>
          <p:cNvPr id="18" name="TextBox 17"/>
          <p:cNvSpPr txBox="1"/>
          <p:nvPr/>
        </p:nvSpPr>
        <p:spPr>
          <a:xfrm>
            <a:off x="3931920" y="3767328"/>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Prompt injection through job posts, resumes and emails, in the bake-off: 0 unapproved actions, 0 exfiltration.</a:t>
            </a:r>
          </a:p>
        </p:txBody>
      </p:sp>
      <p:cxnSp>
        <p:nvCxnSpPr>
          <p:cNvPr id="19" name="Gate rule 13"/>
          <p:cNvCxnSpPr/>
          <p:nvPr/>
        </p:nvCxnSpPr>
        <p:spPr>
          <a:xfrm>
            <a:off x="731520" y="4206240"/>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4279392"/>
            <a:ext cx="3108960" cy="365760"/>
          </a:xfrm>
          <a:prstGeom prst="rect">
            <a:avLst/>
          </a:prstGeom>
          <a:noFill/>
        </p:spPr>
        <p:txBody>
          <a:bodyPr wrap="square" lIns="0" rIns="0" tIns="0" bIns="0" anchor="t">
            <a:noAutofit/>
          </a:bodyPr>
          <a:lstStyle/>
          <a:p>
            <a:pPr algn="l"/>
            <a:r>
              <a:rPr sz="1450" b="1" i="0">
                <a:solidFill>
                  <a:srgbClr val="3F7668"/>
                </a:solidFill>
                <a:latin typeface="Arial"/>
              </a:rPr>
              <a:t>13  </a:t>
            </a:r>
            <a:r>
              <a:rPr sz="1450" b="1" i="0">
                <a:solidFill>
                  <a:srgbClr val="251F21"/>
                </a:solidFill>
                <a:latin typeface="Arial"/>
              </a:rPr>
              <a:t>Legal</a:t>
            </a:r>
          </a:p>
        </p:txBody>
      </p:sp>
      <p:sp>
        <p:nvSpPr>
          <p:cNvPr id="21" name="TextBox 20"/>
          <p:cNvSpPr txBox="1"/>
          <p:nvPr/>
        </p:nvSpPr>
        <p:spPr>
          <a:xfrm>
            <a:off x="3931920" y="4279392"/>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Gmail API Limited Use inside the worker, model-vendor commercial terms, a transitive npm license scan.</a:t>
            </a:r>
          </a:p>
        </p:txBody>
      </p:sp>
      <p:cxnSp>
        <p:nvCxnSpPr>
          <p:cNvPr id="22" name="Gate rule 14"/>
          <p:cNvCxnSpPr/>
          <p:nvPr/>
        </p:nvCxnSpPr>
        <p:spPr>
          <a:xfrm>
            <a:off x="731520" y="4718304"/>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31520" y="4791456"/>
            <a:ext cx="3108960" cy="365760"/>
          </a:xfrm>
          <a:prstGeom prst="rect">
            <a:avLst/>
          </a:prstGeom>
          <a:noFill/>
        </p:spPr>
        <p:txBody>
          <a:bodyPr wrap="square" lIns="0" rIns="0" tIns="0" bIns="0" anchor="t">
            <a:noAutofit/>
          </a:bodyPr>
          <a:lstStyle/>
          <a:p>
            <a:pPr algn="l"/>
            <a:r>
              <a:rPr sz="1450" b="1" i="0">
                <a:solidFill>
                  <a:srgbClr val="3F7668"/>
                </a:solidFill>
                <a:latin typeface="Arial"/>
              </a:rPr>
              <a:t>14  </a:t>
            </a:r>
            <a:r>
              <a:rPr sz="1450" b="1" i="0">
                <a:solidFill>
                  <a:srgbClr val="251F21"/>
                </a:solidFill>
                <a:latin typeface="Arial"/>
              </a:rPr>
              <a:t>Operations</a:t>
            </a:r>
          </a:p>
        </p:txBody>
      </p:sp>
      <p:sp>
        <p:nvSpPr>
          <p:cNvPr id="24" name="TextBox 23"/>
          <p:cNvSpPr txBox="1"/>
          <p:nvPr/>
        </p:nvSpPr>
        <p:spPr>
          <a:xfrm>
            <a:off x="3931920" y="4791456"/>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A cold-start SLO for sleeping workers, a named image owner, a tested upgrade and rollback.</a:t>
            </a:r>
          </a:p>
        </p:txBody>
      </p:sp>
      <p:cxnSp>
        <p:nvCxnSpPr>
          <p:cNvPr id="25" name="Gate rule 15"/>
          <p:cNvCxnSpPr/>
          <p:nvPr/>
        </p:nvCxnSpPr>
        <p:spPr>
          <a:xfrm>
            <a:off x="731520" y="5230368"/>
            <a:ext cx="10728655" cy="0"/>
          </a:xfrm>
          <a:prstGeom prst="line">
            <a:avLst/>
          </a:prstGeom>
          <a:ln w="9525">
            <a:solidFill>
              <a:srgbClr val="E4E0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1520" y="5303520"/>
            <a:ext cx="3108960" cy="365760"/>
          </a:xfrm>
          <a:prstGeom prst="rect">
            <a:avLst/>
          </a:prstGeom>
          <a:noFill/>
        </p:spPr>
        <p:txBody>
          <a:bodyPr wrap="square" lIns="0" rIns="0" tIns="0" bIns="0" anchor="t">
            <a:noAutofit/>
          </a:bodyPr>
          <a:lstStyle/>
          <a:p>
            <a:pPr algn="l"/>
            <a:r>
              <a:rPr sz="1450" b="1" i="0">
                <a:solidFill>
                  <a:srgbClr val="3F7668"/>
                </a:solidFill>
                <a:latin typeface="Arial"/>
              </a:rPr>
              <a:t>15  </a:t>
            </a:r>
            <a:r>
              <a:rPr sz="1450" b="1" i="0">
                <a:solidFill>
                  <a:srgbClr val="251F21"/>
                </a:solidFill>
                <a:latin typeface="Arial"/>
              </a:rPr>
              <a:t>Cross-user patterns</a:t>
            </a:r>
          </a:p>
        </p:txBody>
      </p:sp>
      <p:sp>
        <p:nvSpPr>
          <p:cNvPr id="27" name="TextBox 26"/>
          <p:cNvSpPr txBox="1"/>
          <p:nvPr/>
        </p:nvSpPr>
        <p:spPr>
          <a:xfrm>
            <a:off x="3931920" y="5303520"/>
            <a:ext cx="7528255" cy="438912"/>
          </a:xfrm>
          <a:prstGeom prst="rect">
            <a:avLst/>
          </a:prstGeom>
          <a:noFill/>
        </p:spPr>
        <p:txBody>
          <a:bodyPr wrap="square" lIns="0" rIns="0" tIns="0" bIns="0" anchor="t">
            <a:noAutofit/>
          </a:bodyPr>
          <a:lstStyle/>
          <a:p>
            <a:pPr algn="l">
              <a:lnSpc>
                <a:spcPct val="100000"/>
              </a:lnSpc>
            </a:pPr>
            <a:r>
              <a:rPr sz="1250" b="0" i="0">
                <a:solidFill>
                  <a:srgbClr val="585254"/>
                </a:solidFill>
                <a:latin typeface="Arial"/>
              </a:rPr>
              <a:t>First-party apply records mapped apart from Gmail-derived data; no Gmail inputs until counsel; cohort minimums.</a:t>
            </a:r>
          </a:p>
        </p:txBody>
      </p:sp>
      <p:sp>
        <p:nvSpPr>
          <p:cNvPr id="28" name="TextBox 27"/>
          <p:cNvSpPr txBox="1"/>
          <p:nvPr/>
        </p:nvSpPr>
        <p:spPr>
          <a:xfrm>
            <a:off x="731520" y="5797296"/>
            <a:ext cx="10728655" cy="411480"/>
          </a:xfrm>
          <a:prstGeom prst="rect">
            <a:avLst/>
          </a:prstGeom>
          <a:noFill/>
        </p:spPr>
        <p:txBody>
          <a:bodyPr wrap="square" lIns="0" rIns="0" tIns="0" bIns="0" anchor="t">
            <a:noAutofit/>
          </a:bodyPr>
          <a:lstStyle/>
          <a:p>
            <a:pPr algn="l"/>
            <a:r>
              <a:rPr sz="1300" b="1" i="0">
                <a:solidFill>
                  <a:srgbClr val="3F7668"/>
                </a:solidFill>
                <a:latin typeface="Arial"/>
              </a:rPr>
              <a:t>These gates apply to whichever runtime is chosen, the SDK baseline included.</a:t>
            </a:r>
          </a:p>
        </p:txBody>
      </p:sp>
      <p:cxnSp>
        <p:nvCxnSpPr>
          <p:cNvPr id="29" name="Connector 28"/>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30" name="Footer"/>
          <p:cNvSpPr txBox="1"/>
          <p:nvPr/>
        </p:nvSpPr>
        <p:spPr>
          <a:xfrm>
            <a:off x="731520" y="6382512"/>
            <a:ext cx="6035040" cy="274320"/>
          </a:xfrm>
          <a:prstGeom prst="rect">
            <a:avLst/>
          </a:prstGeom>
          <a:noFill/>
        </p:spPr>
        <p:txBody>
          <a:bodyPr wrap="square" lIns="0" rIns="0" tIns="0" bIns="0" anchor="t">
            <a:noAutofit/>
          </a:bodyPr>
          <a:lstStyle/>
          <a:p>
            <a:pPr algn="l"/>
            <a:r>
              <a:rPr sz="1000" b="1" i="0">
                <a:solidFill>
                  <a:srgbClr val="251F21"/>
                </a:solidFill>
                <a:latin typeface="Arial"/>
              </a:rPr>
              <a:t>Proposal, not built. Only the job agent is live today.</a:t>
            </a:r>
            <a:r>
              <a:rPr sz="1000" b="0" i="0">
                <a:solidFill>
                  <a:srgbClr val="585254"/>
                </a:solidFill>
                <a:latin typeface="Arial"/>
              </a:rPr>
              <a:t>   Tsenta  ·  October 14, 2026</a:t>
            </a:r>
          </a:p>
        </p:txBody>
      </p:sp>
      <p:sp>
        <p:nvSpPr>
          <p:cNvPr id="31"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25</a:t>
            </a:r>
          </a:p>
        </p:txBody>
      </p:sp>
      <p:sp>
        <p:nvSpPr>
          <p:cNvPr id="32" name="Source line"/>
          <p:cNvSpPr txBox="1"/>
          <p:nvPr/>
        </p:nvSpPr>
        <p:spPr>
          <a:xfrm>
            <a:off x="6858000" y="6382512"/>
            <a:ext cx="3962095" cy="274320"/>
          </a:xfrm>
          <a:prstGeom prst="rect">
            <a:avLst/>
          </a:prstGeom>
          <a:noFill/>
        </p:spPr>
        <p:txBody>
          <a:bodyPr wrap="square" lIns="0" rIns="0" tIns="0" bIns="0" anchor="t">
            <a:noAutofit/>
          </a:bodyPr>
          <a:lstStyle/>
          <a:p>
            <a:pPr algn="r"/>
            <a:r>
              <a:rPr sz="900" b="0" i="0">
                <a:solidFill>
                  <a:srgbClr val="585254"/>
                </a:solidFill>
                <a:latin typeface="Arial"/>
              </a:rPr>
              <a:t>Runtime review build verdict and cross-check, October 13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Sources (1 of 4)</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A10</a:t>
            </a:r>
          </a:p>
        </p:txBody>
      </p:sp>
      <p:sp>
        <p:nvSpPr>
          <p:cNvPr id="4" name="TextBox 3"/>
          <p:cNvSpPr txBox="1"/>
          <p:nvPr/>
        </p:nvSpPr>
        <p:spPr>
          <a:xfrm>
            <a:off x="731520" y="1645920"/>
            <a:ext cx="3017520" cy="237744"/>
          </a:xfrm>
          <a:prstGeom prst="rect">
            <a:avLst/>
          </a:prstGeom>
          <a:noFill/>
        </p:spPr>
        <p:txBody>
          <a:bodyPr wrap="square" lIns="0" rIns="0" tIns="0" bIns="0" anchor="t">
            <a:noAutofit/>
          </a:bodyPr>
          <a:lstStyle/>
          <a:p>
            <a:pPr algn="l"/>
            <a:r>
              <a:rPr sz="1050" b="1" i="0">
                <a:solidFill>
                  <a:srgbClr val="251F21"/>
                </a:solidFill>
                <a:latin typeface="Arial"/>
              </a:rPr>
              <a:t>Tsenta homepage</a:t>
            </a:r>
          </a:p>
        </p:txBody>
      </p:sp>
      <p:sp>
        <p:nvSpPr>
          <p:cNvPr id="5" name="TextBox 4"/>
          <p:cNvSpPr txBox="1"/>
          <p:nvPr/>
        </p:nvSpPr>
        <p:spPr>
          <a:xfrm>
            <a:off x="3840480" y="1655064"/>
            <a:ext cx="7619695" cy="237744"/>
          </a:xfrm>
          <a:prstGeom prst="rect">
            <a:avLst/>
          </a:prstGeom>
          <a:noFill/>
        </p:spPr>
        <p:txBody>
          <a:bodyPr wrap="square" lIns="0" rIns="0" tIns="0" bIns="0" anchor="t">
            <a:noAutofit/>
          </a:bodyPr>
          <a:lstStyle/>
          <a:p>
            <a:pPr algn="l"/>
            <a:r>
              <a:rPr sz="900" b="0" i="0">
                <a:solidFill>
                  <a:srgbClr val="585254"/>
                </a:solidFill>
                <a:latin typeface="Arial"/>
              </a:rPr>
              <a:t>https://tsenta.com/</a:t>
            </a:r>
          </a:p>
        </p:txBody>
      </p:sp>
      <p:sp>
        <p:nvSpPr>
          <p:cNvPr id="6" name="TextBox 5"/>
          <p:cNvSpPr txBox="1"/>
          <p:nvPr/>
        </p:nvSpPr>
        <p:spPr>
          <a:xfrm>
            <a:off x="731520" y="1865376"/>
            <a:ext cx="3017520" cy="237744"/>
          </a:xfrm>
          <a:prstGeom prst="rect">
            <a:avLst/>
          </a:prstGeom>
          <a:noFill/>
        </p:spPr>
        <p:txBody>
          <a:bodyPr wrap="square" lIns="0" rIns="0" tIns="0" bIns="0" anchor="t">
            <a:noAutofit/>
          </a:bodyPr>
          <a:lstStyle/>
          <a:p>
            <a:pPr algn="l"/>
            <a:r>
              <a:rPr sz="1050" b="1" i="0">
                <a:solidFill>
                  <a:srgbClr val="251F21"/>
                </a:solidFill>
                <a:latin typeface="Arial"/>
              </a:rPr>
              <a:t>Tsenta messaging</a:t>
            </a:r>
          </a:p>
        </p:txBody>
      </p:sp>
      <p:sp>
        <p:nvSpPr>
          <p:cNvPr id="7" name="TextBox 6"/>
          <p:cNvSpPr txBox="1"/>
          <p:nvPr/>
        </p:nvSpPr>
        <p:spPr>
          <a:xfrm>
            <a:off x="3840480" y="1874520"/>
            <a:ext cx="7619695" cy="237744"/>
          </a:xfrm>
          <a:prstGeom prst="rect">
            <a:avLst/>
          </a:prstGeom>
          <a:noFill/>
        </p:spPr>
        <p:txBody>
          <a:bodyPr wrap="square" lIns="0" rIns="0" tIns="0" bIns="0" anchor="t">
            <a:noAutofit/>
          </a:bodyPr>
          <a:lstStyle/>
          <a:p>
            <a:pPr algn="l"/>
            <a:r>
              <a:rPr sz="900" b="0" i="0">
                <a:solidFill>
                  <a:srgbClr val="585254"/>
                </a:solidFill>
                <a:latin typeface="Arial"/>
              </a:rPr>
              <a:t>https://tsenta.com/messaging</a:t>
            </a:r>
          </a:p>
        </p:txBody>
      </p:sp>
      <p:sp>
        <p:nvSpPr>
          <p:cNvPr id="8" name="TextBox 7"/>
          <p:cNvSpPr txBox="1"/>
          <p:nvPr/>
        </p:nvSpPr>
        <p:spPr>
          <a:xfrm>
            <a:off x="731520" y="2084832"/>
            <a:ext cx="3017520" cy="237744"/>
          </a:xfrm>
          <a:prstGeom prst="rect">
            <a:avLst/>
          </a:prstGeom>
          <a:noFill/>
        </p:spPr>
        <p:txBody>
          <a:bodyPr wrap="square" lIns="0" rIns="0" tIns="0" bIns="0" anchor="t">
            <a:noAutofit/>
          </a:bodyPr>
          <a:lstStyle/>
          <a:p>
            <a:pPr algn="l"/>
            <a:r>
              <a:rPr sz="1050" b="1" i="0">
                <a:solidFill>
                  <a:srgbClr val="251F21"/>
                </a:solidFill>
                <a:latin typeface="Arial"/>
              </a:rPr>
              <a:t>Tsenta MCP</a:t>
            </a:r>
          </a:p>
        </p:txBody>
      </p:sp>
      <p:sp>
        <p:nvSpPr>
          <p:cNvPr id="9" name="TextBox 8"/>
          <p:cNvSpPr txBox="1"/>
          <p:nvPr/>
        </p:nvSpPr>
        <p:spPr>
          <a:xfrm>
            <a:off x="3840480" y="2093976"/>
            <a:ext cx="7619695" cy="237744"/>
          </a:xfrm>
          <a:prstGeom prst="rect">
            <a:avLst/>
          </a:prstGeom>
          <a:noFill/>
        </p:spPr>
        <p:txBody>
          <a:bodyPr wrap="square" lIns="0" rIns="0" tIns="0" bIns="0" anchor="t">
            <a:noAutofit/>
          </a:bodyPr>
          <a:lstStyle/>
          <a:p>
            <a:pPr algn="l"/>
            <a:r>
              <a:rPr sz="900" b="0" i="0">
                <a:solidFill>
                  <a:srgbClr val="585254"/>
                </a:solidFill>
                <a:latin typeface="Arial"/>
              </a:rPr>
              <a:t>https://tsenta.com/mcp</a:t>
            </a:r>
          </a:p>
        </p:txBody>
      </p:sp>
      <p:sp>
        <p:nvSpPr>
          <p:cNvPr id="10" name="TextBox 9"/>
          <p:cNvSpPr txBox="1"/>
          <p:nvPr/>
        </p:nvSpPr>
        <p:spPr>
          <a:xfrm>
            <a:off x="731520" y="2304288"/>
            <a:ext cx="3017520" cy="237744"/>
          </a:xfrm>
          <a:prstGeom prst="rect">
            <a:avLst/>
          </a:prstGeom>
          <a:noFill/>
        </p:spPr>
        <p:txBody>
          <a:bodyPr wrap="square" lIns="0" rIns="0" tIns="0" bIns="0" anchor="t">
            <a:noAutofit/>
          </a:bodyPr>
          <a:lstStyle/>
          <a:p>
            <a:pPr algn="l"/>
            <a:r>
              <a:rPr sz="1050" b="1" i="0">
                <a:solidFill>
                  <a:srgbClr val="251F21"/>
                </a:solidFill>
                <a:latin typeface="Arial"/>
              </a:rPr>
              <a:t>Tsenta MCP connector docs</a:t>
            </a:r>
          </a:p>
        </p:txBody>
      </p:sp>
      <p:sp>
        <p:nvSpPr>
          <p:cNvPr id="11" name="TextBox 10"/>
          <p:cNvSpPr txBox="1"/>
          <p:nvPr/>
        </p:nvSpPr>
        <p:spPr>
          <a:xfrm>
            <a:off x="3840480" y="2313432"/>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https://docs.tsenta.com/product/mcp-connector</a:t>
            </a:r>
          </a:p>
        </p:txBody>
      </p:sp>
      <p:sp>
        <p:nvSpPr>
          <p:cNvPr id="12" name="TextBox 11"/>
          <p:cNvSpPr txBox="1"/>
          <p:nvPr/>
        </p:nvSpPr>
        <p:spPr>
          <a:xfrm>
            <a:off x="731520" y="2523744"/>
            <a:ext cx="3017520" cy="237744"/>
          </a:xfrm>
          <a:prstGeom prst="rect">
            <a:avLst/>
          </a:prstGeom>
          <a:noFill/>
        </p:spPr>
        <p:txBody>
          <a:bodyPr wrap="square" lIns="0" rIns="0" tIns="0" bIns="0" anchor="t">
            <a:noAutofit/>
          </a:bodyPr>
          <a:lstStyle/>
          <a:p>
            <a:pPr algn="l"/>
            <a:r>
              <a:rPr sz="1050" b="1" i="0">
                <a:solidFill>
                  <a:srgbClr val="251F21"/>
                </a:solidFill>
                <a:latin typeface="Arial"/>
              </a:rPr>
              <a:t>Tsenta AI agent comparison</a:t>
            </a:r>
          </a:p>
        </p:txBody>
      </p:sp>
      <p:sp>
        <p:nvSpPr>
          <p:cNvPr id="13" name="TextBox 12"/>
          <p:cNvSpPr txBox="1"/>
          <p:nvPr/>
        </p:nvSpPr>
        <p:spPr>
          <a:xfrm>
            <a:off x="3840480" y="2532888"/>
            <a:ext cx="7619695" cy="237744"/>
          </a:xfrm>
          <a:prstGeom prst="rect">
            <a:avLst/>
          </a:prstGeom>
          <a:noFill/>
        </p:spPr>
        <p:txBody>
          <a:bodyPr wrap="square" lIns="0" rIns="0" tIns="0" bIns="0" anchor="t">
            <a:noAutofit/>
          </a:bodyPr>
          <a:lstStyle/>
          <a:p>
            <a:pPr algn="l"/>
            <a:r>
              <a:rPr sz="900" b="0" i="0">
                <a:solidFill>
                  <a:srgbClr val="585254"/>
                </a:solidFill>
                <a:latin typeface="Arial"/>
              </a:rPr>
              <a:t>https://tsenta.com/ai-agent</a:t>
            </a:r>
          </a:p>
        </p:txBody>
      </p:sp>
      <p:sp>
        <p:nvSpPr>
          <p:cNvPr id="14" name="TextBox 13"/>
          <p:cNvSpPr txBox="1"/>
          <p:nvPr/>
        </p:nvSpPr>
        <p:spPr>
          <a:xfrm>
            <a:off x="731520" y="2743200"/>
            <a:ext cx="3017520" cy="237744"/>
          </a:xfrm>
          <a:prstGeom prst="rect">
            <a:avLst/>
          </a:prstGeom>
          <a:noFill/>
        </p:spPr>
        <p:txBody>
          <a:bodyPr wrap="square" lIns="0" rIns="0" tIns="0" bIns="0" anchor="t">
            <a:noAutofit/>
          </a:bodyPr>
          <a:lstStyle/>
          <a:p>
            <a:pPr algn="l"/>
            <a:r>
              <a:rPr sz="1050" b="1" i="0">
                <a:solidFill>
                  <a:srgbClr val="251F21"/>
                </a:solidFill>
                <a:latin typeface="Arial"/>
              </a:rPr>
              <a:t>MCP versioning</a:t>
            </a:r>
          </a:p>
        </p:txBody>
      </p:sp>
      <p:sp>
        <p:nvSpPr>
          <p:cNvPr id="15" name="TextBox 14"/>
          <p:cNvSpPr txBox="1"/>
          <p:nvPr/>
        </p:nvSpPr>
        <p:spPr>
          <a:xfrm>
            <a:off x="3840480" y="2752344"/>
            <a:ext cx="7619695" cy="237744"/>
          </a:xfrm>
          <a:prstGeom prst="rect">
            <a:avLst/>
          </a:prstGeom>
          <a:noFill/>
        </p:spPr>
        <p:txBody>
          <a:bodyPr wrap="square" lIns="0" rIns="0" tIns="0" bIns="0" anchor="t">
            <a:noAutofit/>
          </a:bodyPr>
          <a:lstStyle/>
          <a:p>
            <a:pPr algn="l"/>
            <a:r>
              <a:rPr sz="900" b="0" i="0">
                <a:solidFill>
                  <a:srgbClr val="585254"/>
                </a:solidFill>
                <a:latin typeface="Arial"/>
              </a:rPr>
              <a:t>https://modelcontextprotocol.io/specification/versioning</a:t>
            </a:r>
          </a:p>
        </p:txBody>
      </p:sp>
      <p:sp>
        <p:nvSpPr>
          <p:cNvPr id="16" name="TextBox 15"/>
          <p:cNvSpPr txBox="1"/>
          <p:nvPr/>
        </p:nvSpPr>
        <p:spPr>
          <a:xfrm>
            <a:off x="731520" y="2962656"/>
            <a:ext cx="3017520" cy="237744"/>
          </a:xfrm>
          <a:prstGeom prst="rect">
            <a:avLst/>
          </a:prstGeom>
          <a:noFill/>
        </p:spPr>
        <p:txBody>
          <a:bodyPr wrap="square" lIns="0" rIns="0" tIns="0" bIns="0" anchor="t">
            <a:noAutofit/>
          </a:bodyPr>
          <a:lstStyle/>
          <a:p>
            <a:pPr algn="l"/>
            <a:r>
              <a:rPr sz="1050" b="1" i="0">
                <a:solidFill>
                  <a:srgbClr val="251F21"/>
                </a:solidFill>
                <a:latin typeface="Arial"/>
              </a:rPr>
              <a:t>MCP patterns</a:t>
            </a:r>
          </a:p>
        </p:txBody>
      </p:sp>
      <p:sp>
        <p:nvSpPr>
          <p:cNvPr id="17" name="TextBox 16"/>
          <p:cNvSpPr txBox="1"/>
          <p:nvPr/>
        </p:nvSpPr>
        <p:spPr>
          <a:xfrm>
            <a:off x="3840480" y="2971800"/>
            <a:ext cx="7619695" cy="237744"/>
          </a:xfrm>
          <a:prstGeom prst="rect">
            <a:avLst/>
          </a:prstGeom>
          <a:noFill/>
        </p:spPr>
        <p:txBody>
          <a:bodyPr wrap="square" lIns="0" rIns="0" tIns="0" bIns="0" anchor="t">
            <a:noAutofit/>
          </a:bodyPr>
          <a:lstStyle/>
          <a:p>
            <a:pPr algn="l"/>
            <a:r>
              <a:rPr sz="900" b="0" i="0">
                <a:solidFill>
                  <a:srgbClr val="585254"/>
                </a:solidFill>
                <a:latin typeface="Arial"/>
              </a:rPr>
              <a:t>https://modelcontextprotocol.io/specification/2026-07-28/basic/patterns</a:t>
            </a:r>
          </a:p>
        </p:txBody>
      </p:sp>
      <p:sp>
        <p:nvSpPr>
          <p:cNvPr id="18" name="TextBox 17"/>
          <p:cNvSpPr txBox="1"/>
          <p:nvPr/>
        </p:nvSpPr>
        <p:spPr>
          <a:xfrm>
            <a:off x="731520" y="3182112"/>
            <a:ext cx="3017520" cy="237744"/>
          </a:xfrm>
          <a:prstGeom prst="rect">
            <a:avLst/>
          </a:prstGeom>
          <a:noFill/>
        </p:spPr>
        <p:txBody>
          <a:bodyPr wrap="square" lIns="0" rIns="0" tIns="0" bIns="0" anchor="t">
            <a:noAutofit/>
          </a:bodyPr>
          <a:lstStyle/>
          <a:p>
            <a:pPr algn="l"/>
            <a:r>
              <a:rPr sz="1050" b="1" i="0">
                <a:solidFill>
                  <a:srgbClr val="251F21"/>
                </a:solidFill>
                <a:latin typeface="Arial"/>
              </a:rPr>
              <a:t>MCP subscriptions</a:t>
            </a:r>
          </a:p>
        </p:txBody>
      </p:sp>
      <p:sp>
        <p:nvSpPr>
          <p:cNvPr id="19" name="TextBox 18"/>
          <p:cNvSpPr txBox="1"/>
          <p:nvPr/>
        </p:nvSpPr>
        <p:spPr>
          <a:xfrm>
            <a:off x="3840480" y="3191256"/>
            <a:ext cx="7619695" cy="237744"/>
          </a:xfrm>
          <a:prstGeom prst="rect">
            <a:avLst/>
          </a:prstGeom>
          <a:noFill/>
        </p:spPr>
        <p:txBody>
          <a:bodyPr wrap="square" lIns="0" rIns="0" tIns="0" bIns="0" anchor="t">
            <a:noAutofit/>
          </a:bodyPr>
          <a:lstStyle/>
          <a:p>
            <a:pPr algn="l"/>
            <a:r>
              <a:rPr sz="900" b="0" i="0">
                <a:solidFill>
                  <a:srgbClr val="585254"/>
                </a:solidFill>
                <a:latin typeface="Arial"/>
              </a:rPr>
              <a:t>https://modelcontextprotocol.io/specification/2026-07-28/basic/patterns/subscriptions</a:t>
            </a:r>
          </a:p>
        </p:txBody>
      </p:sp>
      <p:sp>
        <p:nvSpPr>
          <p:cNvPr id="20" name="TextBox 19"/>
          <p:cNvSpPr txBox="1"/>
          <p:nvPr/>
        </p:nvSpPr>
        <p:spPr>
          <a:xfrm>
            <a:off x="731520" y="3401568"/>
            <a:ext cx="3017520" cy="237744"/>
          </a:xfrm>
          <a:prstGeom prst="rect">
            <a:avLst/>
          </a:prstGeom>
          <a:noFill/>
        </p:spPr>
        <p:txBody>
          <a:bodyPr wrap="square" lIns="0" rIns="0" tIns="0" bIns="0" anchor="t">
            <a:noAutofit/>
          </a:bodyPr>
          <a:lstStyle/>
          <a:p>
            <a:pPr algn="l"/>
            <a:r>
              <a:rPr sz="1050" b="1" i="0">
                <a:solidFill>
                  <a:srgbClr val="251F21"/>
                </a:solidFill>
                <a:latin typeface="Arial"/>
              </a:rPr>
              <a:t>MCP roadmap</a:t>
            </a:r>
          </a:p>
        </p:txBody>
      </p:sp>
      <p:sp>
        <p:nvSpPr>
          <p:cNvPr id="21" name="TextBox 20"/>
          <p:cNvSpPr txBox="1"/>
          <p:nvPr/>
        </p:nvSpPr>
        <p:spPr>
          <a:xfrm>
            <a:off x="3840480" y="3410712"/>
            <a:ext cx="7619695" cy="237744"/>
          </a:xfrm>
          <a:prstGeom prst="rect">
            <a:avLst/>
          </a:prstGeom>
          <a:noFill/>
        </p:spPr>
        <p:txBody>
          <a:bodyPr wrap="square" lIns="0" rIns="0" tIns="0" bIns="0" anchor="t">
            <a:noAutofit/>
          </a:bodyPr>
          <a:lstStyle/>
          <a:p>
            <a:pPr algn="l"/>
            <a:r>
              <a:rPr sz="900" b="0" i="0">
                <a:solidFill>
                  <a:srgbClr val="585254"/>
                </a:solidFill>
                <a:latin typeface="Arial"/>
              </a:rPr>
              <a:t>https://modelcontextprotocol.io/development/roadmap</a:t>
            </a:r>
          </a:p>
        </p:txBody>
      </p:sp>
      <p:sp>
        <p:nvSpPr>
          <p:cNvPr id="22" name="TextBox 21"/>
          <p:cNvSpPr txBox="1"/>
          <p:nvPr/>
        </p:nvSpPr>
        <p:spPr>
          <a:xfrm>
            <a:off x="731520" y="3621024"/>
            <a:ext cx="3017520" cy="237744"/>
          </a:xfrm>
          <a:prstGeom prst="rect">
            <a:avLst/>
          </a:prstGeom>
          <a:noFill/>
        </p:spPr>
        <p:txBody>
          <a:bodyPr wrap="square" lIns="0" rIns="0" tIns="0" bIns="0" anchor="t">
            <a:noAutofit/>
          </a:bodyPr>
          <a:lstStyle/>
          <a:p>
            <a:pPr algn="l"/>
            <a:r>
              <a:rPr sz="1050" b="1" i="0">
                <a:solidFill>
                  <a:srgbClr val="251F21"/>
                </a:solidFill>
                <a:latin typeface="Arial"/>
              </a:rPr>
              <a:t>MCP deprecated features</a:t>
            </a:r>
          </a:p>
        </p:txBody>
      </p:sp>
      <p:sp>
        <p:nvSpPr>
          <p:cNvPr id="23" name="TextBox 22"/>
          <p:cNvSpPr txBox="1"/>
          <p:nvPr/>
        </p:nvSpPr>
        <p:spPr>
          <a:xfrm>
            <a:off x="3840480" y="3630168"/>
            <a:ext cx="7619695" cy="237744"/>
          </a:xfrm>
          <a:prstGeom prst="rect">
            <a:avLst/>
          </a:prstGeom>
          <a:noFill/>
        </p:spPr>
        <p:txBody>
          <a:bodyPr wrap="square" lIns="0" rIns="0" tIns="0" bIns="0" anchor="t">
            <a:noAutofit/>
          </a:bodyPr>
          <a:lstStyle/>
          <a:p>
            <a:pPr algn="l"/>
            <a:r>
              <a:rPr sz="900" b="0" i="0">
                <a:solidFill>
                  <a:srgbClr val="585254"/>
                </a:solidFill>
                <a:latin typeface="Arial"/>
              </a:rPr>
              <a:t>https://modelcontextprotocol.io/specification/2026-07-28/deprecated</a:t>
            </a:r>
          </a:p>
        </p:txBody>
      </p:sp>
      <p:sp>
        <p:nvSpPr>
          <p:cNvPr id="24" name="TextBox 23"/>
          <p:cNvSpPr txBox="1"/>
          <p:nvPr/>
        </p:nvSpPr>
        <p:spPr>
          <a:xfrm>
            <a:off x="731520" y="3840480"/>
            <a:ext cx="3017520" cy="237744"/>
          </a:xfrm>
          <a:prstGeom prst="rect">
            <a:avLst/>
          </a:prstGeom>
          <a:noFill/>
        </p:spPr>
        <p:txBody>
          <a:bodyPr wrap="square" lIns="0" rIns="0" tIns="0" bIns="0" anchor="t">
            <a:noAutofit/>
          </a:bodyPr>
          <a:lstStyle/>
          <a:p>
            <a:pPr algn="l"/>
            <a:r>
              <a:rPr sz="1050" b="1" i="0">
                <a:solidFill>
                  <a:srgbClr val="251F21"/>
                </a:solidFill>
                <a:latin typeface="Arial"/>
              </a:rPr>
              <a:t>SEP-3415 Events extension (draft)</a:t>
            </a:r>
          </a:p>
        </p:txBody>
      </p:sp>
      <p:sp>
        <p:nvSpPr>
          <p:cNvPr id="25" name="TextBox 24"/>
          <p:cNvSpPr txBox="1"/>
          <p:nvPr/>
        </p:nvSpPr>
        <p:spPr>
          <a:xfrm>
            <a:off x="3840480" y="3849624"/>
            <a:ext cx="7619695" cy="237744"/>
          </a:xfrm>
          <a:prstGeom prst="rect">
            <a:avLst/>
          </a:prstGeom>
          <a:noFill/>
        </p:spPr>
        <p:txBody>
          <a:bodyPr wrap="square" lIns="0" rIns="0" tIns="0" bIns="0" anchor="t">
            <a:noAutofit/>
          </a:bodyPr>
          <a:lstStyle/>
          <a:p>
            <a:pPr algn="l"/>
            <a:r>
              <a:rPr sz="900" b="0" i="0">
                <a:solidFill>
                  <a:srgbClr val="585254"/>
                </a:solidFill>
                <a:latin typeface="Arial"/>
              </a:rPr>
              <a:t>https://github.com/modelcontextprotocol/modelcontextprotocol/pull/3415</a:t>
            </a:r>
          </a:p>
        </p:txBody>
      </p:sp>
      <p:sp>
        <p:nvSpPr>
          <p:cNvPr id="26" name="TextBox 25"/>
          <p:cNvSpPr txBox="1"/>
          <p:nvPr/>
        </p:nvSpPr>
        <p:spPr>
          <a:xfrm>
            <a:off x="731520" y="4059936"/>
            <a:ext cx="3017520" cy="237744"/>
          </a:xfrm>
          <a:prstGeom prst="rect">
            <a:avLst/>
          </a:prstGeom>
          <a:noFill/>
        </p:spPr>
        <p:txBody>
          <a:bodyPr wrap="square" lIns="0" rIns="0" tIns="0" bIns="0" anchor="t">
            <a:noAutofit/>
          </a:bodyPr>
          <a:lstStyle/>
          <a:p>
            <a:pPr algn="l"/>
            <a:r>
              <a:rPr sz="1050" b="1" i="0">
                <a:solidFill>
                  <a:srgbClr val="251F21"/>
                </a:solidFill>
                <a:latin typeface="Arial"/>
              </a:rPr>
              <a:t>ChatGPT MCP Events</a:t>
            </a:r>
          </a:p>
        </p:txBody>
      </p:sp>
      <p:sp>
        <p:nvSpPr>
          <p:cNvPr id="27" name="TextBox 26"/>
          <p:cNvSpPr txBox="1"/>
          <p:nvPr/>
        </p:nvSpPr>
        <p:spPr>
          <a:xfrm>
            <a:off x="3840480" y="4069080"/>
            <a:ext cx="7619695" cy="237744"/>
          </a:xfrm>
          <a:prstGeom prst="rect">
            <a:avLst/>
          </a:prstGeom>
          <a:noFill/>
        </p:spPr>
        <p:txBody>
          <a:bodyPr wrap="square" lIns="0" rIns="0" tIns="0" bIns="0" anchor="t">
            <a:noAutofit/>
          </a:bodyPr>
          <a:lstStyle/>
          <a:p>
            <a:pPr algn="l"/>
            <a:r>
              <a:rPr sz="900" b="0" i="0">
                <a:solidFill>
                  <a:srgbClr val="585254"/>
                </a:solidFill>
                <a:latin typeface="Arial"/>
              </a:rPr>
              <a:t>https://developers.openai.com/plugins/build/mcp-events.md</a:t>
            </a:r>
          </a:p>
        </p:txBody>
      </p:sp>
      <p:sp>
        <p:nvSpPr>
          <p:cNvPr id="28" name="TextBox 27"/>
          <p:cNvSpPr txBox="1"/>
          <p:nvPr/>
        </p:nvSpPr>
        <p:spPr>
          <a:xfrm>
            <a:off x="731520" y="4279392"/>
            <a:ext cx="3017520" cy="237744"/>
          </a:xfrm>
          <a:prstGeom prst="rect">
            <a:avLst/>
          </a:prstGeom>
          <a:noFill/>
        </p:spPr>
        <p:txBody>
          <a:bodyPr wrap="square" lIns="0" rIns="0" tIns="0" bIns="0" anchor="t">
            <a:noAutofit/>
          </a:bodyPr>
          <a:lstStyle/>
          <a:p>
            <a:pPr algn="l"/>
            <a:r>
              <a:rPr sz="1050" b="1" i="0">
                <a:solidFill>
                  <a:srgbClr val="251F21"/>
                </a:solidFill>
                <a:latin typeface="Arial"/>
              </a:rPr>
              <a:t>ChatGPT automations</a:t>
            </a:r>
          </a:p>
        </p:txBody>
      </p:sp>
      <p:sp>
        <p:nvSpPr>
          <p:cNvPr id="29" name="TextBox 28"/>
          <p:cNvSpPr txBox="1"/>
          <p:nvPr/>
        </p:nvSpPr>
        <p:spPr>
          <a:xfrm>
            <a:off x="3840480" y="4288536"/>
            <a:ext cx="7619695" cy="237744"/>
          </a:xfrm>
          <a:prstGeom prst="rect">
            <a:avLst/>
          </a:prstGeom>
          <a:noFill/>
        </p:spPr>
        <p:txBody>
          <a:bodyPr wrap="square" lIns="0" rIns="0" tIns="0" bIns="0" anchor="t">
            <a:noAutofit/>
          </a:bodyPr>
          <a:lstStyle/>
          <a:p>
            <a:pPr algn="l"/>
            <a:r>
              <a:rPr sz="900" b="0" i="0">
                <a:solidFill>
                  <a:srgbClr val="585254"/>
                </a:solidFill>
                <a:latin typeface="Arial"/>
              </a:rPr>
              <a:t>https://learn.chatgpt.com/docs/automations.md</a:t>
            </a:r>
          </a:p>
        </p:txBody>
      </p:sp>
      <p:sp>
        <p:nvSpPr>
          <p:cNvPr id="30" name="TextBox 29"/>
          <p:cNvSpPr txBox="1"/>
          <p:nvPr/>
        </p:nvSpPr>
        <p:spPr>
          <a:xfrm>
            <a:off x="731520" y="4498848"/>
            <a:ext cx="3017520" cy="237744"/>
          </a:xfrm>
          <a:prstGeom prst="rect">
            <a:avLst/>
          </a:prstGeom>
          <a:noFill/>
        </p:spPr>
        <p:txBody>
          <a:bodyPr wrap="square" lIns="0" rIns="0" tIns="0" bIns="0" anchor="t">
            <a:noAutofit/>
          </a:bodyPr>
          <a:lstStyle/>
          <a:p>
            <a:pPr algn="l"/>
            <a:r>
              <a:rPr sz="1050" b="1" i="0">
                <a:solidFill>
                  <a:srgbClr val="251F21"/>
                </a:solidFill>
                <a:latin typeface="Arial"/>
              </a:rPr>
              <a:t>ChatGPT connectors</a:t>
            </a:r>
          </a:p>
        </p:txBody>
      </p:sp>
      <p:sp>
        <p:nvSpPr>
          <p:cNvPr id="31" name="TextBox 30"/>
          <p:cNvSpPr txBox="1"/>
          <p:nvPr/>
        </p:nvSpPr>
        <p:spPr>
          <a:xfrm>
            <a:off x="3840480" y="4507992"/>
            <a:ext cx="7619695" cy="237744"/>
          </a:xfrm>
          <a:prstGeom prst="rect">
            <a:avLst/>
          </a:prstGeom>
          <a:noFill/>
        </p:spPr>
        <p:txBody>
          <a:bodyPr wrap="square" lIns="0" rIns="0" tIns="0" bIns="0" anchor="t">
            <a:noAutofit/>
          </a:bodyPr>
          <a:lstStyle/>
          <a:p>
            <a:pPr algn="l"/>
            <a:r>
              <a:rPr sz="900" b="0" i="0">
                <a:solidFill>
                  <a:srgbClr val="585254"/>
                </a:solidFill>
                <a:latin typeface="Arial"/>
              </a:rPr>
              <a:t>https://help.openai.com/en/articles/11487775-connectors-in-chatgpt</a:t>
            </a:r>
          </a:p>
        </p:txBody>
      </p:sp>
      <p:sp>
        <p:nvSpPr>
          <p:cNvPr id="32" name="TextBox 31"/>
          <p:cNvSpPr txBox="1"/>
          <p:nvPr/>
        </p:nvSpPr>
        <p:spPr>
          <a:xfrm>
            <a:off x="731520" y="4718304"/>
            <a:ext cx="3017520" cy="237744"/>
          </a:xfrm>
          <a:prstGeom prst="rect">
            <a:avLst/>
          </a:prstGeom>
          <a:noFill/>
        </p:spPr>
        <p:txBody>
          <a:bodyPr wrap="square" lIns="0" rIns="0" tIns="0" bIns="0" anchor="t">
            <a:noAutofit/>
          </a:bodyPr>
          <a:lstStyle/>
          <a:p>
            <a:pPr algn="l"/>
            <a:r>
              <a:rPr sz="1050" b="1" i="0">
                <a:solidFill>
                  <a:srgbClr val="251F21"/>
                </a:solidFill>
                <a:latin typeface="Arial"/>
              </a:rPr>
              <a:t>Claude connector features</a:t>
            </a:r>
          </a:p>
        </p:txBody>
      </p:sp>
      <p:sp>
        <p:nvSpPr>
          <p:cNvPr id="33" name="TextBox 32"/>
          <p:cNvSpPr txBox="1"/>
          <p:nvPr/>
        </p:nvSpPr>
        <p:spPr>
          <a:xfrm>
            <a:off x="3840480" y="4727448"/>
            <a:ext cx="7619695" cy="237744"/>
          </a:xfrm>
          <a:prstGeom prst="rect">
            <a:avLst/>
          </a:prstGeom>
          <a:noFill/>
        </p:spPr>
        <p:txBody>
          <a:bodyPr wrap="square" lIns="0" rIns="0" tIns="0" bIns="0" anchor="t">
            <a:noAutofit/>
          </a:bodyPr>
          <a:lstStyle/>
          <a:p>
            <a:pPr algn="l"/>
            <a:r>
              <a:rPr sz="900" b="0" i="0">
                <a:solidFill>
                  <a:srgbClr val="585254"/>
                </a:solidFill>
                <a:latin typeface="Arial"/>
              </a:rPr>
              <a:t>https://claude.com/docs/connectors/building/index.md</a:t>
            </a:r>
          </a:p>
        </p:txBody>
      </p:sp>
      <p:sp>
        <p:nvSpPr>
          <p:cNvPr id="34" name="TextBox 33"/>
          <p:cNvSpPr txBox="1"/>
          <p:nvPr/>
        </p:nvSpPr>
        <p:spPr>
          <a:xfrm>
            <a:off x="731520" y="4937760"/>
            <a:ext cx="3017520" cy="237744"/>
          </a:xfrm>
          <a:prstGeom prst="rect">
            <a:avLst/>
          </a:prstGeom>
          <a:noFill/>
        </p:spPr>
        <p:txBody>
          <a:bodyPr wrap="square" lIns="0" rIns="0" tIns="0" bIns="0" anchor="t">
            <a:noAutofit/>
          </a:bodyPr>
          <a:lstStyle/>
          <a:p>
            <a:pPr algn="l"/>
            <a:r>
              <a:rPr sz="1050" b="1" i="0">
                <a:solidFill>
                  <a:srgbClr val="251F21"/>
                </a:solidFill>
                <a:latin typeface="Arial"/>
              </a:rPr>
              <a:t>Claude custom connectors</a:t>
            </a:r>
          </a:p>
        </p:txBody>
      </p:sp>
      <p:sp>
        <p:nvSpPr>
          <p:cNvPr id="35" name="TextBox 34"/>
          <p:cNvSpPr txBox="1"/>
          <p:nvPr/>
        </p:nvSpPr>
        <p:spPr>
          <a:xfrm>
            <a:off x="3840480" y="4946904"/>
            <a:ext cx="7619695" cy="237744"/>
          </a:xfrm>
          <a:prstGeom prst="rect">
            <a:avLst/>
          </a:prstGeom>
          <a:noFill/>
        </p:spPr>
        <p:txBody>
          <a:bodyPr wrap="square" lIns="0" rIns="0" tIns="0" bIns="0" anchor="t">
            <a:noAutofit/>
          </a:bodyPr>
          <a:lstStyle/>
          <a:p>
            <a:pPr algn="l"/>
            <a:r>
              <a:rPr sz="900" b="0" i="0">
                <a:solidFill>
                  <a:srgbClr val="585254"/>
                </a:solidFill>
                <a:latin typeface="Arial"/>
              </a:rPr>
              <a:t>https://support.claude.com/en/articles/11175166-getting-started-with-custom-connectors-using-remote-mcp</a:t>
            </a:r>
          </a:p>
        </p:txBody>
      </p:sp>
      <p:sp>
        <p:nvSpPr>
          <p:cNvPr id="36" name="TextBox 35"/>
          <p:cNvSpPr txBox="1"/>
          <p:nvPr/>
        </p:nvSpPr>
        <p:spPr>
          <a:xfrm>
            <a:off x="731520" y="5157216"/>
            <a:ext cx="3017520" cy="237744"/>
          </a:xfrm>
          <a:prstGeom prst="rect">
            <a:avLst/>
          </a:prstGeom>
          <a:noFill/>
        </p:spPr>
        <p:txBody>
          <a:bodyPr wrap="square" lIns="0" rIns="0" tIns="0" bIns="0" anchor="t">
            <a:noAutofit/>
          </a:bodyPr>
          <a:lstStyle/>
          <a:p>
            <a:pPr algn="l"/>
            <a:r>
              <a:rPr sz="1050" b="1" i="0">
                <a:solidFill>
                  <a:srgbClr val="251F21"/>
                </a:solidFill>
                <a:latin typeface="Arial"/>
              </a:rPr>
              <a:t>Claude Code MCP</a:t>
            </a:r>
          </a:p>
        </p:txBody>
      </p:sp>
      <p:sp>
        <p:nvSpPr>
          <p:cNvPr id="37" name="TextBox 36"/>
          <p:cNvSpPr txBox="1"/>
          <p:nvPr/>
        </p:nvSpPr>
        <p:spPr>
          <a:xfrm>
            <a:off x="3840480" y="5166360"/>
            <a:ext cx="7619695" cy="237744"/>
          </a:xfrm>
          <a:prstGeom prst="rect">
            <a:avLst/>
          </a:prstGeom>
          <a:noFill/>
        </p:spPr>
        <p:txBody>
          <a:bodyPr wrap="square" lIns="0" rIns="0" tIns="0" bIns="0" anchor="t">
            <a:noAutofit/>
          </a:bodyPr>
          <a:lstStyle/>
          <a:p>
            <a:pPr algn="l"/>
            <a:r>
              <a:rPr sz="900" b="0" i="0">
                <a:solidFill>
                  <a:srgbClr val="585254"/>
                </a:solidFill>
                <a:latin typeface="Arial"/>
              </a:rPr>
              <a:t>https://code.claude.com/docs/en/mcp.md</a:t>
            </a:r>
          </a:p>
        </p:txBody>
      </p:sp>
      <p:sp>
        <p:nvSpPr>
          <p:cNvPr id="38" name="TextBox 37"/>
          <p:cNvSpPr txBox="1"/>
          <p:nvPr/>
        </p:nvSpPr>
        <p:spPr>
          <a:xfrm>
            <a:off x="731520" y="5376672"/>
            <a:ext cx="3017520" cy="237744"/>
          </a:xfrm>
          <a:prstGeom prst="rect">
            <a:avLst/>
          </a:prstGeom>
          <a:noFill/>
        </p:spPr>
        <p:txBody>
          <a:bodyPr wrap="square" lIns="0" rIns="0" tIns="0" bIns="0" anchor="t">
            <a:noAutofit/>
          </a:bodyPr>
          <a:lstStyle/>
          <a:p>
            <a:pPr algn="l"/>
            <a:r>
              <a:rPr sz="1050" b="1" i="0">
                <a:solidFill>
                  <a:srgbClr val="251F21"/>
                </a:solidFill>
                <a:latin typeface="Arial"/>
              </a:rPr>
              <a:t>Claude Code channels</a:t>
            </a:r>
          </a:p>
        </p:txBody>
      </p:sp>
      <p:sp>
        <p:nvSpPr>
          <p:cNvPr id="39" name="TextBox 38"/>
          <p:cNvSpPr txBox="1"/>
          <p:nvPr/>
        </p:nvSpPr>
        <p:spPr>
          <a:xfrm>
            <a:off x="3840480" y="5385816"/>
            <a:ext cx="7619695" cy="237744"/>
          </a:xfrm>
          <a:prstGeom prst="rect">
            <a:avLst/>
          </a:prstGeom>
          <a:noFill/>
        </p:spPr>
        <p:txBody>
          <a:bodyPr wrap="square" lIns="0" rIns="0" tIns="0" bIns="0" anchor="t">
            <a:noAutofit/>
          </a:bodyPr>
          <a:lstStyle/>
          <a:p>
            <a:pPr algn="l"/>
            <a:r>
              <a:rPr sz="900" b="0" i="0">
                <a:solidFill>
                  <a:srgbClr val="585254"/>
                </a:solidFill>
                <a:latin typeface="Arial"/>
              </a:rPr>
              <a:t>https://code.claude.com/docs/en/channels.md</a:t>
            </a:r>
          </a:p>
        </p:txBody>
      </p:sp>
      <p:sp>
        <p:nvSpPr>
          <p:cNvPr id="40" name="TextBox 39"/>
          <p:cNvSpPr txBox="1"/>
          <p:nvPr/>
        </p:nvSpPr>
        <p:spPr>
          <a:xfrm>
            <a:off x="731520" y="5596128"/>
            <a:ext cx="3017520" cy="237744"/>
          </a:xfrm>
          <a:prstGeom prst="rect">
            <a:avLst/>
          </a:prstGeom>
          <a:noFill/>
        </p:spPr>
        <p:txBody>
          <a:bodyPr wrap="square" lIns="0" rIns="0" tIns="0" bIns="0" anchor="t">
            <a:noAutofit/>
          </a:bodyPr>
          <a:lstStyle/>
          <a:p>
            <a:pPr algn="l"/>
            <a:r>
              <a:rPr sz="1050" b="1" i="0">
                <a:solidFill>
                  <a:srgbClr val="251F21"/>
                </a:solidFill>
                <a:latin typeface="Arial"/>
              </a:rPr>
              <a:t>Claude Code scheduled tasks</a:t>
            </a:r>
          </a:p>
        </p:txBody>
      </p:sp>
      <p:sp>
        <p:nvSpPr>
          <p:cNvPr id="41" name="TextBox 40"/>
          <p:cNvSpPr txBox="1"/>
          <p:nvPr/>
        </p:nvSpPr>
        <p:spPr>
          <a:xfrm>
            <a:off x="3840480" y="5605272"/>
            <a:ext cx="7619695" cy="237744"/>
          </a:xfrm>
          <a:prstGeom prst="rect">
            <a:avLst/>
          </a:prstGeom>
          <a:noFill/>
        </p:spPr>
        <p:txBody>
          <a:bodyPr wrap="square" lIns="0" rIns="0" tIns="0" bIns="0" anchor="t">
            <a:noAutofit/>
          </a:bodyPr>
          <a:lstStyle/>
          <a:p>
            <a:pPr algn="l"/>
            <a:r>
              <a:rPr sz="900" b="0" i="0">
                <a:solidFill>
                  <a:srgbClr val="585254"/>
                </a:solidFill>
                <a:latin typeface="Arial"/>
              </a:rPr>
              <a:t>https://code.claude.com/docs/en/scheduled-tasks.md</a:t>
            </a:r>
          </a:p>
        </p:txBody>
      </p:sp>
      <p:sp>
        <p:nvSpPr>
          <p:cNvPr id="42" name="TextBox 41"/>
          <p:cNvSpPr txBox="1"/>
          <p:nvPr/>
        </p:nvSpPr>
        <p:spPr>
          <a:xfrm>
            <a:off x="731520" y="5815584"/>
            <a:ext cx="3017520" cy="237744"/>
          </a:xfrm>
          <a:prstGeom prst="rect">
            <a:avLst/>
          </a:prstGeom>
          <a:noFill/>
        </p:spPr>
        <p:txBody>
          <a:bodyPr wrap="square" lIns="0" rIns="0" tIns="0" bIns="0" anchor="t">
            <a:noAutofit/>
          </a:bodyPr>
          <a:lstStyle/>
          <a:p>
            <a:pPr algn="l"/>
            <a:r>
              <a:rPr sz="1050" b="1" i="0">
                <a:solidFill>
                  <a:srgbClr val="251F21"/>
                </a:solidFill>
                <a:latin typeface="Arial"/>
              </a:rPr>
              <a:t>Gemini custom apps, writes</a:t>
            </a:r>
          </a:p>
        </p:txBody>
      </p:sp>
      <p:sp>
        <p:nvSpPr>
          <p:cNvPr id="43" name="TextBox 42"/>
          <p:cNvSpPr txBox="1"/>
          <p:nvPr/>
        </p:nvSpPr>
        <p:spPr>
          <a:xfrm>
            <a:off x="3840480" y="5824728"/>
            <a:ext cx="7619695" cy="237744"/>
          </a:xfrm>
          <a:prstGeom prst="rect">
            <a:avLst/>
          </a:prstGeom>
          <a:noFill/>
        </p:spPr>
        <p:txBody>
          <a:bodyPr wrap="square" lIns="0" rIns="0" tIns="0" bIns="0" anchor="t">
            <a:noAutofit/>
          </a:bodyPr>
          <a:lstStyle/>
          <a:p>
            <a:pPr algn="l"/>
            <a:r>
              <a:rPr sz="900" b="0" i="0">
                <a:solidFill>
                  <a:srgbClr val="585254"/>
                </a:solidFill>
                <a:latin typeface="Arial"/>
              </a:rPr>
              <a:t>https://support.google.com/gemini/answer/17209137?hl=en</a:t>
            </a:r>
          </a:p>
        </p:txBody>
      </p:sp>
      <p:cxnSp>
        <p:nvCxnSpPr>
          <p:cNvPr id="44" name="Connector 43"/>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45"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46"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Sources (2 of 4)</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A11</a:t>
            </a:r>
          </a:p>
        </p:txBody>
      </p:sp>
      <p:sp>
        <p:nvSpPr>
          <p:cNvPr id="4" name="TextBox 3"/>
          <p:cNvSpPr txBox="1"/>
          <p:nvPr/>
        </p:nvSpPr>
        <p:spPr>
          <a:xfrm>
            <a:off x="731520" y="1645920"/>
            <a:ext cx="3017520" cy="237744"/>
          </a:xfrm>
          <a:prstGeom prst="rect">
            <a:avLst/>
          </a:prstGeom>
          <a:noFill/>
        </p:spPr>
        <p:txBody>
          <a:bodyPr wrap="square" lIns="0" rIns="0" tIns="0" bIns="0" anchor="t">
            <a:noAutofit/>
          </a:bodyPr>
          <a:lstStyle/>
          <a:p>
            <a:pPr algn="l"/>
            <a:r>
              <a:rPr sz="1050" b="1" i="0">
                <a:solidFill>
                  <a:srgbClr val="251F21"/>
                </a:solidFill>
                <a:latin typeface="Arial"/>
              </a:rPr>
              <a:t>Gemini Task rename</a:t>
            </a:r>
          </a:p>
        </p:txBody>
      </p:sp>
      <p:sp>
        <p:nvSpPr>
          <p:cNvPr id="5" name="TextBox 4"/>
          <p:cNvSpPr txBox="1"/>
          <p:nvPr/>
        </p:nvSpPr>
        <p:spPr>
          <a:xfrm>
            <a:off x="3840480" y="1655064"/>
            <a:ext cx="7619695" cy="237744"/>
          </a:xfrm>
          <a:prstGeom prst="rect">
            <a:avLst/>
          </a:prstGeom>
          <a:noFill/>
        </p:spPr>
        <p:txBody>
          <a:bodyPr wrap="square" lIns="0" rIns="0" tIns="0" bIns="0" anchor="t">
            <a:noAutofit/>
          </a:bodyPr>
          <a:lstStyle/>
          <a:p>
            <a:pPr algn="l"/>
            <a:r>
              <a:rPr sz="900" b="0" i="0">
                <a:solidFill>
                  <a:srgbClr val="585254"/>
                </a:solidFill>
                <a:latin typeface="Arial"/>
              </a:rPr>
              <a:t>https://support.google.com/gemini/answer/17094507?hl=en</a:t>
            </a:r>
          </a:p>
        </p:txBody>
      </p:sp>
      <p:sp>
        <p:nvSpPr>
          <p:cNvPr id="6" name="TextBox 5"/>
          <p:cNvSpPr txBox="1"/>
          <p:nvPr/>
        </p:nvSpPr>
        <p:spPr>
          <a:xfrm>
            <a:off x="731520" y="1865376"/>
            <a:ext cx="3017520" cy="237744"/>
          </a:xfrm>
          <a:prstGeom prst="rect">
            <a:avLst/>
          </a:prstGeom>
          <a:noFill/>
        </p:spPr>
        <p:txBody>
          <a:bodyPr wrap="square" lIns="0" rIns="0" tIns="0" bIns="0" anchor="t">
            <a:noAutofit/>
          </a:bodyPr>
          <a:lstStyle/>
          <a:p>
            <a:pPr algn="l"/>
            <a:r>
              <a:rPr sz="1050" b="1" i="0">
                <a:solidFill>
                  <a:srgbClr val="251F21"/>
                </a:solidFill>
                <a:latin typeface="Arial"/>
              </a:rPr>
              <a:t>Menlo Ventures consumer AI 2026</a:t>
            </a:r>
          </a:p>
        </p:txBody>
      </p:sp>
      <p:sp>
        <p:nvSpPr>
          <p:cNvPr id="7" name="TextBox 6"/>
          <p:cNvSpPr txBox="1"/>
          <p:nvPr/>
        </p:nvSpPr>
        <p:spPr>
          <a:xfrm>
            <a:off x="3840480" y="1874520"/>
            <a:ext cx="7619695" cy="237744"/>
          </a:xfrm>
          <a:prstGeom prst="rect">
            <a:avLst/>
          </a:prstGeom>
          <a:noFill/>
        </p:spPr>
        <p:txBody>
          <a:bodyPr wrap="square" lIns="0" rIns="0" tIns="0" bIns="0" anchor="t">
            <a:noAutofit/>
          </a:bodyPr>
          <a:lstStyle/>
          <a:p>
            <a:pPr algn="l"/>
            <a:r>
              <a:rPr sz="900" b="0" i="0">
                <a:solidFill>
                  <a:srgbClr val="585254"/>
                </a:solidFill>
                <a:latin typeface="Arial"/>
              </a:rPr>
              <a:t>https://menlovc.com/wp-content/uploads/2026/09/menlo_ventures_consumer_ai_report-2026.pdf</a:t>
            </a:r>
          </a:p>
        </p:txBody>
      </p:sp>
      <p:sp>
        <p:nvSpPr>
          <p:cNvPr id="8" name="TextBox 7"/>
          <p:cNvSpPr txBox="1"/>
          <p:nvPr/>
        </p:nvSpPr>
        <p:spPr>
          <a:xfrm>
            <a:off x="731520" y="2084832"/>
            <a:ext cx="3017520" cy="237744"/>
          </a:xfrm>
          <a:prstGeom prst="rect">
            <a:avLst/>
          </a:prstGeom>
          <a:noFill/>
        </p:spPr>
        <p:txBody>
          <a:bodyPr wrap="square" lIns="0" rIns="0" tIns="0" bIns="0" anchor="t">
            <a:noAutofit/>
          </a:bodyPr>
          <a:lstStyle/>
          <a:p>
            <a:pPr algn="l"/>
            <a:r>
              <a:rPr sz="1050" b="1" i="0">
                <a:solidFill>
                  <a:srgbClr val="251F21"/>
                </a:solidFill>
                <a:latin typeface="Arial"/>
              </a:rPr>
              <a:t>Cursor automations</a:t>
            </a:r>
          </a:p>
        </p:txBody>
      </p:sp>
      <p:sp>
        <p:nvSpPr>
          <p:cNvPr id="9" name="TextBox 8"/>
          <p:cNvSpPr txBox="1"/>
          <p:nvPr/>
        </p:nvSpPr>
        <p:spPr>
          <a:xfrm>
            <a:off x="3840480" y="2093976"/>
            <a:ext cx="7619695" cy="237744"/>
          </a:xfrm>
          <a:prstGeom prst="rect">
            <a:avLst/>
          </a:prstGeom>
          <a:noFill/>
        </p:spPr>
        <p:txBody>
          <a:bodyPr wrap="square" lIns="0" rIns="0" tIns="0" bIns="0" anchor="t">
            <a:noAutofit/>
          </a:bodyPr>
          <a:lstStyle/>
          <a:p>
            <a:pPr algn="l"/>
            <a:r>
              <a:rPr sz="900" b="0" i="0">
                <a:solidFill>
                  <a:srgbClr val="585254"/>
                </a:solidFill>
                <a:latin typeface="Arial"/>
              </a:rPr>
              <a:t>https://cursor.com/docs/cloud-agent/automations.md</a:t>
            </a:r>
          </a:p>
        </p:txBody>
      </p:sp>
      <p:sp>
        <p:nvSpPr>
          <p:cNvPr id="10" name="TextBox 9"/>
          <p:cNvSpPr txBox="1"/>
          <p:nvPr/>
        </p:nvSpPr>
        <p:spPr>
          <a:xfrm>
            <a:off x="731520" y="2304288"/>
            <a:ext cx="3017520" cy="237744"/>
          </a:xfrm>
          <a:prstGeom prst="rect">
            <a:avLst/>
          </a:prstGeom>
          <a:noFill/>
        </p:spPr>
        <p:txBody>
          <a:bodyPr wrap="square" lIns="0" rIns="0" tIns="0" bIns="0" anchor="t">
            <a:noAutofit/>
          </a:bodyPr>
          <a:lstStyle/>
          <a:p>
            <a:pPr algn="l"/>
            <a:r>
              <a:rPr sz="1050" b="1" i="0">
                <a:solidFill>
                  <a:srgbClr val="251F21"/>
                </a:solidFill>
                <a:latin typeface="Arial"/>
              </a:rPr>
              <a:t>Poke API</a:t>
            </a:r>
          </a:p>
        </p:txBody>
      </p:sp>
      <p:sp>
        <p:nvSpPr>
          <p:cNvPr id="11" name="TextBox 10"/>
          <p:cNvSpPr txBox="1"/>
          <p:nvPr/>
        </p:nvSpPr>
        <p:spPr>
          <a:xfrm>
            <a:off x="3840480" y="2313432"/>
            <a:ext cx="7619695" cy="237744"/>
          </a:xfrm>
          <a:prstGeom prst="rect">
            <a:avLst/>
          </a:prstGeom>
          <a:noFill/>
        </p:spPr>
        <p:txBody>
          <a:bodyPr wrap="square" lIns="0" rIns="0" tIns="0" bIns="0" anchor="t">
            <a:noAutofit/>
          </a:bodyPr>
          <a:lstStyle/>
          <a:p>
            <a:pPr algn="l"/>
            <a:r>
              <a:rPr sz="900" b="0" i="0">
                <a:solidFill>
                  <a:srgbClr val="585254"/>
                </a:solidFill>
                <a:latin typeface="Arial"/>
              </a:rPr>
              <a:t>https://poke.com/docs/api</a:t>
            </a:r>
          </a:p>
        </p:txBody>
      </p:sp>
      <p:sp>
        <p:nvSpPr>
          <p:cNvPr id="12" name="TextBox 11"/>
          <p:cNvSpPr txBox="1"/>
          <p:nvPr/>
        </p:nvSpPr>
        <p:spPr>
          <a:xfrm>
            <a:off x="731520" y="2523744"/>
            <a:ext cx="3017520" cy="237744"/>
          </a:xfrm>
          <a:prstGeom prst="rect">
            <a:avLst/>
          </a:prstGeom>
          <a:noFill/>
        </p:spPr>
        <p:txBody>
          <a:bodyPr wrap="square" lIns="0" rIns="0" tIns="0" bIns="0" anchor="t">
            <a:noAutofit/>
          </a:bodyPr>
          <a:lstStyle/>
          <a:p>
            <a:pPr algn="l"/>
            <a:r>
              <a:rPr sz="1050" b="1" i="0">
                <a:solidFill>
                  <a:srgbClr val="251F21"/>
                </a:solidFill>
                <a:latin typeface="Arial"/>
              </a:rPr>
              <a:t>OpenAI dots</a:t>
            </a:r>
          </a:p>
        </p:txBody>
      </p:sp>
      <p:sp>
        <p:nvSpPr>
          <p:cNvPr id="13" name="TextBox 12"/>
          <p:cNvSpPr txBox="1"/>
          <p:nvPr/>
        </p:nvSpPr>
        <p:spPr>
          <a:xfrm>
            <a:off x="3840480" y="2532888"/>
            <a:ext cx="7619695" cy="237744"/>
          </a:xfrm>
          <a:prstGeom prst="rect">
            <a:avLst/>
          </a:prstGeom>
          <a:noFill/>
        </p:spPr>
        <p:txBody>
          <a:bodyPr wrap="square" lIns="0" rIns="0" tIns="0" bIns="0" anchor="t">
            <a:noAutofit/>
          </a:bodyPr>
          <a:lstStyle/>
          <a:p>
            <a:pPr algn="l"/>
            <a:r>
              <a:rPr sz="900" b="0" i="0">
                <a:solidFill>
                  <a:srgbClr val="585254"/>
                </a:solidFill>
                <a:latin typeface="Arial"/>
              </a:rPr>
              <a:t>https://openai.com/index/introducing-dots/</a:t>
            </a:r>
          </a:p>
        </p:txBody>
      </p:sp>
      <p:sp>
        <p:nvSpPr>
          <p:cNvPr id="14" name="TextBox 13"/>
          <p:cNvSpPr txBox="1"/>
          <p:nvPr/>
        </p:nvSpPr>
        <p:spPr>
          <a:xfrm>
            <a:off x="731520" y="2743200"/>
            <a:ext cx="3017520" cy="237744"/>
          </a:xfrm>
          <a:prstGeom prst="rect">
            <a:avLst/>
          </a:prstGeom>
          <a:noFill/>
        </p:spPr>
        <p:txBody>
          <a:bodyPr wrap="square" lIns="0" rIns="0" tIns="0" bIns="0" anchor="t">
            <a:noAutofit/>
          </a:bodyPr>
          <a:lstStyle/>
          <a:p>
            <a:pPr algn="l"/>
            <a:r>
              <a:rPr sz="1050" b="1" i="0">
                <a:solidFill>
                  <a:srgbClr val="251F21"/>
                </a:solidFill>
                <a:latin typeface="Arial"/>
              </a:rPr>
              <a:t>Meta Muse announcement</a:t>
            </a:r>
          </a:p>
        </p:txBody>
      </p:sp>
      <p:sp>
        <p:nvSpPr>
          <p:cNvPr id="15" name="TextBox 14"/>
          <p:cNvSpPr txBox="1"/>
          <p:nvPr/>
        </p:nvSpPr>
        <p:spPr>
          <a:xfrm>
            <a:off x="3840480" y="2752344"/>
            <a:ext cx="7619695" cy="237744"/>
          </a:xfrm>
          <a:prstGeom prst="rect">
            <a:avLst/>
          </a:prstGeom>
          <a:noFill/>
        </p:spPr>
        <p:txBody>
          <a:bodyPr wrap="square" lIns="0" rIns="0" tIns="0" bIns="0" anchor="t">
            <a:noAutofit/>
          </a:bodyPr>
          <a:lstStyle/>
          <a:p>
            <a:pPr algn="l"/>
            <a:r>
              <a:rPr sz="900" b="0" i="0">
                <a:solidFill>
                  <a:srgbClr val="585254"/>
                </a:solidFill>
                <a:latin typeface="Arial"/>
              </a:rPr>
              <a:t>https://about.fb.com/news/2026/09/introducing-muse-personal-ai-agent/</a:t>
            </a:r>
          </a:p>
        </p:txBody>
      </p:sp>
      <p:sp>
        <p:nvSpPr>
          <p:cNvPr id="16" name="TextBox 15"/>
          <p:cNvSpPr txBox="1"/>
          <p:nvPr/>
        </p:nvSpPr>
        <p:spPr>
          <a:xfrm>
            <a:off x="731520" y="2962656"/>
            <a:ext cx="3017520" cy="237744"/>
          </a:xfrm>
          <a:prstGeom prst="rect">
            <a:avLst/>
          </a:prstGeom>
          <a:noFill/>
        </p:spPr>
        <p:txBody>
          <a:bodyPr wrap="square" lIns="0" rIns="0" tIns="0" bIns="0" anchor="t">
            <a:noAutofit/>
          </a:bodyPr>
          <a:lstStyle/>
          <a:p>
            <a:pPr algn="l"/>
            <a:r>
              <a:rPr sz="1050" b="1" i="0">
                <a:solidFill>
                  <a:srgbClr val="251F21"/>
                </a:solidFill>
                <a:latin typeface="Arial"/>
              </a:rPr>
              <a:t>Muse connector platform</a:t>
            </a:r>
          </a:p>
        </p:txBody>
      </p:sp>
      <p:sp>
        <p:nvSpPr>
          <p:cNvPr id="17" name="TextBox 16"/>
          <p:cNvSpPr txBox="1"/>
          <p:nvPr/>
        </p:nvSpPr>
        <p:spPr>
          <a:xfrm>
            <a:off x="3840480" y="2971800"/>
            <a:ext cx="7619695" cy="237744"/>
          </a:xfrm>
          <a:prstGeom prst="rect">
            <a:avLst/>
          </a:prstGeom>
          <a:noFill/>
        </p:spPr>
        <p:txBody>
          <a:bodyPr wrap="square" lIns="0" rIns="0" tIns="0" bIns="0" anchor="t">
            <a:noAutofit/>
          </a:bodyPr>
          <a:lstStyle/>
          <a:p>
            <a:pPr algn="l"/>
            <a:r>
              <a:rPr sz="900" b="0" i="0">
                <a:solidFill>
                  <a:srgbClr val="585254"/>
                </a:solidFill>
                <a:latin typeface="Arial"/>
              </a:rPr>
              <a:t>https://muse.ai/platform/docs</a:t>
            </a:r>
          </a:p>
        </p:txBody>
      </p:sp>
      <p:sp>
        <p:nvSpPr>
          <p:cNvPr id="18" name="TextBox 17"/>
          <p:cNvSpPr txBox="1"/>
          <p:nvPr/>
        </p:nvSpPr>
        <p:spPr>
          <a:xfrm>
            <a:off x="731520" y="3182112"/>
            <a:ext cx="3017520" cy="237744"/>
          </a:xfrm>
          <a:prstGeom prst="rect">
            <a:avLst/>
          </a:prstGeom>
          <a:noFill/>
        </p:spPr>
        <p:txBody>
          <a:bodyPr wrap="square" lIns="0" rIns="0" tIns="0" bIns="0" anchor="t">
            <a:noAutofit/>
          </a:bodyPr>
          <a:lstStyle/>
          <a:p>
            <a:pPr algn="l"/>
            <a:r>
              <a:rPr sz="1050" b="1" i="0">
                <a:solidFill>
                  <a:srgbClr val="251F21"/>
                </a:solidFill>
                <a:latin typeface="Arial"/>
              </a:rPr>
              <a:t>WhatsApp AI providers policy</a:t>
            </a:r>
          </a:p>
        </p:txBody>
      </p:sp>
      <p:sp>
        <p:nvSpPr>
          <p:cNvPr id="19" name="TextBox 18"/>
          <p:cNvSpPr txBox="1"/>
          <p:nvPr/>
        </p:nvSpPr>
        <p:spPr>
          <a:xfrm>
            <a:off x="3840480" y="3191256"/>
            <a:ext cx="7619695" cy="237744"/>
          </a:xfrm>
          <a:prstGeom prst="rect">
            <a:avLst/>
          </a:prstGeom>
          <a:noFill/>
        </p:spPr>
        <p:txBody>
          <a:bodyPr wrap="square" lIns="0" rIns="0" tIns="0" bIns="0" anchor="t">
            <a:noAutofit/>
          </a:bodyPr>
          <a:lstStyle/>
          <a:p>
            <a:pPr algn="l"/>
            <a:r>
              <a:rPr sz="900" b="0" i="0">
                <a:solidFill>
                  <a:srgbClr val="585254"/>
                </a:solidFill>
                <a:latin typeface="Arial"/>
              </a:rPr>
              <a:t>https://developers.facebook.com/documentation/business-messaging/whatsapp/pricing/ai-providers.md</a:t>
            </a:r>
          </a:p>
        </p:txBody>
      </p:sp>
      <p:sp>
        <p:nvSpPr>
          <p:cNvPr id="20" name="TextBox 19"/>
          <p:cNvSpPr txBox="1"/>
          <p:nvPr/>
        </p:nvSpPr>
        <p:spPr>
          <a:xfrm>
            <a:off x="731520" y="3401568"/>
            <a:ext cx="3017520" cy="237744"/>
          </a:xfrm>
          <a:prstGeom prst="rect">
            <a:avLst/>
          </a:prstGeom>
          <a:noFill/>
        </p:spPr>
        <p:txBody>
          <a:bodyPr wrap="square" lIns="0" rIns="0" tIns="0" bIns="0" anchor="t">
            <a:noAutofit/>
          </a:bodyPr>
          <a:lstStyle/>
          <a:p>
            <a:pPr algn="l"/>
            <a:r>
              <a:rPr sz="1050" b="1" i="0">
                <a:solidFill>
                  <a:srgbClr val="251F21"/>
                </a:solidFill>
                <a:latin typeface="Arial"/>
              </a:rPr>
              <a:t>WhatsApp terms change (TechCrunch)</a:t>
            </a:r>
          </a:p>
        </p:txBody>
      </p:sp>
      <p:sp>
        <p:nvSpPr>
          <p:cNvPr id="21" name="TextBox 20"/>
          <p:cNvSpPr txBox="1"/>
          <p:nvPr/>
        </p:nvSpPr>
        <p:spPr>
          <a:xfrm>
            <a:off x="3840480" y="3410712"/>
            <a:ext cx="7619695" cy="237744"/>
          </a:xfrm>
          <a:prstGeom prst="rect">
            <a:avLst/>
          </a:prstGeom>
          <a:noFill/>
        </p:spPr>
        <p:txBody>
          <a:bodyPr wrap="square" lIns="0" rIns="0" tIns="0" bIns="0" anchor="t">
            <a:noAutofit/>
          </a:bodyPr>
          <a:lstStyle/>
          <a:p>
            <a:pPr algn="l"/>
            <a:r>
              <a:rPr sz="900" b="0" i="0">
                <a:solidFill>
                  <a:srgbClr val="585254"/>
                </a:solidFill>
                <a:latin typeface="Arial"/>
              </a:rPr>
              <a:t>https://techcrunch.com/2025/10/18/whatssapp-changes-its-terms-to-bar-general-purpose-chatbots-from-its-platform/</a:t>
            </a:r>
          </a:p>
        </p:txBody>
      </p:sp>
      <p:sp>
        <p:nvSpPr>
          <p:cNvPr id="22" name="TextBox 21"/>
          <p:cNvSpPr txBox="1"/>
          <p:nvPr/>
        </p:nvSpPr>
        <p:spPr>
          <a:xfrm>
            <a:off x="731520" y="3621024"/>
            <a:ext cx="3017520" cy="237744"/>
          </a:xfrm>
          <a:prstGeom prst="rect">
            <a:avLst/>
          </a:prstGeom>
          <a:noFill/>
        </p:spPr>
        <p:txBody>
          <a:bodyPr wrap="square" lIns="0" rIns="0" tIns="0" bIns="0" anchor="t">
            <a:noAutofit/>
          </a:bodyPr>
          <a:lstStyle/>
          <a:p>
            <a:pPr algn="l"/>
            <a:r>
              <a:rPr sz="1050" b="1" i="0">
                <a:solidFill>
                  <a:srgbClr val="251F21"/>
                </a:solidFill>
                <a:latin typeface="Arial"/>
              </a:rPr>
              <a:t>Apple Messages for Business FAQ</a:t>
            </a:r>
          </a:p>
        </p:txBody>
      </p:sp>
      <p:sp>
        <p:nvSpPr>
          <p:cNvPr id="23" name="TextBox 22"/>
          <p:cNvSpPr txBox="1"/>
          <p:nvPr/>
        </p:nvSpPr>
        <p:spPr>
          <a:xfrm>
            <a:off x="3840480" y="3630168"/>
            <a:ext cx="7619695" cy="237744"/>
          </a:xfrm>
          <a:prstGeom prst="rect">
            <a:avLst/>
          </a:prstGeom>
          <a:noFill/>
        </p:spPr>
        <p:txBody>
          <a:bodyPr wrap="square" lIns="0" rIns="0" tIns="0" bIns="0" anchor="t">
            <a:noAutofit/>
          </a:bodyPr>
          <a:lstStyle/>
          <a:p>
            <a:pPr algn="l"/>
            <a:r>
              <a:rPr sz="900" b="0" i="0">
                <a:solidFill>
                  <a:srgbClr val="585254"/>
                </a:solidFill>
                <a:latin typeface="Arial"/>
              </a:rPr>
              <a:t>https://register.apple.com/resources/messages/messaging-documentation/faq</a:t>
            </a:r>
          </a:p>
        </p:txBody>
      </p:sp>
      <p:sp>
        <p:nvSpPr>
          <p:cNvPr id="24" name="TextBox 23"/>
          <p:cNvSpPr txBox="1"/>
          <p:nvPr/>
        </p:nvSpPr>
        <p:spPr>
          <a:xfrm>
            <a:off x="731520" y="3840480"/>
            <a:ext cx="3017520" cy="237744"/>
          </a:xfrm>
          <a:prstGeom prst="rect">
            <a:avLst/>
          </a:prstGeom>
          <a:noFill/>
        </p:spPr>
        <p:txBody>
          <a:bodyPr wrap="square" lIns="0" rIns="0" tIns="0" bIns="0" anchor="t">
            <a:noAutofit/>
          </a:bodyPr>
          <a:lstStyle/>
          <a:p>
            <a:pPr algn="l"/>
            <a:r>
              <a:rPr sz="1050" b="1" i="0">
                <a:solidFill>
                  <a:srgbClr val="251F21"/>
                </a:solidFill>
                <a:latin typeface="Arial"/>
              </a:rPr>
              <a:t>Poke on Apple Messages (TechCrunch)</a:t>
            </a:r>
          </a:p>
        </p:txBody>
      </p:sp>
      <p:sp>
        <p:nvSpPr>
          <p:cNvPr id="25" name="TextBox 24"/>
          <p:cNvSpPr txBox="1"/>
          <p:nvPr/>
        </p:nvSpPr>
        <p:spPr>
          <a:xfrm>
            <a:off x="3840480" y="3849624"/>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https://www.techcrunch.com/2026/06/04/apple-approves-poke-as-the-first-ai-agent-on-its-messages-for-business-platform/</a:t>
            </a:r>
          </a:p>
        </p:txBody>
      </p:sp>
      <p:sp>
        <p:nvSpPr>
          <p:cNvPr id="26" name="TextBox 25"/>
          <p:cNvSpPr txBox="1"/>
          <p:nvPr/>
        </p:nvSpPr>
        <p:spPr>
          <a:xfrm>
            <a:off x="731520" y="4059936"/>
            <a:ext cx="3017520" cy="237744"/>
          </a:xfrm>
          <a:prstGeom prst="rect">
            <a:avLst/>
          </a:prstGeom>
          <a:noFill/>
        </p:spPr>
        <p:txBody>
          <a:bodyPr wrap="square" lIns="0" rIns="0" tIns="0" bIns="0" anchor="t">
            <a:noAutofit/>
          </a:bodyPr>
          <a:lstStyle/>
          <a:p>
            <a:pPr algn="l"/>
            <a:r>
              <a:rPr sz="1050" b="1" i="0">
                <a:solidFill>
                  <a:srgbClr val="251F21"/>
                </a:solidFill>
                <a:latin typeface="Arial"/>
              </a:rPr>
              <a:t>Instinct funding (SiliconANGLE)</a:t>
            </a:r>
          </a:p>
        </p:txBody>
      </p:sp>
      <p:sp>
        <p:nvSpPr>
          <p:cNvPr id="27" name="TextBox 26"/>
          <p:cNvSpPr txBox="1"/>
          <p:nvPr/>
        </p:nvSpPr>
        <p:spPr>
          <a:xfrm>
            <a:off x="3840480" y="4069080"/>
            <a:ext cx="7619695" cy="237744"/>
          </a:xfrm>
          <a:prstGeom prst="rect">
            <a:avLst/>
          </a:prstGeom>
          <a:noFill/>
        </p:spPr>
        <p:txBody>
          <a:bodyPr wrap="square" lIns="0" rIns="0" tIns="0" bIns="0" anchor="t">
            <a:noAutofit/>
          </a:bodyPr>
          <a:lstStyle/>
          <a:p>
            <a:pPr algn="l"/>
            <a:r>
              <a:rPr sz="900" b="0" i="0">
                <a:solidFill>
                  <a:srgbClr val="585254"/>
                </a:solidFill>
                <a:latin typeface="Arial"/>
              </a:rPr>
              <a:t>https://siliconangle.com/2026/09/28/everyday-personal-ai-assistant-startup-instinct-raises-1b-at-10b-valuation/</a:t>
            </a:r>
          </a:p>
        </p:txBody>
      </p:sp>
      <p:sp>
        <p:nvSpPr>
          <p:cNvPr id="28" name="TextBox 27"/>
          <p:cNvSpPr txBox="1"/>
          <p:nvPr/>
        </p:nvSpPr>
        <p:spPr>
          <a:xfrm>
            <a:off x="731520" y="4279392"/>
            <a:ext cx="3017520" cy="237744"/>
          </a:xfrm>
          <a:prstGeom prst="rect">
            <a:avLst/>
          </a:prstGeom>
          <a:noFill/>
        </p:spPr>
        <p:txBody>
          <a:bodyPr wrap="square" lIns="0" rIns="0" tIns="0" bIns="0" anchor="t">
            <a:noAutofit/>
          </a:bodyPr>
          <a:lstStyle/>
          <a:p>
            <a:pPr algn="l"/>
            <a:r>
              <a:rPr sz="1050" b="1" i="0">
                <a:solidFill>
                  <a:srgbClr val="251F21"/>
                </a:solidFill>
                <a:latin typeface="Arial"/>
              </a:rPr>
              <a:t>Instinct recommendations (TechCrunch)</a:t>
            </a:r>
          </a:p>
        </p:txBody>
      </p:sp>
      <p:sp>
        <p:nvSpPr>
          <p:cNvPr id="29" name="TextBox 28"/>
          <p:cNvSpPr txBox="1"/>
          <p:nvPr/>
        </p:nvSpPr>
        <p:spPr>
          <a:xfrm>
            <a:off x="3840480" y="4288536"/>
            <a:ext cx="7619695" cy="237744"/>
          </a:xfrm>
          <a:prstGeom prst="rect">
            <a:avLst/>
          </a:prstGeom>
          <a:noFill/>
        </p:spPr>
        <p:txBody>
          <a:bodyPr wrap="square" lIns="0" rIns="0" tIns="0" bIns="0" anchor="t">
            <a:noAutofit/>
          </a:bodyPr>
          <a:lstStyle/>
          <a:p>
            <a:pPr algn="l"/>
            <a:r>
              <a:rPr sz="900" b="0" i="0">
                <a:solidFill>
                  <a:srgbClr val="585254"/>
                </a:solidFill>
                <a:latin typeface="Arial"/>
              </a:rPr>
              <a:t>https://techcrunch.com/2026/09/30/instincts-new-product-recommendations-are-giving-some-users-the-ick/</a:t>
            </a:r>
          </a:p>
        </p:txBody>
      </p:sp>
      <p:sp>
        <p:nvSpPr>
          <p:cNvPr id="30" name="TextBox 29"/>
          <p:cNvSpPr txBox="1"/>
          <p:nvPr/>
        </p:nvSpPr>
        <p:spPr>
          <a:xfrm>
            <a:off x="731520" y="4498848"/>
            <a:ext cx="3017520" cy="237744"/>
          </a:xfrm>
          <a:prstGeom prst="rect">
            <a:avLst/>
          </a:prstGeom>
          <a:noFill/>
        </p:spPr>
        <p:txBody>
          <a:bodyPr wrap="square" lIns="0" rIns="0" tIns="0" bIns="0" anchor="t">
            <a:noAutofit/>
          </a:bodyPr>
          <a:lstStyle/>
          <a:p>
            <a:pPr algn="l"/>
            <a:r>
              <a:rPr sz="1050" b="1" i="0">
                <a:solidFill>
                  <a:srgbClr val="251F21"/>
                </a:solidFill>
                <a:latin typeface="Arial"/>
              </a:rPr>
              <a:t>Claude Code auto mode (97% approvals)</a:t>
            </a:r>
          </a:p>
        </p:txBody>
      </p:sp>
      <p:sp>
        <p:nvSpPr>
          <p:cNvPr id="31" name="TextBox 30"/>
          <p:cNvSpPr txBox="1"/>
          <p:nvPr/>
        </p:nvSpPr>
        <p:spPr>
          <a:xfrm>
            <a:off x="3840480" y="4507992"/>
            <a:ext cx="7619695" cy="237744"/>
          </a:xfrm>
          <a:prstGeom prst="rect">
            <a:avLst/>
          </a:prstGeom>
          <a:noFill/>
        </p:spPr>
        <p:txBody>
          <a:bodyPr wrap="square" lIns="0" rIns="0" tIns="0" bIns="0" anchor="t">
            <a:noAutofit/>
          </a:bodyPr>
          <a:lstStyle/>
          <a:p>
            <a:pPr algn="l"/>
            <a:r>
              <a:rPr sz="900" b="0" i="0">
                <a:solidFill>
                  <a:srgbClr val="585254"/>
                </a:solidFill>
                <a:latin typeface="Arial"/>
              </a:rPr>
              <a:t>https://claude.com/blog/auto-mode-default-in-claude-code</a:t>
            </a:r>
          </a:p>
        </p:txBody>
      </p:sp>
      <p:sp>
        <p:nvSpPr>
          <p:cNvPr id="32" name="TextBox 31"/>
          <p:cNvSpPr txBox="1"/>
          <p:nvPr/>
        </p:nvSpPr>
        <p:spPr>
          <a:xfrm>
            <a:off x="731520" y="4718304"/>
            <a:ext cx="3017520" cy="237744"/>
          </a:xfrm>
          <a:prstGeom prst="rect">
            <a:avLst/>
          </a:prstGeom>
          <a:noFill/>
        </p:spPr>
        <p:txBody>
          <a:bodyPr wrap="square" lIns="0" rIns="0" tIns="0" bIns="0" anchor="t">
            <a:noAutofit/>
          </a:bodyPr>
          <a:lstStyle/>
          <a:p>
            <a:pPr algn="l"/>
            <a:r>
              <a:rPr sz="1050" b="1" i="0">
                <a:solidFill>
                  <a:srgbClr val="251F21"/>
                </a:solidFill>
                <a:latin typeface="Arial"/>
              </a:rPr>
              <a:t>Proactive assistant study</a:t>
            </a:r>
          </a:p>
        </p:txBody>
      </p:sp>
      <p:sp>
        <p:nvSpPr>
          <p:cNvPr id="33" name="TextBox 32"/>
          <p:cNvSpPr txBox="1"/>
          <p:nvPr/>
        </p:nvSpPr>
        <p:spPr>
          <a:xfrm>
            <a:off x="3840480" y="4727448"/>
            <a:ext cx="7619695" cy="237744"/>
          </a:xfrm>
          <a:prstGeom prst="rect">
            <a:avLst/>
          </a:prstGeom>
          <a:noFill/>
        </p:spPr>
        <p:txBody>
          <a:bodyPr wrap="square" lIns="0" rIns="0" tIns="0" bIns="0" anchor="t">
            <a:noAutofit/>
          </a:bodyPr>
          <a:lstStyle/>
          <a:p>
            <a:pPr algn="l"/>
            <a:r>
              <a:rPr sz="900" b="0" i="0">
                <a:solidFill>
                  <a:srgbClr val="585254"/>
                </a:solidFill>
                <a:latin typeface="Arial"/>
              </a:rPr>
              <a:t>https://arxiv.org/html/2410.04596v2</a:t>
            </a:r>
          </a:p>
        </p:txBody>
      </p:sp>
      <p:sp>
        <p:nvSpPr>
          <p:cNvPr id="34" name="TextBox 33"/>
          <p:cNvSpPr txBox="1"/>
          <p:nvPr/>
        </p:nvSpPr>
        <p:spPr>
          <a:xfrm>
            <a:off x="731520" y="4937760"/>
            <a:ext cx="3017520" cy="237744"/>
          </a:xfrm>
          <a:prstGeom prst="rect">
            <a:avLst/>
          </a:prstGeom>
          <a:noFill/>
        </p:spPr>
        <p:txBody>
          <a:bodyPr wrap="square" lIns="0" rIns="0" tIns="0" bIns="0" anchor="t">
            <a:noAutofit/>
          </a:bodyPr>
          <a:lstStyle/>
          <a:p>
            <a:pPr algn="l"/>
            <a:r>
              <a:rPr sz="1050" b="1" i="0">
                <a:solidFill>
                  <a:srgbClr val="251F21"/>
                </a:solidFill>
                <a:latin typeface="Arial"/>
              </a:rPr>
              <a:t>BLS median unemployment duration</a:t>
            </a:r>
          </a:p>
        </p:txBody>
      </p:sp>
      <p:sp>
        <p:nvSpPr>
          <p:cNvPr id="35" name="TextBox 34"/>
          <p:cNvSpPr txBox="1"/>
          <p:nvPr/>
        </p:nvSpPr>
        <p:spPr>
          <a:xfrm>
            <a:off x="3840480" y="4946904"/>
            <a:ext cx="7619695" cy="237744"/>
          </a:xfrm>
          <a:prstGeom prst="rect">
            <a:avLst/>
          </a:prstGeom>
          <a:noFill/>
        </p:spPr>
        <p:txBody>
          <a:bodyPr wrap="square" lIns="0" rIns="0" tIns="0" bIns="0" anchor="t">
            <a:noAutofit/>
          </a:bodyPr>
          <a:lstStyle/>
          <a:p>
            <a:pPr algn="l"/>
            <a:r>
              <a:rPr sz="900" b="0" i="0">
                <a:solidFill>
                  <a:srgbClr val="585254"/>
                </a:solidFill>
                <a:latin typeface="Arial"/>
              </a:rPr>
              <a:t>https://api.bls.gov/publicAPI/v2/timeseries/data/LNS13008276</a:t>
            </a:r>
          </a:p>
        </p:txBody>
      </p:sp>
      <p:sp>
        <p:nvSpPr>
          <p:cNvPr id="36" name="TextBox 35"/>
          <p:cNvSpPr txBox="1"/>
          <p:nvPr/>
        </p:nvSpPr>
        <p:spPr>
          <a:xfrm>
            <a:off x="731520" y="5157216"/>
            <a:ext cx="3017520" cy="237744"/>
          </a:xfrm>
          <a:prstGeom prst="rect">
            <a:avLst/>
          </a:prstGeom>
          <a:noFill/>
        </p:spPr>
        <p:txBody>
          <a:bodyPr wrap="square" lIns="0" rIns="0" tIns="0" bIns="0" anchor="t">
            <a:noAutofit/>
          </a:bodyPr>
          <a:lstStyle/>
          <a:p>
            <a:pPr algn="l"/>
            <a:r>
              <a:rPr sz="1050" b="1" i="0">
                <a:solidFill>
                  <a:srgbClr val="251F21"/>
                </a:solidFill>
                <a:latin typeface="Arial"/>
              </a:rPr>
              <a:t>Pew chatbot use</a:t>
            </a:r>
          </a:p>
        </p:txBody>
      </p:sp>
      <p:sp>
        <p:nvSpPr>
          <p:cNvPr id="37" name="TextBox 36"/>
          <p:cNvSpPr txBox="1"/>
          <p:nvPr/>
        </p:nvSpPr>
        <p:spPr>
          <a:xfrm>
            <a:off x="3840480" y="5166360"/>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https://www.pewresearch.org/chart/chatgpt-tops-the-list-of-chatbots-americans-use-across-age-groups/</a:t>
            </a:r>
          </a:p>
        </p:txBody>
      </p:sp>
      <p:sp>
        <p:nvSpPr>
          <p:cNvPr id="38" name="TextBox 37"/>
          <p:cNvSpPr txBox="1"/>
          <p:nvPr/>
        </p:nvSpPr>
        <p:spPr>
          <a:xfrm>
            <a:off x="731520" y="5376672"/>
            <a:ext cx="3017520" cy="237744"/>
          </a:xfrm>
          <a:prstGeom prst="rect">
            <a:avLst/>
          </a:prstGeom>
          <a:noFill/>
        </p:spPr>
        <p:txBody>
          <a:bodyPr wrap="square" lIns="0" rIns="0" tIns="0" bIns="0" anchor="t">
            <a:noAutofit/>
          </a:bodyPr>
          <a:lstStyle/>
          <a:p>
            <a:pPr algn="l"/>
            <a:r>
              <a:rPr sz="1050" b="1" i="0">
                <a:solidFill>
                  <a:srgbClr val="251F21"/>
                </a:solidFill>
                <a:latin typeface="Arial"/>
              </a:rPr>
              <a:t>Fonzi</a:t>
            </a:r>
          </a:p>
        </p:txBody>
      </p:sp>
      <p:sp>
        <p:nvSpPr>
          <p:cNvPr id="39" name="TextBox 38"/>
          <p:cNvSpPr txBox="1"/>
          <p:nvPr/>
        </p:nvSpPr>
        <p:spPr>
          <a:xfrm>
            <a:off x="3840480" y="5385816"/>
            <a:ext cx="7619695" cy="237744"/>
          </a:xfrm>
          <a:prstGeom prst="rect">
            <a:avLst/>
          </a:prstGeom>
          <a:noFill/>
        </p:spPr>
        <p:txBody>
          <a:bodyPr wrap="square" lIns="0" rIns="0" tIns="0" bIns="0" anchor="t">
            <a:noAutofit/>
          </a:bodyPr>
          <a:lstStyle/>
          <a:p>
            <a:pPr algn="l"/>
            <a:r>
              <a:rPr sz="900" b="0" i="0">
                <a:solidFill>
                  <a:srgbClr val="585254"/>
                </a:solidFill>
                <a:latin typeface="Arial"/>
              </a:rPr>
              <a:t>https://talent.fonzi.ai/</a:t>
            </a:r>
          </a:p>
        </p:txBody>
      </p:sp>
      <p:sp>
        <p:nvSpPr>
          <p:cNvPr id="40" name="TextBox 39"/>
          <p:cNvSpPr txBox="1"/>
          <p:nvPr/>
        </p:nvSpPr>
        <p:spPr>
          <a:xfrm>
            <a:off x="731520" y="5596128"/>
            <a:ext cx="3017520" cy="237744"/>
          </a:xfrm>
          <a:prstGeom prst="rect">
            <a:avLst/>
          </a:prstGeom>
          <a:noFill/>
        </p:spPr>
        <p:txBody>
          <a:bodyPr wrap="square" lIns="0" rIns="0" tIns="0" bIns="0" anchor="t">
            <a:noAutofit/>
          </a:bodyPr>
          <a:lstStyle/>
          <a:p>
            <a:pPr algn="l"/>
            <a:r>
              <a:rPr sz="1050" b="1" i="0">
                <a:solidFill>
                  <a:srgbClr val="251F21"/>
                </a:solidFill>
                <a:latin typeface="Arial"/>
              </a:rPr>
              <a:t>AI Applyd MCPs</a:t>
            </a:r>
          </a:p>
        </p:txBody>
      </p:sp>
      <p:sp>
        <p:nvSpPr>
          <p:cNvPr id="41" name="TextBox 40"/>
          <p:cNvSpPr txBox="1"/>
          <p:nvPr/>
        </p:nvSpPr>
        <p:spPr>
          <a:xfrm>
            <a:off x="3840480" y="5605272"/>
            <a:ext cx="7619695" cy="237744"/>
          </a:xfrm>
          <a:prstGeom prst="rect">
            <a:avLst/>
          </a:prstGeom>
          <a:noFill/>
        </p:spPr>
        <p:txBody>
          <a:bodyPr wrap="square" lIns="0" rIns="0" tIns="0" bIns="0" anchor="t">
            <a:noAutofit/>
          </a:bodyPr>
          <a:lstStyle/>
          <a:p>
            <a:pPr algn="l"/>
            <a:r>
              <a:rPr sz="900" b="0" i="0">
                <a:solidFill>
                  <a:srgbClr val="585254"/>
                </a:solidFill>
                <a:latin typeface="Arial"/>
              </a:rPr>
              <a:t>https://aiapplyd.com/mcps</a:t>
            </a:r>
          </a:p>
        </p:txBody>
      </p:sp>
      <p:sp>
        <p:nvSpPr>
          <p:cNvPr id="42" name="TextBox 41"/>
          <p:cNvSpPr txBox="1"/>
          <p:nvPr/>
        </p:nvSpPr>
        <p:spPr>
          <a:xfrm>
            <a:off x="731520" y="5815584"/>
            <a:ext cx="3017520" cy="237744"/>
          </a:xfrm>
          <a:prstGeom prst="rect">
            <a:avLst/>
          </a:prstGeom>
          <a:noFill/>
        </p:spPr>
        <p:txBody>
          <a:bodyPr wrap="square" lIns="0" rIns="0" tIns="0" bIns="0" anchor="t">
            <a:noAutofit/>
          </a:bodyPr>
          <a:lstStyle/>
          <a:p>
            <a:pPr algn="l"/>
            <a:r>
              <a:rPr sz="1050" b="1" i="0">
                <a:solidFill>
                  <a:srgbClr val="251F21"/>
                </a:solidFill>
                <a:latin typeface="Arial"/>
              </a:rPr>
              <a:t>Indeed connector for Claude</a:t>
            </a:r>
          </a:p>
        </p:txBody>
      </p:sp>
      <p:sp>
        <p:nvSpPr>
          <p:cNvPr id="43" name="TextBox 42"/>
          <p:cNvSpPr txBox="1"/>
          <p:nvPr/>
        </p:nvSpPr>
        <p:spPr>
          <a:xfrm>
            <a:off x="3840480" y="5824728"/>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https://www.claude.com/connectors/indeed</a:t>
            </a:r>
          </a:p>
        </p:txBody>
      </p:sp>
      <p:cxnSp>
        <p:nvCxnSpPr>
          <p:cNvPr id="44" name="Connector 43"/>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45"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46"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Sources (3 of 4)</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A12</a:t>
            </a:r>
          </a:p>
        </p:txBody>
      </p:sp>
      <p:sp>
        <p:nvSpPr>
          <p:cNvPr id="4" name="TextBox 3"/>
          <p:cNvSpPr txBox="1"/>
          <p:nvPr/>
        </p:nvSpPr>
        <p:spPr>
          <a:xfrm>
            <a:off x="731520" y="1645920"/>
            <a:ext cx="3017520" cy="237744"/>
          </a:xfrm>
          <a:prstGeom prst="rect">
            <a:avLst/>
          </a:prstGeom>
          <a:noFill/>
        </p:spPr>
        <p:txBody>
          <a:bodyPr wrap="square" lIns="0" rIns="0" tIns="0" bIns="0" anchor="t">
            <a:noAutofit/>
          </a:bodyPr>
          <a:lstStyle/>
          <a:p>
            <a:pPr algn="l"/>
            <a:r>
              <a:rPr sz="1050" b="1" i="0">
                <a:solidFill>
                  <a:srgbClr val="251F21"/>
                </a:solidFill>
                <a:latin typeface="Arial"/>
              </a:rPr>
              <a:t>Sprout and Sorce ratings (App Store)</a:t>
            </a:r>
          </a:p>
        </p:txBody>
      </p:sp>
      <p:sp>
        <p:nvSpPr>
          <p:cNvPr id="5" name="TextBox 4"/>
          <p:cNvSpPr txBox="1"/>
          <p:nvPr/>
        </p:nvSpPr>
        <p:spPr>
          <a:xfrm>
            <a:off x="3840480" y="1655064"/>
            <a:ext cx="7619695" cy="237744"/>
          </a:xfrm>
          <a:prstGeom prst="rect">
            <a:avLst/>
          </a:prstGeom>
          <a:noFill/>
        </p:spPr>
        <p:txBody>
          <a:bodyPr wrap="square" lIns="0" rIns="0" tIns="0" bIns="0" anchor="t">
            <a:noAutofit/>
          </a:bodyPr>
          <a:lstStyle/>
          <a:p>
            <a:pPr algn="l"/>
            <a:r>
              <a:rPr sz="900" b="0" i="0">
                <a:solidFill>
                  <a:srgbClr val="585254"/>
                </a:solidFill>
                <a:latin typeface="Arial"/>
              </a:rPr>
              <a:t>https://itunes.apple.com/lookup?id=6740011494</a:t>
            </a:r>
          </a:p>
        </p:txBody>
      </p:sp>
      <p:sp>
        <p:nvSpPr>
          <p:cNvPr id="6" name="TextBox 5"/>
          <p:cNvSpPr txBox="1"/>
          <p:nvPr/>
        </p:nvSpPr>
        <p:spPr>
          <a:xfrm>
            <a:off x="731520" y="1865376"/>
            <a:ext cx="3017520" cy="237744"/>
          </a:xfrm>
          <a:prstGeom prst="rect">
            <a:avLst/>
          </a:prstGeom>
          <a:noFill/>
        </p:spPr>
        <p:txBody>
          <a:bodyPr wrap="square" lIns="0" rIns="0" tIns="0" bIns="0" anchor="t">
            <a:noAutofit/>
          </a:bodyPr>
          <a:lstStyle/>
          <a:p>
            <a:pPr algn="l"/>
            <a:r>
              <a:rPr sz="1050" b="1" i="0">
                <a:solidFill>
                  <a:srgbClr val="251F21"/>
                </a:solidFill>
                <a:latin typeface="Arial"/>
              </a:rPr>
              <a:t>Uber Q2 2025 remarks</a:t>
            </a:r>
          </a:p>
        </p:txBody>
      </p:sp>
      <p:sp>
        <p:nvSpPr>
          <p:cNvPr id="7" name="TextBox 6"/>
          <p:cNvSpPr txBox="1"/>
          <p:nvPr/>
        </p:nvSpPr>
        <p:spPr>
          <a:xfrm>
            <a:off x="3840480" y="1874520"/>
            <a:ext cx="7619695" cy="237744"/>
          </a:xfrm>
          <a:prstGeom prst="rect">
            <a:avLst/>
          </a:prstGeom>
          <a:noFill/>
        </p:spPr>
        <p:txBody>
          <a:bodyPr wrap="square" lIns="0" rIns="0" tIns="0" bIns="0" anchor="t">
            <a:noAutofit/>
          </a:bodyPr>
          <a:lstStyle/>
          <a:p>
            <a:pPr algn="l"/>
            <a:r>
              <a:rPr sz="900" b="0" i="0">
                <a:solidFill>
                  <a:srgbClr val="585254"/>
                </a:solidFill>
                <a:latin typeface="Arial"/>
              </a:rPr>
              <a:t>https://s23.q4cdn.com/407969754/files/doc_earnings/2025/q2/transcript/Uber-Q2-25-Prepared-Remarks.pdf</a:t>
            </a:r>
          </a:p>
        </p:txBody>
      </p:sp>
      <p:sp>
        <p:nvSpPr>
          <p:cNvPr id="8" name="TextBox 7"/>
          <p:cNvSpPr txBox="1"/>
          <p:nvPr/>
        </p:nvSpPr>
        <p:spPr>
          <a:xfrm>
            <a:off x="731520" y="2084832"/>
            <a:ext cx="3017520" cy="237744"/>
          </a:xfrm>
          <a:prstGeom prst="rect">
            <a:avLst/>
          </a:prstGeom>
          <a:noFill/>
        </p:spPr>
        <p:txBody>
          <a:bodyPr wrap="square" lIns="0" rIns="0" tIns="0" bIns="0" anchor="t">
            <a:noAutofit/>
          </a:bodyPr>
          <a:lstStyle/>
          <a:p>
            <a:pPr algn="l"/>
            <a:r>
              <a:rPr sz="1050" b="1" i="0">
                <a:solidFill>
                  <a:srgbClr val="251F21"/>
                </a:solidFill>
                <a:latin typeface="Arial"/>
              </a:rPr>
              <a:t>Grab 2025 results</a:t>
            </a:r>
          </a:p>
        </p:txBody>
      </p:sp>
      <p:sp>
        <p:nvSpPr>
          <p:cNvPr id="9" name="TextBox 8"/>
          <p:cNvSpPr txBox="1"/>
          <p:nvPr/>
        </p:nvSpPr>
        <p:spPr>
          <a:xfrm>
            <a:off x="3840480" y="2093976"/>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https://www.grab.com/sg/press/others/grab-reports-fourth-quarter-and-2025-results-with-first-full-year-net-profit/</a:t>
            </a:r>
          </a:p>
        </p:txBody>
      </p:sp>
      <p:sp>
        <p:nvSpPr>
          <p:cNvPr id="10" name="TextBox 9"/>
          <p:cNvSpPr txBox="1"/>
          <p:nvPr/>
        </p:nvSpPr>
        <p:spPr>
          <a:xfrm>
            <a:off x="731520" y="2304288"/>
            <a:ext cx="3017520" cy="237744"/>
          </a:xfrm>
          <a:prstGeom prst="rect">
            <a:avLst/>
          </a:prstGeom>
          <a:noFill/>
        </p:spPr>
        <p:txBody>
          <a:bodyPr wrap="square" lIns="0" rIns="0" tIns="0" bIns="0" anchor="t">
            <a:noAutofit/>
          </a:bodyPr>
          <a:lstStyle/>
          <a:p>
            <a:pPr algn="l"/>
            <a:r>
              <a:rPr sz="1050" b="1" i="0">
                <a:solidFill>
                  <a:srgbClr val="251F21"/>
                </a:solidFill>
                <a:latin typeface="Arial"/>
              </a:rPr>
              <a:t>Duolingo Q3 2025 letter (SEC)</a:t>
            </a:r>
          </a:p>
        </p:txBody>
      </p:sp>
      <p:sp>
        <p:nvSpPr>
          <p:cNvPr id="11" name="TextBox 10"/>
          <p:cNvSpPr txBox="1"/>
          <p:nvPr/>
        </p:nvSpPr>
        <p:spPr>
          <a:xfrm>
            <a:off x="3840480" y="2313432"/>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https://www.sec.gov/Archives/edgar/data/1562088/000162828025049514/q3fy25duolingo9-30x25share.htm</a:t>
            </a:r>
          </a:p>
        </p:txBody>
      </p:sp>
      <p:sp>
        <p:nvSpPr>
          <p:cNvPr id="12" name="TextBox 11"/>
          <p:cNvSpPr txBox="1"/>
          <p:nvPr/>
        </p:nvSpPr>
        <p:spPr>
          <a:xfrm>
            <a:off x="731520" y="2523744"/>
            <a:ext cx="3017520" cy="237744"/>
          </a:xfrm>
          <a:prstGeom prst="rect">
            <a:avLst/>
          </a:prstGeom>
          <a:noFill/>
        </p:spPr>
        <p:txBody>
          <a:bodyPr wrap="square" lIns="0" rIns="0" tIns="0" bIns="0" anchor="t">
            <a:noAutofit/>
          </a:bodyPr>
          <a:lstStyle/>
          <a:p>
            <a:pPr algn="l"/>
            <a:r>
              <a:rPr sz="1050" b="1" i="0">
                <a:solidFill>
                  <a:srgbClr val="251F21"/>
                </a:solidFill>
                <a:latin typeface="Arial"/>
              </a:rPr>
              <a:t>LinkedIn buys Lynda.com (Fortune)</a:t>
            </a:r>
          </a:p>
        </p:txBody>
      </p:sp>
      <p:sp>
        <p:nvSpPr>
          <p:cNvPr id="13" name="TextBox 12"/>
          <p:cNvSpPr txBox="1"/>
          <p:nvPr/>
        </p:nvSpPr>
        <p:spPr>
          <a:xfrm>
            <a:off x="3840480" y="2532888"/>
            <a:ext cx="7619695" cy="237744"/>
          </a:xfrm>
          <a:prstGeom prst="rect">
            <a:avLst/>
          </a:prstGeom>
          <a:noFill/>
        </p:spPr>
        <p:txBody>
          <a:bodyPr wrap="square" lIns="0" rIns="0" tIns="0" bIns="0" anchor="t">
            <a:noAutofit/>
          </a:bodyPr>
          <a:lstStyle/>
          <a:p>
            <a:pPr algn="l"/>
            <a:r>
              <a:rPr sz="900" b="0" i="0">
                <a:solidFill>
                  <a:srgbClr val="585254"/>
                </a:solidFill>
                <a:latin typeface="Arial"/>
              </a:rPr>
              <a:t>https://fortune.com/2015/04/09/linkedin-lynda-learning/</a:t>
            </a:r>
          </a:p>
        </p:txBody>
      </p:sp>
      <p:sp>
        <p:nvSpPr>
          <p:cNvPr id="14" name="TextBox 13"/>
          <p:cNvSpPr txBox="1"/>
          <p:nvPr/>
        </p:nvSpPr>
        <p:spPr>
          <a:xfrm>
            <a:off x="731520" y="2743200"/>
            <a:ext cx="3017520" cy="237744"/>
          </a:xfrm>
          <a:prstGeom prst="rect">
            <a:avLst/>
          </a:prstGeom>
          <a:noFill/>
        </p:spPr>
        <p:txBody>
          <a:bodyPr wrap="square" lIns="0" rIns="0" tIns="0" bIns="0" anchor="t">
            <a:noAutofit/>
          </a:bodyPr>
          <a:lstStyle/>
          <a:p>
            <a:pPr algn="l"/>
            <a:r>
              <a:rPr sz="1050" b="1" i="0">
                <a:solidFill>
                  <a:srgbClr val="251F21"/>
                </a:solidFill>
                <a:latin typeface="Arial"/>
              </a:rPr>
              <a:t>Facebook M shutdown (TechCrunch)</a:t>
            </a:r>
          </a:p>
        </p:txBody>
      </p:sp>
      <p:sp>
        <p:nvSpPr>
          <p:cNvPr id="15" name="TextBox 14"/>
          <p:cNvSpPr txBox="1"/>
          <p:nvPr/>
        </p:nvSpPr>
        <p:spPr>
          <a:xfrm>
            <a:off x="3840480" y="2752344"/>
            <a:ext cx="7619695" cy="237744"/>
          </a:xfrm>
          <a:prstGeom prst="rect">
            <a:avLst/>
          </a:prstGeom>
          <a:noFill/>
        </p:spPr>
        <p:txBody>
          <a:bodyPr wrap="square" lIns="0" rIns="0" tIns="0" bIns="0" anchor="t">
            <a:noAutofit/>
          </a:bodyPr>
          <a:lstStyle/>
          <a:p>
            <a:pPr algn="l"/>
            <a:r>
              <a:rPr sz="900" b="0" i="0">
                <a:solidFill>
                  <a:srgbClr val="585254"/>
                </a:solidFill>
                <a:latin typeface="Arial"/>
              </a:rPr>
              <a:t>https://techcrunch.com/2018/01/08/facebook-is-shutting-down-its-standalone-personal-assistant-m/</a:t>
            </a:r>
          </a:p>
        </p:txBody>
      </p:sp>
      <p:sp>
        <p:nvSpPr>
          <p:cNvPr id="16" name="TextBox 15"/>
          <p:cNvSpPr txBox="1"/>
          <p:nvPr/>
        </p:nvSpPr>
        <p:spPr>
          <a:xfrm>
            <a:off x="731520" y="2962656"/>
            <a:ext cx="3017520" cy="237744"/>
          </a:xfrm>
          <a:prstGeom prst="rect">
            <a:avLst/>
          </a:prstGeom>
          <a:noFill/>
        </p:spPr>
        <p:txBody>
          <a:bodyPr wrap="square" lIns="0" rIns="0" tIns="0" bIns="0" anchor="t">
            <a:noAutofit/>
          </a:bodyPr>
          <a:lstStyle/>
          <a:p>
            <a:pPr algn="l"/>
            <a:r>
              <a:rPr sz="1050" b="1" i="0">
                <a:solidFill>
                  <a:srgbClr val="251F21"/>
                </a:solidFill>
                <a:latin typeface="Arial"/>
              </a:rPr>
              <a:t>Fin pivot (TechCrunch)</a:t>
            </a:r>
          </a:p>
        </p:txBody>
      </p:sp>
      <p:sp>
        <p:nvSpPr>
          <p:cNvPr id="17" name="TextBox 16"/>
          <p:cNvSpPr txBox="1"/>
          <p:nvPr/>
        </p:nvSpPr>
        <p:spPr>
          <a:xfrm>
            <a:off x="3840480" y="2971800"/>
            <a:ext cx="7619695" cy="237744"/>
          </a:xfrm>
          <a:prstGeom prst="rect">
            <a:avLst/>
          </a:prstGeom>
          <a:noFill/>
        </p:spPr>
        <p:txBody>
          <a:bodyPr wrap="square" lIns="0" rIns="0" tIns="0" bIns="0" anchor="t">
            <a:noAutofit/>
          </a:bodyPr>
          <a:lstStyle/>
          <a:p>
            <a:pPr algn="l"/>
            <a:r>
              <a:rPr sz="900" b="0" i="0">
                <a:solidFill>
                  <a:srgbClr val="585254"/>
                </a:solidFill>
                <a:latin typeface="Arial"/>
              </a:rPr>
              <a:t>https://techcrunch.com/2019/07/02/sam-lessin-and-andrew-kortina-on-their-voice-assistants-workplace-pivot</a:t>
            </a:r>
          </a:p>
        </p:txBody>
      </p:sp>
      <p:sp>
        <p:nvSpPr>
          <p:cNvPr id="18" name="TextBox 17"/>
          <p:cNvSpPr txBox="1"/>
          <p:nvPr/>
        </p:nvSpPr>
        <p:spPr>
          <a:xfrm>
            <a:off x="731520" y="3182112"/>
            <a:ext cx="3017520" cy="237744"/>
          </a:xfrm>
          <a:prstGeom prst="rect">
            <a:avLst/>
          </a:prstGeom>
          <a:noFill/>
        </p:spPr>
        <p:txBody>
          <a:bodyPr wrap="square" lIns="0" rIns="0" tIns="0" bIns="0" anchor="t">
            <a:noAutofit/>
          </a:bodyPr>
          <a:lstStyle/>
          <a:p>
            <a:pPr algn="l"/>
            <a:r>
              <a:rPr sz="1050" b="1" i="0">
                <a:solidFill>
                  <a:srgbClr val="251F21"/>
                </a:solidFill>
                <a:latin typeface="Arial"/>
              </a:rPr>
              <a:t>GoButler pivot (TechCrunch)</a:t>
            </a:r>
          </a:p>
        </p:txBody>
      </p:sp>
      <p:sp>
        <p:nvSpPr>
          <p:cNvPr id="19" name="TextBox 18"/>
          <p:cNvSpPr txBox="1"/>
          <p:nvPr/>
        </p:nvSpPr>
        <p:spPr>
          <a:xfrm>
            <a:off x="3840480" y="3191256"/>
            <a:ext cx="7619695" cy="237744"/>
          </a:xfrm>
          <a:prstGeom prst="rect">
            <a:avLst/>
          </a:prstGeom>
          <a:noFill/>
        </p:spPr>
        <p:txBody>
          <a:bodyPr wrap="square" lIns="0" rIns="0" tIns="0" bIns="0" anchor="t">
            <a:noAutofit/>
          </a:bodyPr>
          <a:lstStyle/>
          <a:p>
            <a:pPr algn="l"/>
            <a:r>
              <a:rPr sz="900" b="0" i="0">
                <a:solidFill>
                  <a:srgbClr val="585254"/>
                </a:solidFill>
                <a:latin typeface="Arial"/>
              </a:rPr>
              <a:t>https://techcrunch.com/2016/03/17/a-pivot-please</a:t>
            </a:r>
          </a:p>
        </p:txBody>
      </p:sp>
      <p:sp>
        <p:nvSpPr>
          <p:cNvPr id="20" name="TextBox 19"/>
          <p:cNvSpPr txBox="1"/>
          <p:nvPr/>
        </p:nvSpPr>
        <p:spPr>
          <a:xfrm>
            <a:off x="731520" y="3401568"/>
            <a:ext cx="3017520" cy="237744"/>
          </a:xfrm>
          <a:prstGeom prst="rect">
            <a:avLst/>
          </a:prstGeom>
          <a:noFill/>
        </p:spPr>
        <p:txBody>
          <a:bodyPr wrap="square" lIns="0" rIns="0" tIns="0" bIns="0" anchor="t">
            <a:noAutofit/>
          </a:bodyPr>
          <a:lstStyle/>
          <a:p>
            <a:pPr algn="l"/>
            <a:r>
              <a:rPr sz="1050" b="1" i="0">
                <a:solidFill>
                  <a:srgbClr val="251F21"/>
                </a:solidFill>
                <a:latin typeface="Arial"/>
              </a:rPr>
              <a:t>Mezi acquired (TechCrunch)</a:t>
            </a:r>
          </a:p>
        </p:txBody>
      </p:sp>
      <p:sp>
        <p:nvSpPr>
          <p:cNvPr id="21" name="TextBox 20"/>
          <p:cNvSpPr txBox="1"/>
          <p:nvPr/>
        </p:nvSpPr>
        <p:spPr>
          <a:xfrm>
            <a:off x="3840480" y="3410712"/>
            <a:ext cx="7619695" cy="237744"/>
          </a:xfrm>
          <a:prstGeom prst="rect">
            <a:avLst/>
          </a:prstGeom>
          <a:noFill/>
        </p:spPr>
        <p:txBody>
          <a:bodyPr wrap="square" lIns="0" rIns="0" tIns="0" bIns="0" anchor="t">
            <a:noAutofit/>
          </a:bodyPr>
          <a:lstStyle/>
          <a:p>
            <a:pPr algn="l"/>
            <a:r>
              <a:rPr sz="900" b="0" i="0">
                <a:solidFill>
                  <a:srgbClr val="585254"/>
                </a:solidFill>
                <a:latin typeface="Arial"/>
              </a:rPr>
              <a:t>https://techcrunch.com/2018/01/30/virtual-travel-assistant-mezi-acquired-by-american-express/</a:t>
            </a:r>
          </a:p>
        </p:txBody>
      </p:sp>
      <p:sp>
        <p:nvSpPr>
          <p:cNvPr id="22" name="TextBox 21"/>
          <p:cNvSpPr txBox="1"/>
          <p:nvPr/>
        </p:nvSpPr>
        <p:spPr>
          <a:xfrm>
            <a:off x="731520" y="3621024"/>
            <a:ext cx="3017520" cy="237744"/>
          </a:xfrm>
          <a:prstGeom prst="rect">
            <a:avLst/>
          </a:prstGeom>
          <a:noFill/>
        </p:spPr>
        <p:txBody>
          <a:bodyPr wrap="square" lIns="0" rIns="0" tIns="0" bIns="0" anchor="t">
            <a:noAutofit/>
          </a:bodyPr>
          <a:lstStyle/>
          <a:p>
            <a:pPr algn="l"/>
            <a:r>
              <a:rPr sz="1050" b="1" i="0">
                <a:solidFill>
                  <a:srgbClr val="251F21"/>
                </a:solidFill>
                <a:latin typeface="Arial"/>
              </a:rPr>
              <a:t>Uber Q4 2025 remarks</a:t>
            </a:r>
          </a:p>
        </p:txBody>
      </p:sp>
      <p:sp>
        <p:nvSpPr>
          <p:cNvPr id="23" name="TextBox 22"/>
          <p:cNvSpPr txBox="1"/>
          <p:nvPr/>
        </p:nvSpPr>
        <p:spPr>
          <a:xfrm>
            <a:off x="3840480" y="3630168"/>
            <a:ext cx="7619695" cy="237744"/>
          </a:xfrm>
          <a:prstGeom prst="rect">
            <a:avLst/>
          </a:prstGeom>
          <a:noFill/>
        </p:spPr>
        <p:txBody>
          <a:bodyPr wrap="square" lIns="0" rIns="0" tIns="0" bIns="0" anchor="t">
            <a:noAutofit/>
          </a:bodyPr>
          <a:lstStyle/>
          <a:p>
            <a:pPr algn="l"/>
            <a:r>
              <a:rPr sz="900" b="0" i="0">
                <a:solidFill>
                  <a:srgbClr val="585254"/>
                </a:solidFill>
                <a:latin typeface="Arial"/>
              </a:rPr>
              <a:t>https://s23.q4cdn.com/407969754/files/doc_earnings/2025/q4/transcript/Uber-Q4-25-Prepared-Remarks.pdf</a:t>
            </a:r>
          </a:p>
        </p:txBody>
      </p:sp>
      <p:sp>
        <p:nvSpPr>
          <p:cNvPr id="24" name="TextBox 23"/>
          <p:cNvSpPr txBox="1"/>
          <p:nvPr/>
        </p:nvSpPr>
        <p:spPr>
          <a:xfrm>
            <a:off x="731520" y="3840480"/>
            <a:ext cx="3017520" cy="237744"/>
          </a:xfrm>
          <a:prstGeom prst="rect">
            <a:avLst/>
          </a:prstGeom>
          <a:noFill/>
        </p:spPr>
        <p:txBody>
          <a:bodyPr wrap="square" lIns="0" rIns="0" tIns="0" bIns="0" anchor="t">
            <a:noAutofit/>
          </a:bodyPr>
          <a:lstStyle/>
          <a:p>
            <a:pPr algn="l"/>
            <a:r>
              <a:rPr sz="1050" b="1" i="0">
                <a:solidFill>
                  <a:srgbClr val="251F21"/>
                </a:solidFill>
                <a:latin typeface="Arial"/>
              </a:rPr>
              <a:t>Gemini Spark 24/7 (Gemini Drops)</a:t>
            </a:r>
          </a:p>
        </p:txBody>
      </p:sp>
      <p:sp>
        <p:nvSpPr>
          <p:cNvPr id="25" name="TextBox 24"/>
          <p:cNvSpPr txBox="1"/>
          <p:nvPr/>
        </p:nvSpPr>
        <p:spPr>
          <a:xfrm>
            <a:off x="3840480" y="3849624"/>
            <a:ext cx="7619695" cy="237744"/>
          </a:xfrm>
          <a:prstGeom prst="rect">
            <a:avLst/>
          </a:prstGeom>
          <a:noFill/>
        </p:spPr>
        <p:txBody>
          <a:bodyPr wrap="square" lIns="0" rIns="0" tIns="0" bIns="0" anchor="t">
            <a:noAutofit/>
          </a:bodyPr>
          <a:lstStyle/>
          <a:p>
            <a:pPr algn="l"/>
            <a:r>
              <a:rPr sz="900" b="0" i="0">
                <a:solidFill>
                  <a:srgbClr val="585254"/>
                </a:solidFill>
                <a:latin typeface="Arial"/>
              </a:rPr>
              <a:t>https://gemini.google/gemini-drops/</a:t>
            </a:r>
          </a:p>
        </p:txBody>
      </p:sp>
      <p:sp>
        <p:nvSpPr>
          <p:cNvPr id="26" name="TextBox 25"/>
          <p:cNvSpPr txBox="1"/>
          <p:nvPr/>
        </p:nvSpPr>
        <p:spPr>
          <a:xfrm>
            <a:off x="731520" y="4059936"/>
            <a:ext cx="3017520" cy="237744"/>
          </a:xfrm>
          <a:prstGeom prst="rect">
            <a:avLst/>
          </a:prstGeom>
          <a:noFill/>
        </p:spPr>
        <p:txBody>
          <a:bodyPr wrap="square" lIns="0" rIns="0" tIns="0" bIns="0" anchor="t">
            <a:noAutofit/>
          </a:bodyPr>
          <a:lstStyle/>
          <a:p>
            <a:pPr algn="l"/>
            <a:r>
              <a:rPr sz="1050" b="1" i="0">
                <a:solidFill>
                  <a:srgbClr val="251F21"/>
                </a:solidFill>
                <a:latin typeface="Arial"/>
              </a:rPr>
              <a:t>CTIA Messaging Principles (consent records)</a:t>
            </a:r>
          </a:p>
        </p:txBody>
      </p:sp>
      <p:sp>
        <p:nvSpPr>
          <p:cNvPr id="27" name="TextBox 26"/>
          <p:cNvSpPr txBox="1"/>
          <p:nvPr/>
        </p:nvSpPr>
        <p:spPr>
          <a:xfrm>
            <a:off x="3840480" y="4069080"/>
            <a:ext cx="7619695" cy="237744"/>
          </a:xfrm>
          <a:prstGeom prst="rect">
            <a:avLst/>
          </a:prstGeom>
          <a:noFill/>
        </p:spPr>
        <p:txBody>
          <a:bodyPr wrap="square" lIns="0" rIns="0" tIns="0" bIns="0" anchor="t">
            <a:noAutofit/>
          </a:bodyPr>
          <a:lstStyle/>
          <a:p>
            <a:pPr algn="l"/>
            <a:r>
              <a:rPr sz="900" b="0" i="0">
                <a:solidFill>
                  <a:srgbClr val="585254"/>
                </a:solidFill>
                <a:latin typeface="Arial"/>
              </a:rPr>
              <a:t>https://api.ctia.org/wp-content/uploads/2023/05/230523-CTIA-Messaging-Principles-and-Best-Practices-FINAL.pdf</a:t>
            </a:r>
          </a:p>
        </p:txBody>
      </p:sp>
      <p:sp>
        <p:nvSpPr>
          <p:cNvPr id="28" name="TextBox 27"/>
          <p:cNvSpPr txBox="1"/>
          <p:nvPr/>
        </p:nvSpPr>
        <p:spPr>
          <a:xfrm>
            <a:off x="731520" y="4279392"/>
            <a:ext cx="3017520" cy="237744"/>
          </a:xfrm>
          <a:prstGeom prst="rect">
            <a:avLst/>
          </a:prstGeom>
          <a:noFill/>
        </p:spPr>
        <p:txBody>
          <a:bodyPr wrap="square" lIns="0" rIns="0" tIns="0" bIns="0" anchor="t">
            <a:noAutofit/>
          </a:bodyPr>
          <a:lstStyle/>
          <a:p>
            <a:pPr algn="l"/>
            <a:r>
              <a:rPr sz="1050" b="1" i="0">
                <a:solidFill>
                  <a:srgbClr val="251F21"/>
                </a:solidFill>
                <a:latin typeface="Arial"/>
              </a:rPr>
              <a:t>FCRA definitions, 15 U.S.C. 1681a</a:t>
            </a:r>
          </a:p>
        </p:txBody>
      </p:sp>
      <p:sp>
        <p:nvSpPr>
          <p:cNvPr id="29" name="TextBox 28"/>
          <p:cNvSpPr txBox="1"/>
          <p:nvPr/>
        </p:nvSpPr>
        <p:spPr>
          <a:xfrm>
            <a:off x="3840480" y="4288536"/>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https://www.law.cornell.edu/uscode/text/15/1681a</a:t>
            </a:r>
          </a:p>
        </p:txBody>
      </p:sp>
      <p:sp>
        <p:nvSpPr>
          <p:cNvPr id="30" name="TextBox 29"/>
          <p:cNvSpPr txBox="1"/>
          <p:nvPr/>
        </p:nvSpPr>
        <p:spPr>
          <a:xfrm>
            <a:off x="731520" y="4498848"/>
            <a:ext cx="3017520" cy="237744"/>
          </a:xfrm>
          <a:prstGeom prst="rect">
            <a:avLst/>
          </a:prstGeom>
          <a:noFill/>
        </p:spPr>
        <p:txBody>
          <a:bodyPr wrap="square" lIns="0" rIns="0" tIns="0" bIns="0" anchor="t">
            <a:noAutofit/>
          </a:bodyPr>
          <a:lstStyle/>
          <a:p>
            <a:pPr algn="l"/>
            <a:r>
              <a:rPr sz="1050" b="1" i="0">
                <a:solidFill>
                  <a:srgbClr val="251F21"/>
                </a:solidFill>
                <a:latin typeface="Arial"/>
              </a:rPr>
              <a:t>CPPA ADMT rules announcement</a:t>
            </a:r>
          </a:p>
        </p:txBody>
      </p:sp>
      <p:sp>
        <p:nvSpPr>
          <p:cNvPr id="31" name="TextBox 30"/>
          <p:cNvSpPr txBox="1"/>
          <p:nvPr/>
        </p:nvSpPr>
        <p:spPr>
          <a:xfrm>
            <a:off x="3840480" y="4507992"/>
            <a:ext cx="7619695" cy="237744"/>
          </a:xfrm>
          <a:prstGeom prst="rect">
            <a:avLst/>
          </a:prstGeom>
          <a:noFill/>
        </p:spPr>
        <p:txBody>
          <a:bodyPr wrap="square" lIns="0" rIns="0" tIns="0" bIns="0" anchor="t">
            <a:noAutofit/>
          </a:bodyPr>
          <a:lstStyle/>
          <a:p>
            <a:pPr algn="l"/>
            <a:r>
              <a:rPr sz="900" b="0" i="0">
                <a:solidFill>
                  <a:srgbClr val="585254"/>
                </a:solidFill>
                <a:latin typeface="Arial"/>
              </a:rPr>
              <a:t>https://cppa.ca.gov/announcements/2025/20250923.html</a:t>
            </a:r>
          </a:p>
        </p:txBody>
      </p:sp>
      <p:sp>
        <p:nvSpPr>
          <p:cNvPr id="32" name="TextBox 31"/>
          <p:cNvSpPr txBox="1"/>
          <p:nvPr/>
        </p:nvSpPr>
        <p:spPr>
          <a:xfrm>
            <a:off x="731520" y="4718304"/>
            <a:ext cx="3017520" cy="237744"/>
          </a:xfrm>
          <a:prstGeom prst="rect">
            <a:avLst/>
          </a:prstGeom>
          <a:noFill/>
        </p:spPr>
        <p:txBody>
          <a:bodyPr wrap="square" lIns="0" rIns="0" tIns="0" bIns="0" anchor="t">
            <a:noAutofit/>
          </a:bodyPr>
          <a:lstStyle/>
          <a:p>
            <a:pPr algn="l"/>
            <a:r>
              <a:rPr sz="1050" b="1" i="0">
                <a:solidFill>
                  <a:srgbClr val="251F21"/>
                </a:solidFill>
                <a:latin typeface="Arial"/>
              </a:rPr>
              <a:t>CPPA ADMT rule text</a:t>
            </a:r>
          </a:p>
        </p:txBody>
      </p:sp>
      <p:sp>
        <p:nvSpPr>
          <p:cNvPr id="33" name="TextBox 32"/>
          <p:cNvSpPr txBox="1"/>
          <p:nvPr/>
        </p:nvSpPr>
        <p:spPr>
          <a:xfrm>
            <a:off x="3840480" y="4727448"/>
            <a:ext cx="7619695" cy="237744"/>
          </a:xfrm>
          <a:prstGeom prst="rect">
            <a:avLst/>
          </a:prstGeom>
          <a:noFill/>
        </p:spPr>
        <p:txBody>
          <a:bodyPr wrap="square" lIns="0" rIns="0" tIns="0" bIns="0" anchor="t">
            <a:noAutofit/>
          </a:bodyPr>
          <a:lstStyle/>
          <a:p>
            <a:pPr algn="l"/>
            <a:r>
              <a:rPr sz="900" b="0" i="0">
                <a:solidFill>
                  <a:srgbClr val="585254"/>
                </a:solidFill>
                <a:latin typeface="Arial"/>
              </a:rPr>
              <a:t>https://cppa.ca.gov/regulations/pdf/ccpa_updates_cyber_risk_admt_appr_text.pdf</a:t>
            </a:r>
          </a:p>
        </p:txBody>
      </p:sp>
      <p:sp>
        <p:nvSpPr>
          <p:cNvPr id="34" name="TextBox 33"/>
          <p:cNvSpPr txBox="1"/>
          <p:nvPr/>
        </p:nvSpPr>
        <p:spPr>
          <a:xfrm>
            <a:off x="731520" y="4937760"/>
            <a:ext cx="3017520" cy="237744"/>
          </a:xfrm>
          <a:prstGeom prst="rect">
            <a:avLst/>
          </a:prstGeom>
          <a:noFill/>
        </p:spPr>
        <p:txBody>
          <a:bodyPr wrap="square" lIns="0" rIns="0" tIns="0" bIns="0" anchor="t">
            <a:noAutofit/>
          </a:bodyPr>
          <a:lstStyle/>
          <a:p>
            <a:pPr algn="l"/>
            <a:r>
              <a:rPr sz="1050" b="1" i="0">
                <a:solidFill>
                  <a:srgbClr val="251F21"/>
                </a:solidFill>
                <a:latin typeface="Arial"/>
              </a:rPr>
              <a:t>Hermes Agent SECURITY.md (e06df9c)</a:t>
            </a:r>
          </a:p>
        </p:txBody>
      </p:sp>
      <p:sp>
        <p:nvSpPr>
          <p:cNvPr id="35" name="TextBox 34"/>
          <p:cNvSpPr txBox="1"/>
          <p:nvPr/>
        </p:nvSpPr>
        <p:spPr>
          <a:xfrm>
            <a:off x="3840480" y="4946904"/>
            <a:ext cx="7619695" cy="237744"/>
          </a:xfrm>
          <a:prstGeom prst="rect">
            <a:avLst/>
          </a:prstGeom>
          <a:noFill/>
        </p:spPr>
        <p:txBody>
          <a:bodyPr wrap="square" lIns="0" rIns="0" tIns="0" bIns="0" anchor="t">
            <a:noAutofit/>
          </a:bodyPr>
          <a:lstStyle/>
          <a:p>
            <a:pPr algn="l"/>
            <a:r>
              <a:rPr sz="900" b="0" i="0">
                <a:solidFill>
                  <a:srgbClr val="585254"/>
                </a:solidFill>
                <a:latin typeface="Arial"/>
              </a:rPr>
              <a:t>https://raw.githubusercontent.com/NousResearch/hermes-agent/e06df9c2eae6901f4c88f464e0ae6e753c0428b8/SECURITY.md</a:t>
            </a:r>
          </a:p>
        </p:txBody>
      </p:sp>
      <p:sp>
        <p:nvSpPr>
          <p:cNvPr id="36" name="TextBox 35"/>
          <p:cNvSpPr txBox="1"/>
          <p:nvPr/>
        </p:nvSpPr>
        <p:spPr>
          <a:xfrm>
            <a:off x="731520" y="5157216"/>
            <a:ext cx="3017520" cy="237744"/>
          </a:xfrm>
          <a:prstGeom prst="rect">
            <a:avLst/>
          </a:prstGeom>
          <a:noFill/>
        </p:spPr>
        <p:txBody>
          <a:bodyPr wrap="square" lIns="0" rIns="0" tIns="0" bIns="0" anchor="t">
            <a:noAutofit/>
          </a:bodyPr>
          <a:lstStyle/>
          <a:p>
            <a:pPr algn="l"/>
            <a:r>
              <a:rPr sz="1050" b="1" i="0">
                <a:solidFill>
                  <a:srgbClr val="251F21"/>
                </a:solidFill>
                <a:latin typeface="Arial"/>
              </a:rPr>
              <a:t>Hermes Agent LICENSE (e06df9c)</a:t>
            </a:r>
          </a:p>
        </p:txBody>
      </p:sp>
      <p:sp>
        <p:nvSpPr>
          <p:cNvPr id="37" name="TextBox 36"/>
          <p:cNvSpPr txBox="1"/>
          <p:nvPr/>
        </p:nvSpPr>
        <p:spPr>
          <a:xfrm>
            <a:off x="3840480" y="5166360"/>
            <a:ext cx="7619695" cy="237744"/>
          </a:xfrm>
          <a:prstGeom prst="rect">
            <a:avLst/>
          </a:prstGeom>
          <a:noFill/>
        </p:spPr>
        <p:txBody>
          <a:bodyPr wrap="square" lIns="0" rIns="0" tIns="0" bIns="0" anchor="t">
            <a:noAutofit/>
          </a:bodyPr>
          <a:lstStyle/>
          <a:p>
            <a:pPr algn="l"/>
            <a:r>
              <a:rPr sz="900" b="0" i="0">
                <a:solidFill>
                  <a:srgbClr val="585254"/>
                </a:solidFill>
                <a:latin typeface="Arial"/>
              </a:rPr>
              <a:t>https://raw.githubusercontent.com/NousResearch/hermes-agent/e06df9c2eae6901f4c88f464e0ae6e753c0428b8/LICENSE</a:t>
            </a:r>
          </a:p>
        </p:txBody>
      </p:sp>
      <p:sp>
        <p:nvSpPr>
          <p:cNvPr id="38" name="TextBox 37"/>
          <p:cNvSpPr txBox="1"/>
          <p:nvPr/>
        </p:nvSpPr>
        <p:spPr>
          <a:xfrm>
            <a:off x="731520" y="5376672"/>
            <a:ext cx="3017520" cy="237744"/>
          </a:xfrm>
          <a:prstGeom prst="rect">
            <a:avLst/>
          </a:prstGeom>
          <a:noFill/>
        </p:spPr>
        <p:txBody>
          <a:bodyPr wrap="square" lIns="0" rIns="0" tIns="0" bIns="0" anchor="t">
            <a:noAutofit/>
          </a:bodyPr>
          <a:lstStyle/>
          <a:p>
            <a:pPr algn="l"/>
            <a:r>
              <a:rPr sz="1050" b="1" i="0">
                <a:solidFill>
                  <a:srgbClr val="251F21"/>
                </a:solidFill>
                <a:latin typeface="Arial"/>
              </a:rPr>
              <a:t>Hermes PRs merged Oct 6 to 13</a:t>
            </a:r>
          </a:p>
        </p:txBody>
      </p:sp>
      <p:sp>
        <p:nvSpPr>
          <p:cNvPr id="39" name="TextBox 38"/>
          <p:cNvSpPr txBox="1"/>
          <p:nvPr/>
        </p:nvSpPr>
        <p:spPr>
          <a:xfrm>
            <a:off x="3840480" y="5385816"/>
            <a:ext cx="7619695" cy="237744"/>
          </a:xfrm>
          <a:prstGeom prst="rect">
            <a:avLst/>
          </a:prstGeom>
          <a:noFill/>
        </p:spPr>
        <p:txBody>
          <a:bodyPr wrap="square" lIns="0" rIns="0" tIns="0" bIns="0" anchor="t">
            <a:noAutofit/>
          </a:bodyPr>
          <a:lstStyle/>
          <a:p>
            <a:pPr algn="l"/>
            <a:r>
              <a:rPr sz="900" b="0" i="0">
                <a:solidFill>
                  <a:srgbClr val="585254"/>
                </a:solidFill>
                <a:latin typeface="Arial"/>
              </a:rPr>
              <a:t>https://api.github.com/search/issues?q=repo:NousResearch/hermes-agent+is:pr+is:merged+merged:&gt;=2026-10-06</a:t>
            </a:r>
          </a:p>
        </p:txBody>
      </p:sp>
      <p:sp>
        <p:nvSpPr>
          <p:cNvPr id="40" name="TextBox 39"/>
          <p:cNvSpPr txBox="1"/>
          <p:nvPr/>
        </p:nvSpPr>
        <p:spPr>
          <a:xfrm>
            <a:off x="731520" y="5596128"/>
            <a:ext cx="3017520" cy="237744"/>
          </a:xfrm>
          <a:prstGeom prst="rect">
            <a:avLst/>
          </a:prstGeom>
          <a:noFill/>
        </p:spPr>
        <p:txBody>
          <a:bodyPr wrap="square" lIns="0" rIns="0" tIns="0" bIns="0" anchor="t">
            <a:noAutofit/>
          </a:bodyPr>
          <a:lstStyle/>
          <a:p>
            <a:pPr algn="l"/>
            <a:r>
              <a:rPr sz="1050" b="1" i="0">
                <a:solidFill>
                  <a:srgbClr val="251F21"/>
                </a:solidFill>
                <a:latin typeface="Arial"/>
              </a:rPr>
              <a:t>Public commercial Hermes fork</a:t>
            </a:r>
          </a:p>
        </p:txBody>
      </p:sp>
      <p:sp>
        <p:nvSpPr>
          <p:cNvPr id="41" name="TextBox 40"/>
          <p:cNvSpPr txBox="1"/>
          <p:nvPr/>
        </p:nvSpPr>
        <p:spPr>
          <a:xfrm>
            <a:off x="3840480" y="5605272"/>
            <a:ext cx="7619695" cy="237744"/>
          </a:xfrm>
          <a:prstGeom prst="rect">
            <a:avLst/>
          </a:prstGeom>
          <a:noFill/>
        </p:spPr>
        <p:txBody>
          <a:bodyPr wrap="square" lIns="0" rIns="0" tIns="0" bIns="0" anchor="t">
            <a:noAutofit/>
          </a:bodyPr>
          <a:lstStyle/>
          <a:p>
            <a:pPr algn="l"/>
            <a:r>
              <a:rPr sz="900" b="0" i="0">
                <a:solidFill>
                  <a:srgbClr val="585254"/>
                </a:solidFill>
                <a:latin typeface="Arial"/>
              </a:rPr>
              <a:t>https://api.github.com/repos/withoneai/hermes-agent</a:t>
            </a:r>
          </a:p>
        </p:txBody>
      </p:sp>
      <p:sp>
        <p:nvSpPr>
          <p:cNvPr id="42" name="TextBox 41"/>
          <p:cNvSpPr txBox="1"/>
          <p:nvPr/>
        </p:nvSpPr>
        <p:spPr>
          <a:xfrm>
            <a:off x="731520" y="5815584"/>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SECURITY.md (047b629)</a:t>
            </a:r>
          </a:p>
        </p:txBody>
      </p:sp>
      <p:sp>
        <p:nvSpPr>
          <p:cNvPr id="43" name="TextBox 42"/>
          <p:cNvSpPr txBox="1"/>
          <p:nvPr/>
        </p:nvSpPr>
        <p:spPr>
          <a:xfrm>
            <a:off x="3840480" y="5824728"/>
            <a:ext cx="7619695" cy="237744"/>
          </a:xfrm>
          <a:prstGeom prst="rect">
            <a:avLst/>
          </a:prstGeom>
          <a:noFill/>
        </p:spPr>
        <p:txBody>
          <a:bodyPr wrap="square" lIns="0" rIns="0" tIns="0" bIns="0" anchor="t">
            <a:noAutofit/>
          </a:bodyPr>
          <a:lstStyle/>
          <a:p>
            <a:pPr algn="l"/>
            <a:r>
              <a:rPr sz="900" b="0" i="0">
                <a:solidFill>
                  <a:srgbClr val="585254"/>
                </a:solidFill>
                <a:latin typeface="Arial"/>
              </a:rPr>
              <a:t>https://github.com/openclaw/openclaw/blob/047b629eb8fcbbda4f9ef4e0f834b57af005ef3d/SECURITY.md</a:t>
            </a:r>
          </a:p>
        </p:txBody>
      </p:sp>
      <p:cxnSp>
        <p:nvCxnSpPr>
          <p:cNvPr id="44" name="Connector 43"/>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45"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46"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31520" y="896112"/>
            <a:ext cx="10728655" cy="640080"/>
          </a:xfrm>
        </p:spPr>
        <p:txBody>
          <a:bodyPr wrap="square" lIns="0" rIns="0" tIns="0" bIns="0" anchor="t">
            <a:noAutofit/>
          </a:bodyPr>
          <a:lstStyle/>
          <a:p>
            <a:pPr algn="l">
              <a:lnSpc>
                <a:spcPct val="95000"/>
              </a:lnSpc>
            </a:pPr>
            <a:r>
              <a:rPr sz="3000" b="1" i="0">
                <a:solidFill>
                  <a:srgbClr val="251F21"/>
                </a:solidFill>
                <a:latin typeface="Arial"/>
              </a:rPr>
              <a:t>Sources (4 of 4)</a:t>
            </a:r>
          </a:p>
        </p:txBody>
      </p:sp>
      <p:sp>
        <p:nvSpPr>
          <p:cNvPr id="3" name="Kicker"/>
          <p:cNvSpPr txBox="1"/>
          <p:nvPr/>
        </p:nvSpPr>
        <p:spPr>
          <a:xfrm>
            <a:off x="731520" y="566928"/>
            <a:ext cx="10728655" cy="274320"/>
          </a:xfrm>
          <a:prstGeom prst="rect">
            <a:avLst/>
          </a:prstGeom>
          <a:noFill/>
        </p:spPr>
        <p:txBody>
          <a:bodyPr wrap="square" lIns="0" rIns="0" tIns="0" bIns="0" anchor="t">
            <a:noAutofit/>
          </a:bodyPr>
          <a:lstStyle/>
          <a:p>
            <a:pPr algn="l"/>
            <a:r>
              <a:rPr sz="1200" b="1" i="0" spc="120">
                <a:solidFill>
                  <a:srgbClr val="3F7668"/>
                </a:solidFill>
                <a:latin typeface="Arial"/>
              </a:rPr>
              <a:t>APPENDIX A13</a:t>
            </a:r>
          </a:p>
        </p:txBody>
      </p:sp>
      <p:sp>
        <p:nvSpPr>
          <p:cNvPr id="4" name="TextBox 3"/>
          <p:cNvSpPr txBox="1"/>
          <p:nvPr/>
        </p:nvSpPr>
        <p:spPr>
          <a:xfrm>
            <a:off x="731520" y="1645920"/>
            <a:ext cx="3017520" cy="237744"/>
          </a:xfrm>
          <a:prstGeom prst="rect">
            <a:avLst/>
          </a:prstGeom>
          <a:noFill/>
        </p:spPr>
        <p:txBody>
          <a:bodyPr wrap="square" lIns="0" rIns="0" tIns="0" bIns="0" anchor="t">
            <a:noAutofit/>
          </a:bodyPr>
          <a:lstStyle/>
          <a:p>
            <a:pPr algn="l"/>
            <a:r>
              <a:rPr sz="1050" b="1" i="0">
                <a:solidFill>
                  <a:srgbClr val="251F21"/>
                </a:solidFill>
                <a:latin typeface="Arial"/>
              </a:rPr>
              <a:t>Pydantic AI deferred tools (approvals)</a:t>
            </a:r>
          </a:p>
        </p:txBody>
      </p:sp>
      <p:sp>
        <p:nvSpPr>
          <p:cNvPr id="5" name="TextBox 4"/>
          <p:cNvSpPr txBox="1"/>
          <p:nvPr/>
        </p:nvSpPr>
        <p:spPr>
          <a:xfrm>
            <a:off x="3840480" y="1655064"/>
            <a:ext cx="7619695" cy="237744"/>
          </a:xfrm>
          <a:prstGeom prst="rect">
            <a:avLst/>
          </a:prstGeom>
          <a:noFill/>
        </p:spPr>
        <p:txBody>
          <a:bodyPr wrap="square" lIns="0" rIns="0" tIns="0" bIns="0" anchor="t">
            <a:noAutofit/>
          </a:bodyPr>
          <a:lstStyle/>
          <a:p>
            <a:pPr algn="l"/>
            <a:r>
              <a:rPr sz="900" b="0" i="0">
                <a:solidFill>
                  <a:srgbClr val="585254"/>
                </a:solidFill>
                <a:latin typeface="Arial"/>
              </a:rPr>
              <a:t>https://ai.pydantic.dev/deferred-tools/</a:t>
            </a:r>
          </a:p>
        </p:txBody>
      </p:sp>
      <p:sp>
        <p:nvSpPr>
          <p:cNvPr id="6" name="TextBox 5"/>
          <p:cNvSpPr txBox="1"/>
          <p:nvPr/>
        </p:nvSpPr>
        <p:spPr>
          <a:xfrm>
            <a:off x="731520" y="1865376"/>
            <a:ext cx="3017520" cy="237744"/>
          </a:xfrm>
          <a:prstGeom prst="rect">
            <a:avLst/>
          </a:prstGeom>
          <a:noFill/>
        </p:spPr>
        <p:txBody>
          <a:bodyPr wrap="square" lIns="0" rIns="0" tIns="0" bIns="0" anchor="t">
            <a:noAutofit/>
          </a:bodyPr>
          <a:lstStyle/>
          <a:p>
            <a:pPr algn="l"/>
            <a:r>
              <a:rPr sz="1050" b="1" i="0">
                <a:solidFill>
                  <a:srgbClr val="251F21"/>
                </a:solidFill>
                <a:latin typeface="Arial"/>
              </a:rPr>
              <a:t>Pydantic AI durable execution with DBOS</a:t>
            </a:r>
          </a:p>
        </p:txBody>
      </p:sp>
      <p:sp>
        <p:nvSpPr>
          <p:cNvPr id="7" name="TextBox 6"/>
          <p:cNvSpPr txBox="1"/>
          <p:nvPr/>
        </p:nvSpPr>
        <p:spPr>
          <a:xfrm>
            <a:off x="3840480" y="1874520"/>
            <a:ext cx="7619695" cy="237744"/>
          </a:xfrm>
          <a:prstGeom prst="rect">
            <a:avLst/>
          </a:prstGeom>
          <a:noFill/>
        </p:spPr>
        <p:txBody>
          <a:bodyPr wrap="square" lIns="0" rIns="0" tIns="0" bIns="0" anchor="t">
            <a:noAutofit/>
          </a:bodyPr>
          <a:lstStyle/>
          <a:p>
            <a:pPr algn="l"/>
            <a:r>
              <a:rPr sz="900" b="0" i="0">
                <a:solidFill>
                  <a:srgbClr val="585254"/>
                </a:solidFill>
                <a:latin typeface="Arial"/>
              </a:rPr>
              <a:t>https://ai.pydantic.dev/durable_execution/dbos/</a:t>
            </a:r>
          </a:p>
        </p:txBody>
      </p:sp>
      <p:sp>
        <p:nvSpPr>
          <p:cNvPr id="8" name="TextBox 7"/>
          <p:cNvSpPr txBox="1"/>
          <p:nvPr/>
        </p:nvSpPr>
        <p:spPr>
          <a:xfrm>
            <a:off x="731520" y="2084832"/>
            <a:ext cx="3017520" cy="237744"/>
          </a:xfrm>
          <a:prstGeom prst="rect">
            <a:avLst/>
          </a:prstGeom>
          <a:noFill/>
        </p:spPr>
        <p:txBody>
          <a:bodyPr wrap="square" lIns="0" rIns="0" tIns="0" bIns="0" anchor="t">
            <a:noAutofit/>
          </a:bodyPr>
          <a:lstStyle/>
          <a:p>
            <a:pPr algn="l"/>
            <a:r>
              <a:rPr sz="1050" b="1" i="0">
                <a:solidFill>
                  <a:srgbClr val="251F21"/>
                </a:solidFill>
                <a:latin typeface="Arial"/>
              </a:rPr>
              <a:t>Muse and OpenClaw (TechCrunch)</a:t>
            </a:r>
          </a:p>
        </p:txBody>
      </p:sp>
      <p:sp>
        <p:nvSpPr>
          <p:cNvPr id="9" name="TextBox 8"/>
          <p:cNvSpPr txBox="1"/>
          <p:nvPr/>
        </p:nvSpPr>
        <p:spPr>
          <a:xfrm>
            <a:off x="3840480" y="2093976"/>
            <a:ext cx="7619695" cy="237744"/>
          </a:xfrm>
          <a:prstGeom prst="rect">
            <a:avLst/>
          </a:prstGeom>
          <a:noFill/>
        </p:spPr>
        <p:txBody>
          <a:bodyPr wrap="square" lIns="0" rIns="0" tIns="0" bIns="0" anchor="t">
            <a:noAutofit/>
          </a:bodyPr>
          <a:lstStyle/>
          <a:p>
            <a:pPr algn="l"/>
            <a:r>
              <a:rPr sz="900" b="0" i="0">
                <a:solidFill>
                  <a:srgbClr val="585254"/>
                </a:solidFill>
                <a:latin typeface="Arial"/>
              </a:rPr>
              <a:t>https://techcrunch.com/2026/09/22/meta-admits-muses-likeness-to-openclaw-isnt-a-coincidence/</a:t>
            </a:r>
          </a:p>
        </p:txBody>
      </p:sp>
      <p:sp>
        <p:nvSpPr>
          <p:cNvPr id="10" name="TextBox 9"/>
          <p:cNvSpPr txBox="1"/>
          <p:nvPr/>
        </p:nvSpPr>
        <p:spPr>
          <a:xfrm>
            <a:off x="731520" y="2304288"/>
            <a:ext cx="3017520" cy="237744"/>
          </a:xfrm>
          <a:prstGeom prst="rect">
            <a:avLst/>
          </a:prstGeom>
          <a:noFill/>
        </p:spPr>
        <p:txBody>
          <a:bodyPr wrap="square" lIns="0" rIns="0" tIns="0" bIns="0" anchor="t">
            <a:noAutofit/>
          </a:bodyPr>
          <a:lstStyle/>
          <a:p>
            <a:pPr algn="l"/>
            <a:r>
              <a:rPr sz="1050" b="1" i="0">
                <a:solidFill>
                  <a:srgbClr val="251F21"/>
                </a:solidFill>
                <a:latin typeface="Arial"/>
              </a:rPr>
              <a:t>Claude model pricing (cost model)</a:t>
            </a:r>
          </a:p>
        </p:txBody>
      </p:sp>
      <p:sp>
        <p:nvSpPr>
          <p:cNvPr id="11" name="TextBox 10"/>
          <p:cNvSpPr txBox="1"/>
          <p:nvPr/>
        </p:nvSpPr>
        <p:spPr>
          <a:xfrm>
            <a:off x="3840480" y="2313432"/>
            <a:ext cx="7619695" cy="237744"/>
          </a:xfrm>
          <a:prstGeom prst="rect">
            <a:avLst/>
          </a:prstGeom>
          <a:noFill/>
        </p:spPr>
        <p:txBody>
          <a:bodyPr wrap="square" lIns="0" rIns="0" tIns="0" bIns="0" anchor="t">
            <a:noAutofit/>
          </a:bodyPr>
          <a:lstStyle/>
          <a:p>
            <a:pPr algn="l"/>
            <a:r>
              <a:rPr sz="900" b="0" i="0">
                <a:solidFill>
                  <a:srgbClr val="585254"/>
                </a:solidFill>
                <a:latin typeface="Arial"/>
              </a:rPr>
              <a:t>https://platform.claude.com/docs/en/about-claude/pricing</a:t>
            </a:r>
          </a:p>
        </p:txBody>
      </p:sp>
      <p:sp>
        <p:nvSpPr>
          <p:cNvPr id="12" name="TextBox 11"/>
          <p:cNvSpPr txBox="1"/>
          <p:nvPr/>
        </p:nvSpPr>
        <p:spPr>
          <a:xfrm>
            <a:off x="731520" y="2523744"/>
            <a:ext cx="3017520" cy="237744"/>
          </a:xfrm>
          <a:prstGeom prst="rect">
            <a:avLst/>
          </a:prstGeom>
          <a:noFill/>
        </p:spPr>
        <p:txBody>
          <a:bodyPr wrap="square" lIns="0" rIns="0" tIns="0" bIns="0" anchor="t">
            <a:noAutofit/>
          </a:bodyPr>
          <a:lstStyle/>
          <a:p>
            <a:pPr algn="l"/>
            <a:r>
              <a:rPr sz="1050" b="1" i="0">
                <a:solidFill>
                  <a:srgbClr val="251F21"/>
                </a:solidFill>
                <a:latin typeface="Arial"/>
              </a:rPr>
              <a:t>Cloud Run pricing (cost model)</a:t>
            </a:r>
          </a:p>
        </p:txBody>
      </p:sp>
      <p:sp>
        <p:nvSpPr>
          <p:cNvPr id="13" name="TextBox 12"/>
          <p:cNvSpPr txBox="1"/>
          <p:nvPr/>
        </p:nvSpPr>
        <p:spPr>
          <a:xfrm>
            <a:off x="3840480" y="2532888"/>
            <a:ext cx="7619695" cy="237744"/>
          </a:xfrm>
          <a:prstGeom prst="rect">
            <a:avLst/>
          </a:prstGeom>
          <a:noFill/>
        </p:spPr>
        <p:txBody>
          <a:bodyPr wrap="square" lIns="0" rIns="0" tIns="0" bIns="0" anchor="t">
            <a:noAutofit/>
          </a:bodyPr>
          <a:lstStyle/>
          <a:p>
            <a:pPr algn="l"/>
            <a:r>
              <a:rPr sz="900" b="0" i="0">
                <a:solidFill>
                  <a:srgbClr val="585254"/>
                </a:solidFill>
                <a:latin typeface="Arial"/>
              </a:rPr>
              <a:t>https://cloud.google.com/run/pricing</a:t>
            </a:r>
          </a:p>
        </p:txBody>
      </p:sp>
      <p:sp>
        <p:nvSpPr>
          <p:cNvPr id="14" name="TextBox 13"/>
          <p:cNvSpPr txBox="1"/>
          <p:nvPr/>
        </p:nvSpPr>
        <p:spPr>
          <a:xfrm>
            <a:off x="731520" y="2743200"/>
            <a:ext cx="3017520" cy="237744"/>
          </a:xfrm>
          <a:prstGeom prst="rect">
            <a:avLst/>
          </a:prstGeom>
          <a:noFill/>
        </p:spPr>
        <p:txBody>
          <a:bodyPr wrap="square" lIns="0" rIns="0" tIns="0" bIns="0" anchor="t">
            <a:noAutofit/>
          </a:bodyPr>
          <a:lstStyle/>
          <a:p>
            <a:pPr algn="l"/>
            <a:r>
              <a:rPr sz="1050" b="1" i="0">
                <a:solidFill>
                  <a:srgbClr val="251F21"/>
                </a:solidFill>
                <a:latin typeface="Arial"/>
              </a:rPr>
              <a:t>Fly.io pricing (always-on VM)</a:t>
            </a:r>
          </a:p>
        </p:txBody>
      </p:sp>
      <p:sp>
        <p:nvSpPr>
          <p:cNvPr id="15" name="TextBox 14"/>
          <p:cNvSpPr txBox="1"/>
          <p:nvPr/>
        </p:nvSpPr>
        <p:spPr>
          <a:xfrm>
            <a:off x="3840480" y="2752344"/>
            <a:ext cx="7619695" cy="237744"/>
          </a:xfrm>
          <a:prstGeom prst="rect">
            <a:avLst/>
          </a:prstGeom>
          <a:noFill/>
        </p:spPr>
        <p:txBody>
          <a:bodyPr wrap="square" lIns="0" rIns="0" tIns="0" bIns="0" anchor="t">
            <a:noAutofit/>
          </a:bodyPr>
          <a:lstStyle/>
          <a:p>
            <a:pPr algn="l"/>
            <a:r>
              <a:rPr sz="900" b="0" i="0">
                <a:solidFill>
                  <a:srgbClr val="585254"/>
                </a:solidFill>
                <a:latin typeface="Arial"/>
              </a:rPr>
              <a:t>https://fly.io/docs/about/pricing/</a:t>
            </a:r>
          </a:p>
        </p:txBody>
      </p:sp>
      <p:sp>
        <p:nvSpPr>
          <p:cNvPr id="16" name="TextBox 15"/>
          <p:cNvSpPr txBox="1"/>
          <p:nvPr/>
        </p:nvSpPr>
        <p:spPr>
          <a:xfrm>
            <a:off x="731520" y="2962656"/>
            <a:ext cx="3017520" cy="237744"/>
          </a:xfrm>
          <a:prstGeom prst="rect">
            <a:avLst/>
          </a:prstGeom>
          <a:noFill/>
        </p:spPr>
        <p:txBody>
          <a:bodyPr wrap="square" lIns="0" rIns="0" tIns="0" bIns="0" anchor="t">
            <a:noAutofit/>
          </a:bodyPr>
          <a:lstStyle/>
          <a:p>
            <a:pPr algn="l"/>
            <a:r>
              <a:rPr sz="1050" b="1" i="0">
                <a:solidFill>
                  <a:srgbClr val="251F21"/>
                </a:solidFill>
                <a:latin typeface="Arial"/>
              </a:rPr>
              <a:t>Neon Postgres pricing (state floor)</a:t>
            </a:r>
          </a:p>
        </p:txBody>
      </p:sp>
      <p:sp>
        <p:nvSpPr>
          <p:cNvPr id="17" name="TextBox 16"/>
          <p:cNvSpPr txBox="1"/>
          <p:nvPr/>
        </p:nvSpPr>
        <p:spPr>
          <a:xfrm>
            <a:off x="3840480" y="2971800"/>
            <a:ext cx="7619695" cy="237744"/>
          </a:xfrm>
          <a:prstGeom prst="rect">
            <a:avLst/>
          </a:prstGeom>
          <a:noFill/>
        </p:spPr>
        <p:txBody>
          <a:bodyPr wrap="square" lIns="0" rIns="0" tIns="0" bIns="0" anchor="t">
            <a:noAutofit/>
          </a:bodyPr>
          <a:lstStyle/>
          <a:p>
            <a:pPr algn="l"/>
            <a:r>
              <a:rPr sz="900" b="0" i="0">
                <a:solidFill>
                  <a:srgbClr val="585254"/>
                </a:solidFill>
                <a:latin typeface="Arial"/>
              </a:rPr>
              <a:t>https://neon.com/pricing</a:t>
            </a:r>
          </a:p>
        </p:txBody>
      </p:sp>
      <p:sp>
        <p:nvSpPr>
          <p:cNvPr id="18" name="TextBox 17"/>
          <p:cNvSpPr txBox="1"/>
          <p:nvPr/>
        </p:nvSpPr>
        <p:spPr>
          <a:xfrm>
            <a:off x="731520" y="3182112"/>
            <a:ext cx="3017520" cy="237744"/>
          </a:xfrm>
          <a:prstGeom prst="rect">
            <a:avLst/>
          </a:prstGeom>
          <a:noFill/>
        </p:spPr>
        <p:txBody>
          <a:bodyPr wrap="square" lIns="0" rIns="0" tIns="0" bIns="0" anchor="t">
            <a:noAutofit/>
          </a:bodyPr>
          <a:lstStyle/>
          <a:p>
            <a:pPr algn="l"/>
            <a:r>
              <a:rPr sz="1050" b="1" i="0">
                <a:solidFill>
                  <a:srgbClr val="251F21"/>
                </a:solidFill>
                <a:latin typeface="Arial"/>
              </a:rPr>
              <a:t>Browserbase pricing (hosted browser)</a:t>
            </a:r>
          </a:p>
        </p:txBody>
      </p:sp>
      <p:sp>
        <p:nvSpPr>
          <p:cNvPr id="19" name="TextBox 18"/>
          <p:cNvSpPr txBox="1"/>
          <p:nvPr/>
        </p:nvSpPr>
        <p:spPr>
          <a:xfrm>
            <a:off x="3840480" y="3191256"/>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https://www.browserbase.com/pricing</a:t>
            </a:r>
          </a:p>
        </p:txBody>
      </p:sp>
      <p:sp>
        <p:nvSpPr>
          <p:cNvPr id="20" name="TextBox 19"/>
          <p:cNvSpPr txBox="1"/>
          <p:nvPr/>
        </p:nvSpPr>
        <p:spPr>
          <a:xfrm>
            <a:off x="731520" y="3401568"/>
            <a:ext cx="3017520" cy="237744"/>
          </a:xfrm>
          <a:prstGeom prst="rect">
            <a:avLst/>
          </a:prstGeom>
          <a:noFill/>
        </p:spPr>
        <p:txBody>
          <a:bodyPr wrap="square" lIns="0" rIns="0" tIns="0" bIns="0" anchor="t">
            <a:noAutofit/>
          </a:bodyPr>
          <a:lstStyle/>
          <a:p>
            <a:pPr algn="l"/>
            <a:r>
              <a:rPr sz="1050" b="1" i="0">
                <a:solidFill>
                  <a:srgbClr val="251F21"/>
                </a:solidFill>
                <a:latin typeface="Arial"/>
              </a:rPr>
              <a:t>AWS Bedrock AgentCore pricing</a:t>
            </a:r>
          </a:p>
        </p:txBody>
      </p:sp>
      <p:sp>
        <p:nvSpPr>
          <p:cNvPr id="21" name="TextBox 20"/>
          <p:cNvSpPr txBox="1"/>
          <p:nvPr/>
        </p:nvSpPr>
        <p:spPr>
          <a:xfrm>
            <a:off x="3840480" y="3410712"/>
            <a:ext cx="7619695" cy="237744"/>
          </a:xfrm>
          <a:prstGeom prst="rect">
            <a:avLst/>
          </a:prstGeom>
          <a:noFill/>
        </p:spPr>
        <p:txBody>
          <a:bodyPr wrap="square" lIns="0" rIns="0" tIns="0" bIns="0" anchor="t">
            <a:noAutofit/>
          </a:bodyPr>
          <a:lstStyle/>
          <a:p>
            <a:pPr algn="l"/>
            <a:r>
              <a:rPr sz="900" b="0" i="0">
                <a:solidFill>
                  <a:srgbClr val="585254"/>
                </a:solidFill>
                <a:latin typeface="Arial"/>
              </a:rPr>
              <a:t>https://aws.amazon.com/bedrock/agentcore/pricing/</a:t>
            </a:r>
          </a:p>
        </p:txBody>
      </p:sp>
      <p:sp>
        <p:nvSpPr>
          <p:cNvPr id="22" name="TextBox 21"/>
          <p:cNvSpPr txBox="1"/>
          <p:nvPr/>
        </p:nvSpPr>
        <p:spPr>
          <a:xfrm>
            <a:off x="731520" y="3621024"/>
            <a:ext cx="3017520" cy="237744"/>
          </a:xfrm>
          <a:prstGeom prst="rect">
            <a:avLst/>
          </a:prstGeom>
          <a:noFill/>
        </p:spPr>
        <p:txBody>
          <a:bodyPr wrap="square" lIns="0" rIns="0" tIns="0" bIns="0" anchor="t">
            <a:noAutofit/>
          </a:bodyPr>
          <a:lstStyle/>
          <a:p>
            <a:pPr algn="l"/>
            <a:r>
              <a:rPr sz="1050" b="1" i="0">
                <a:solidFill>
                  <a:srgbClr val="251F21"/>
                </a:solidFill>
                <a:latin typeface="Arial"/>
              </a:rPr>
              <a:t>OWASP Top 10 for LLM applications</a:t>
            </a:r>
          </a:p>
        </p:txBody>
      </p:sp>
      <p:sp>
        <p:nvSpPr>
          <p:cNvPr id="23" name="TextBox 22"/>
          <p:cNvSpPr txBox="1"/>
          <p:nvPr/>
        </p:nvSpPr>
        <p:spPr>
          <a:xfrm>
            <a:off x="3840480" y="3630168"/>
            <a:ext cx="7619695" cy="237744"/>
          </a:xfrm>
          <a:prstGeom prst="rect">
            <a:avLst/>
          </a:prstGeom>
          <a:noFill/>
        </p:spPr>
        <p:txBody>
          <a:bodyPr wrap="square" lIns="0" rIns="0" tIns="0" bIns="0" anchor="t">
            <a:noAutofit/>
          </a:bodyPr>
          <a:lstStyle/>
          <a:p>
            <a:pPr algn="l"/>
            <a:r>
              <a:rPr sz="900" b="0" i="0">
                <a:solidFill>
                  <a:srgbClr val="585254"/>
                </a:solidFill>
                <a:latin typeface="Arial"/>
              </a:rPr>
              <a:t>https://genai.owasp.org/llm-top-10/</a:t>
            </a:r>
          </a:p>
        </p:txBody>
      </p:sp>
      <p:sp>
        <p:nvSpPr>
          <p:cNvPr id="24" name="TextBox 23"/>
          <p:cNvSpPr txBox="1"/>
          <p:nvPr/>
        </p:nvSpPr>
        <p:spPr>
          <a:xfrm>
            <a:off x="731520" y="3840480"/>
            <a:ext cx="3017520" cy="237744"/>
          </a:xfrm>
          <a:prstGeom prst="rect">
            <a:avLst/>
          </a:prstGeom>
          <a:noFill/>
        </p:spPr>
        <p:txBody>
          <a:bodyPr wrap="square" lIns="0" rIns="0" tIns="0" bIns="0" anchor="t">
            <a:noAutofit/>
          </a:bodyPr>
          <a:lstStyle/>
          <a:p>
            <a:pPr algn="l"/>
            <a:r>
              <a:rPr sz="1050" b="1" i="0">
                <a:solidFill>
                  <a:srgbClr val="251F21"/>
                </a:solidFill>
                <a:latin typeface="Arial"/>
              </a:rPr>
              <a:t>AICPA on SOC 2 assurance</a:t>
            </a:r>
          </a:p>
        </p:txBody>
      </p:sp>
      <p:sp>
        <p:nvSpPr>
          <p:cNvPr id="25" name="TextBox 24"/>
          <p:cNvSpPr txBox="1"/>
          <p:nvPr/>
        </p:nvSpPr>
        <p:spPr>
          <a:xfrm>
            <a:off x="3840480" y="3849624"/>
            <a:ext cx="7619695" cy="237744"/>
          </a:xfrm>
          <a:prstGeom prst="rect">
            <a:avLst/>
          </a:prstGeom>
          <a:noFill/>
        </p:spPr>
        <p:txBody>
          <a:bodyPr wrap="square" lIns="0" rIns="0" tIns="0" bIns="0" anchor="t">
            <a:noAutofit/>
          </a:bodyPr>
          <a:lstStyle/>
          <a:p>
            <a:pPr algn="l"/>
            <a:r>
              <a:rPr sz="900" b="0" i="0">
                <a:solidFill>
                  <a:srgbClr val="585254"/>
                </a:solidFill>
                <a:latin typeface="Arial"/>
              </a:rPr>
              <a:t>https://www.aicpa-cima.com/topic/audit-assurance/audit-and-assurance-greater-than-soc-2</a:t>
            </a:r>
          </a:p>
        </p:txBody>
      </p:sp>
      <p:sp>
        <p:nvSpPr>
          <p:cNvPr id="26" name="TextBox 25"/>
          <p:cNvSpPr txBox="1"/>
          <p:nvPr/>
        </p:nvSpPr>
        <p:spPr>
          <a:xfrm>
            <a:off x="731520" y="4059936"/>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attach (per docs index)</a:t>
            </a:r>
          </a:p>
        </p:txBody>
      </p:sp>
      <p:sp>
        <p:nvSpPr>
          <p:cNvPr id="27" name="TextBox 26"/>
          <p:cNvSpPr txBox="1"/>
          <p:nvPr/>
        </p:nvSpPr>
        <p:spPr>
          <a:xfrm>
            <a:off x="3840480" y="4069080"/>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https://docs.openclaw.ai/cli/attach</a:t>
            </a:r>
          </a:p>
        </p:txBody>
      </p:sp>
      <p:sp>
        <p:nvSpPr>
          <p:cNvPr id="28" name="TextBox 27"/>
          <p:cNvSpPr txBox="1"/>
          <p:nvPr/>
        </p:nvSpPr>
        <p:spPr>
          <a:xfrm>
            <a:off x="731520" y="4279392"/>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cloud workers (per index)</a:t>
            </a:r>
          </a:p>
        </p:txBody>
      </p:sp>
      <p:sp>
        <p:nvSpPr>
          <p:cNvPr id="29" name="TextBox 28"/>
          <p:cNvSpPr txBox="1"/>
          <p:nvPr/>
        </p:nvSpPr>
        <p:spPr>
          <a:xfrm>
            <a:off x="3840480" y="4288536"/>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https://docs.openclaw.ai/gateway/cloud-workers</a:t>
            </a:r>
          </a:p>
        </p:txBody>
      </p:sp>
      <p:sp>
        <p:nvSpPr>
          <p:cNvPr id="30" name="TextBox 29"/>
          <p:cNvSpPr txBox="1"/>
          <p:nvPr/>
        </p:nvSpPr>
        <p:spPr>
          <a:xfrm>
            <a:off x="731520" y="4498848"/>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ACP and Codex (per index)</a:t>
            </a:r>
          </a:p>
        </p:txBody>
      </p:sp>
      <p:sp>
        <p:nvSpPr>
          <p:cNvPr id="31" name="TextBox 30"/>
          <p:cNvSpPr txBox="1"/>
          <p:nvPr/>
        </p:nvSpPr>
        <p:spPr>
          <a:xfrm>
            <a:off x="3840480" y="4507992"/>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https://docs.openclaw.ai/help/testing-live/acp-and-codex</a:t>
            </a:r>
          </a:p>
        </p:txBody>
      </p:sp>
      <p:sp>
        <p:nvSpPr>
          <p:cNvPr id="32" name="TextBox 31"/>
          <p:cNvSpPr txBox="1"/>
          <p:nvPr/>
        </p:nvSpPr>
        <p:spPr>
          <a:xfrm>
            <a:off x="731520" y="4718304"/>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swarm (per docs index)</a:t>
            </a:r>
          </a:p>
        </p:txBody>
      </p:sp>
      <p:sp>
        <p:nvSpPr>
          <p:cNvPr id="33" name="TextBox 32"/>
          <p:cNvSpPr txBox="1"/>
          <p:nvPr/>
        </p:nvSpPr>
        <p:spPr>
          <a:xfrm>
            <a:off x="3840480" y="4727448"/>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https://docs.openclaw.ai/tools/swarm</a:t>
            </a:r>
          </a:p>
        </p:txBody>
      </p:sp>
      <p:sp>
        <p:nvSpPr>
          <p:cNvPr id="34" name="TextBox 33"/>
          <p:cNvSpPr txBox="1"/>
          <p:nvPr/>
        </p:nvSpPr>
        <p:spPr>
          <a:xfrm>
            <a:off x="731520" y="4937760"/>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context engine (per index)</a:t>
            </a:r>
          </a:p>
        </p:txBody>
      </p:sp>
      <p:sp>
        <p:nvSpPr>
          <p:cNvPr id="35" name="TextBox 34"/>
          <p:cNvSpPr txBox="1"/>
          <p:nvPr/>
        </p:nvSpPr>
        <p:spPr>
          <a:xfrm>
            <a:off x="3840480" y="4946904"/>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https://docs.openclaw.ai/concepts/context-engine</a:t>
            </a:r>
          </a:p>
        </p:txBody>
      </p:sp>
      <p:sp>
        <p:nvSpPr>
          <p:cNvPr id="36" name="TextBox 35"/>
          <p:cNvSpPr txBox="1"/>
          <p:nvPr/>
        </p:nvSpPr>
        <p:spPr>
          <a:xfrm>
            <a:off x="731520" y="5157216"/>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sessions and subagents</a:t>
            </a:r>
          </a:p>
        </p:txBody>
      </p:sp>
      <p:sp>
        <p:nvSpPr>
          <p:cNvPr id="37" name="TextBox 36"/>
          <p:cNvSpPr txBox="1"/>
          <p:nvPr/>
        </p:nvSpPr>
        <p:spPr>
          <a:xfrm>
            <a:off x="3840480" y="5166360"/>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https://docs.openclaw.ai/gateway/config-tools/sessions-and-subagents</a:t>
            </a:r>
          </a:p>
        </p:txBody>
      </p:sp>
      <p:sp>
        <p:nvSpPr>
          <p:cNvPr id="38" name="TextBox 37"/>
          <p:cNvSpPr txBox="1"/>
          <p:nvPr/>
        </p:nvSpPr>
        <p:spPr>
          <a:xfrm>
            <a:off x="731520" y="5376672"/>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Docker sandbox (per index)</a:t>
            </a:r>
          </a:p>
        </p:txBody>
      </p:sp>
      <p:sp>
        <p:nvSpPr>
          <p:cNvPr id="39" name="TextBox 38"/>
          <p:cNvSpPr txBox="1"/>
          <p:nvPr/>
        </p:nvSpPr>
        <p:spPr>
          <a:xfrm>
            <a:off x="3840480" y="5385816"/>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https://docs.openclaw.ai/gateway/sandboxing/docker-backend</a:t>
            </a:r>
          </a:p>
        </p:txBody>
      </p:sp>
      <p:sp>
        <p:nvSpPr>
          <p:cNvPr id="40" name="TextBox 39"/>
          <p:cNvSpPr txBox="1"/>
          <p:nvPr/>
        </p:nvSpPr>
        <p:spPr>
          <a:xfrm>
            <a:off x="731520" y="5596128"/>
            <a:ext cx="3017520" cy="237744"/>
          </a:xfrm>
          <a:prstGeom prst="rect">
            <a:avLst/>
          </a:prstGeom>
          <a:noFill/>
        </p:spPr>
        <p:txBody>
          <a:bodyPr wrap="square" lIns="0" rIns="0" tIns="0" bIns="0" anchor="t">
            <a:noAutofit/>
          </a:bodyPr>
          <a:lstStyle/>
          <a:p>
            <a:pPr algn="l"/>
            <a:r>
              <a:rPr sz="1050" b="1" i="0">
                <a:solidFill>
                  <a:srgbClr val="251F21"/>
                </a:solidFill>
                <a:latin typeface="Arial"/>
              </a:rPr>
              <a:t>OpenClaw docs index (read Oct 13)</a:t>
            </a:r>
          </a:p>
        </p:txBody>
      </p:sp>
      <p:sp>
        <p:nvSpPr>
          <p:cNvPr id="41" name="TextBox 40"/>
          <p:cNvSpPr txBox="1"/>
          <p:nvPr/>
        </p:nvSpPr>
        <p:spPr>
          <a:xfrm>
            <a:off x="3840480" y="5605272"/>
            <a:ext cx="7619695" cy="237744"/>
          </a:xfrm>
          <a:prstGeom prst="rect">
            <a:avLst/>
          </a:prstGeom>
          <a:noFill/>
        </p:spPr>
        <p:txBody>
          <a:bodyPr wrap="square" lIns="0" rIns="0" tIns="0" bIns="0" anchor="t">
            <a:noAutofit/>
          </a:bodyPr>
          <a:lstStyle/>
          <a:p>
            <a:pPr algn="l"/>
            <a:r>
              <a:rPr sz="900" b="0" i="0">
                <a:solidFill>
                  <a:srgbClr val="585254"/>
                </a:solidFill>
                <a:latin typeface="Arial"/>
              </a:rPr>
              <a:t>https://docs.openclaw.ai/llms.txt</a:t>
            </a:r>
          </a:p>
        </p:txBody>
      </p:sp>
      <p:sp>
        <p:nvSpPr>
          <p:cNvPr id="42" name="TextBox 41"/>
          <p:cNvSpPr txBox="1"/>
          <p:nvPr/>
        </p:nvSpPr>
        <p:spPr>
          <a:xfrm>
            <a:off x="731520" y="5815584"/>
            <a:ext cx="3017520" cy="237744"/>
          </a:xfrm>
          <a:prstGeom prst="rect">
            <a:avLst/>
          </a:prstGeom>
          <a:noFill/>
        </p:spPr>
        <p:txBody>
          <a:bodyPr wrap="square" lIns="0" rIns="0" tIns="0" bIns="0" anchor="t">
            <a:noAutofit/>
          </a:bodyPr>
          <a:lstStyle/>
          <a:p>
            <a:pPr algn="l"/>
            <a:r>
              <a:rPr sz="1050" b="1" i="0">
                <a:solidFill>
                  <a:srgbClr val="251F21"/>
                </a:solidFill>
                <a:latin typeface="Arial"/>
              </a:rPr>
              <a:t>Prototype screenshots</a:t>
            </a:r>
          </a:p>
        </p:txBody>
      </p:sp>
      <p:sp>
        <p:nvSpPr>
          <p:cNvPr id="43" name="TextBox 42"/>
          <p:cNvSpPr txBox="1"/>
          <p:nvPr/>
        </p:nvSpPr>
        <p:spPr>
          <a:xfrm>
            <a:off x="3840480" y="5824728"/>
            <a:ext cx="7619695" cy="237744"/>
          </a:xfrm>
          <a:prstGeom prst="rect">
            <a:avLst/>
          </a:prstGeom>
          <a:noFill/>
        </p:spPr>
        <p:txBody>
          <a:bodyPr wrap="square" lIns="0" rIns="0" tIns="0" bIns="0" anchor="t">
            <a:noAutofit/>
          </a:bodyPr>
          <a:lstStyle/>
          <a:p>
            <a:pPr algn="l"/>
            <a:r>
              <a:rPr sz="900" b="0" i="0">
                <a:solidFill>
                  <a:srgbClr val="585254"/>
                </a:solidFill>
                <a:latin typeface="Arial"/>
              </a:rPr>
              <a:t>Local synthetic demo at commit 07ad8fb, captured October 13</a:t>
            </a:r>
          </a:p>
        </p:txBody>
      </p:sp>
      <p:cxnSp>
        <p:nvCxnSpPr>
          <p:cNvPr id="44" name="Connector 43"/>
          <p:cNvCxnSpPr/>
          <p:nvPr/>
        </p:nvCxnSpPr>
        <p:spPr>
          <a:xfrm>
            <a:off x="731520" y="6291072"/>
            <a:ext cx="10728655" cy="0"/>
          </a:xfrm>
          <a:prstGeom prst="line">
            <a:avLst/>
          </a:prstGeom>
          <a:ln w="12700">
            <a:solidFill>
              <a:srgbClr val="E4E0DD"/>
            </a:solidFill>
          </a:ln>
        </p:spPr>
        <p:style>
          <a:lnRef idx="2">
            <a:schemeClr val="accent1"/>
          </a:lnRef>
          <a:fillRef idx="0">
            <a:schemeClr val="accent1"/>
          </a:fillRef>
          <a:effectRef idx="1">
            <a:schemeClr val="accent1"/>
          </a:effectRef>
          <a:fontRef idx="minor">
            <a:schemeClr val="tx1"/>
          </a:fontRef>
        </p:style>
      </p:cxnSp>
      <p:sp>
        <p:nvSpPr>
          <p:cNvPr id="45" name="Footer"/>
          <p:cNvSpPr txBox="1"/>
          <p:nvPr/>
        </p:nvSpPr>
        <p:spPr>
          <a:xfrm>
            <a:off x="731520" y="6382512"/>
            <a:ext cx="6035040" cy="274320"/>
          </a:xfrm>
          <a:prstGeom prst="rect">
            <a:avLst/>
          </a:prstGeom>
          <a:noFill/>
        </p:spPr>
        <p:txBody>
          <a:bodyPr wrap="square" lIns="0" rIns="0" tIns="0" bIns="0" anchor="t">
            <a:noAutofit/>
          </a:bodyPr>
          <a:lstStyle/>
          <a:p>
            <a:pPr algn="l"/>
            <a:r>
              <a:rPr sz="1000" b="0" i="0">
                <a:solidFill>
                  <a:srgbClr val="585254"/>
                </a:solidFill>
                <a:latin typeface="Arial"/>
              </a:rPr>
              <a:t>Tsenta  ·  proposal for discussion  ·  October 14, 2026</a:t>
            </a:r>
          </a:p>
        </p:txBody>
      </p:sp>
      <p:sp>
        <p:nvSpPr>
          <p:cNvPr id="46" name="Slide number"/>
          <p:cNvSpPr txBox="1"/>
          <p:nvPr/>
        </p:nvSpPr>
        <p:spPr>
          <a:xfrm>
            <a:off x="10911535" y="6382512"/>
            <a:ext cx="548640" cy="274320"/>
          </a:xfrm>
          <a:prstGeom prst="rect">
            <a:avLst/>
          </a:prstGeom>
          <a:noFill/>
        </p:spPr>
        <p:txBody>
          <a:bodyPr wrap="square" lIns="0" rIns="0" tIns="0" bIns="0" anchor="t">
            <a:noAutofit/>
          </a:bodyPr>
          <a:lstStyle/>
          <a:p>
            <a:pPr algn="r"/>
            <a:r>
              <a:rPr sz="1000" b="0" i="0">
                <a:solidFill>
                  <a:srgbClr val="585254"/>
                </a:solidFill>
                <a:latin typeface="Arial"/>
              </a:rPr>
              <a:t>29</a:t>
            </a:r>
          </a:p>
        </p:txBody>
      </p:sp>
    </p:spTree>
  </p:cSld>
  <p:clrMapOvr>
    <a:masterClrMapping/>
  </p:clrMapOvr>
</p:sld>
</file>

<file path=ppt/theme/theme1.xml><?xml version="1.0" encoding="utf-8"?>
<a:theme xmlns:a="http://schemas.openxmlformats.org/drawingml/2006/main" name="Office Theme">
  <a:themeElements>
    <a:clrScheme name="Tsenta editorial">
      <a:dk1>
        <a:srgbClr val="251F21"/>
      </a:dk1>
      <a:lt1>
        <a:srgbClr val="FFFFFF"/>
      </a:lt1>
      <a:dk2>
        <a:srgbClr val="585254"/>
      </a:dk2>
      <a:lt2>
        <a:srgbClr val="F6F4F2"/>
      </a:lt2>
      <a:accent1>
        <a:srgbClr val="73A89A"/>
      </a:accent1>
      <a:accent2>
        <a:srgbClr val="3F7668"/>
      </a:accent2>
      <a:accent3>
        <a:srgbClr val="585254"/>
      </a:accent3>
      <a:accent4>
        <a:srgbClr val="A9A3A5"/>
      </a:accent4>
      <a:accent5>
        <a:srgbClr val="E6F0ED"/>
      </a:accent5>
      <a:accent6>
        <a:srgbClr val="251F21"/>
      </a:accent6>
      <a:hlink>
        <a:srgbClr val="3F7668"/>
      </a:hlink>
      <a:folHlink>
        <a:srgbClr val="58525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Tsenta: starts with your job, grows into your life</dc:title>
  <dc:subject>Vision and proposed architecture for discussion, October 14, 2026</dc:subject>
  <dc:creator>Abhay Mettu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